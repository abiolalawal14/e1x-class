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This is a 2-hour session: Hour 1 is concepts (this deck), Hour 2 is hands-on Python in the notebooks. Frame it as building ONE thing together — a working fraud-detection system for a bank — rather than a tour of separate algorithms. Ask: has anyone dealt with fraud, spam, or quality-control alerts before? Their intuition already knows what 'unusual' means; today we teach a machine to share that intuition without ever being told what fraud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through quickly — this is a map learners can check themselves against at the end. Mention explicitly: nothing here requires advanced math. The goal is that they leave able to build and explain a working system, not recite formulas.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class actually answer out loud before revealing anything. Everyone will say Transaction 4. Ask: 'HOW did you know? Nobody gave you a fraud/not-fraud label for these four rows.' That question is the entire hook for the session — we're about to teach a machine to do what they just did instinctively.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into unsupervised learning, though don't use that term yet — let it emerge naturally in a couple of slides. Key point: in most real fraud systems, labels DO eventually show up (a customer disputes a charge, an investigator confirms fraud) but they arrive late, are incomplete, and are expensive to get. So the day-one problem is genuinely unlabelled.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give examples OUTSIDE banking too (temperature, network traffic) — this shows anomaly detection is a general pattern, not a banking-only trick, while we keep using the bank story as our throughline. Ask: 'can anyone think of an anomaly they've personally noticed in their own life — a utility bill, a fitness tracker reading,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x-axis is log-scaled — without that, the huge outlier transactions would squash the whole 'normal' cluster into an unreadable sliver on the left. This is itself a useful practical lesson: always LOOK at your data's scale before deciding how to plot or model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slide for the whole conceptual half. Explicitly say: anomaly detection is USUALLY unsupervised in practice, precisely because confirmed fraud labels are rare, delayed, or simply don't exist yet for new kinds of fraud. If labels DO exist and are trustworthy, you'd actually prefer plain classification — unsupervised anomaly detection is a fallback for when labels are missing, not a universally 'better' choice.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reframing is the single most important idea in the whole session: the machine never learns 'fraud' directly — it learns what NORMAL looks like, and flags whatever doesn't match. That's what makes it unsupervised: no fraud examples are required, only a large pool of (mostly normal)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slide — each type gets its own dedicated example on the next three slides. Beginners often only think of point anomalies ('one big weird number'); the contextual and collective types are usually the more surprising, memorable ones, so give them proper room.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quick — it's the intuitive baseline case everyone already grasps from Slide 3. Use it to set up the contrast with the next two slides, which are less obvious.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genuinely important beginner concept — flag it as such explicitly. Common misconception to pre-empt here: students often assume 'unusual' means a single global threshold applies to everyone. In practice, good anomaly detection compares each observation to ITS OWN relevant context (e.g. its customer's own history), not just the whole population.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explicitly back to our synthetic dataset's transaction_frequency feature — that's exactly how we represent collective anomalies later in the coding session. This is a nice moment to preview Hour 2 without going into code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four-box flow is the skeleton the rest of Hour 1 hangs on. Point out that different algorithms differ mainly in HOW they do step 2 (learn normal) and step 3 (calculate unusualness) — the overall shape stays the same.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say: there is no single 'best' way to define unusual — these are five different lenses on the same question. We'll go one level deeper on the first three (they build intuition), then spend most of our time on Isolation Forest, which is the main algorithm for today's hands-on session.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INTUITION before the formula: 'how many typical steps away from average is this value?' Then show the formula, then compute it together. Keep this example customer-specific (their own mean/std) rather than population-wide — this connects back to the contextual anomaly idea from Slide 11. Limitation to mention briefly: z-scores assume roughly bell-shaped data and only look at one feature at a time — real transactions have several features at once, which is exactly why we need more powerful methods.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class already took the K-Means/PCA session, call that out explicitly — this is literally the same distance intuition, just used for a different purpose (flagging outliers instead of finding groups).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the previous slide: distance-based methods use a single global notion of 'far'; density-based methods adapt locally — a point can be 'close' in absolute distance but still unusual if it sits in a region nobody else visits.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 into the algorithm the rest of the course centres on. State plainly why we chose it over One-Class SVM or LOF for a first, beginner-friendly session: it needs almost no tuning, handles multiple features naturally, and its core idea ('easy to isolate = unusual') can be explained with a picture, not a formula.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panels left to right. By the very first random split, the outlier is already separated from the main group — that's the entire intuition. Ask: 'if I kept drawing random lines through the crowded blue group, would ANY of them separate a single point that quickly?' (Answer: no — see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visual contrast with the previous slide. After 3 splits, this point is STILL boxed in with several neighbours — it took many more cuts and still isn't fully alone. Summarize with the key line: normal points need MANY splits to isolate; anomalies need very FEW. That split count is essentially the anomaly score.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mechanics slide for Isolation Forest — take your time here. Emphasize 'randomly' twice: unlike a decision tree built to predict a label, these splits have no target to optimize for — they're genuinely random, which is exactly what makes the isolation signal meaningful.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asking one person for a snap judgment vs. averaging the judgment of 100 people — the average is more stable and less influenced by one person's odd guess. This is the same principle behind Random Forest, if your class has already seen that.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 syntax was verified against the current scikit-learn documentation. Reassure beginners: scikit-learn's defaults for n_estimators and max_samples are sensible for most problems — contamination is really the only one worth thinking hard about, which is why it gets its own slide next.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the Hour 2 mini-challenge directly — flag that explicitly. Common beginner mistake to pre-empt: contamination is NOT something the model discovers from the data; it's an ASSUMPTION we feed in, and getting it wrong changes the results a lot (we'll see exact numbers later: our own dataset goes from 51 flagged transactions at contamination=0.01 to 456 at 'auto').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this explicitly as a place where beginners get tripped up: 'higher = more normal' is the opposite of what some people expect. Double-check this matches whatever scoring function you show in the notebook (score_samples / decision_function) — we verified against the current scikit-learn docs that lower values are more anomalous for both.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1 / -1 convention very visually clear — write it big if you're on a whiteboard too. This exact convention (1 = normal, -1 = anomaly) is shared across IsolationForest, LocalOutlierFactor, and OneClassSVM in scikit-learn, which is a nice consistency to point out.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business-literacy points in the whole session — don't rush it. Ask: 'what happens to customer trust if the bank blocks every flagged transaction automatically, and 2 out of 3 of them turn out to be legitimate?' Anomaly detection is a triage tool, not a verdict.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genuinely high-level, as instructed — no deep dive today. If a student asks 'which is best?', the honest answer is: it depends on the data and the problem, which is exactly what the next slide addresses.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practical decision framework students can actually reuse on the job. Emphasize 'Monitor' at the end — anomaly detection isn't a one-time model you train and forget; customer behaviour and fraud patterns both drift over time.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last bullet is a genuinely important, slightly uncomfortable truth: in a real unlabeled setting, you often can't compute precision/recall at all until much later (when disputes or investigations eventually confirm ground truth). In our notebooks, we use a synthetic dataset WITH known ground truth specifically so you can see these metrics in action — make that distinction explicit so students don't assume they'll always have this luxury in a real job.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single-slide summary of the ENTIRE conceptual hour — consider lingering here for questions before the coding break. Every slide in Hour 1 maps to one box in this chain.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running this as a rapid true/false check with the class before moving to the quiz — these four distinctions are the ones beginners misstate most often in follow-up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(for instructor use):</a:t>
            </a:r>
          </a:p>
          <a:p>
            <a:r>
              <a:t>1. A data point that behaves very differently from what is normal/expected.</a:t>
            </a:r>
          </a:p>
          <a:p>
            <a:r>
              <a:t>2. Because we don't need labelled fraud examples — the model learns what NORMAL looks like from mostly-unlabeled data, then flags whatever doesn't fit; no target column is required.</a:t>
            </a:r>
          </a:p>
          <a:p>
            <a:r>
              <a:t>3. It tries to isolate each observation using random splits, and measures how FEW splits it takes — anomalies isolate quickly, normal points take many more splits.</a:t>
            </a:r>
          </a:p>
          <a:p>
            <a:r>
              <a:t>4. -1 means the model has flagged that observation as an anomaly/outlier (1 means normal/inlier).</a:t>
            </a:r>
          </a:p>
          <a:p>
            <a:r>
              <a:t>5. No. An anomaly is simply unusual. It could be fraud, a data entry error, or a legitimate but rare event (e.g. a big genuine purchase). It requires investigation, not an automatic verdict.</a:t>
            </a:r>
          </a:p>
          <a:p>
            <a:r>
              <a:t>6. Setting the threshold too aggressively (e.g. a high contamination value, or an overly low score cutoff) flags too many normal transactions as anomalies — many false positives, wasted investigation time, and frustrated customers. Too LOOSE a threshold has the opposite risk: missing real anomalies (false negatives).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scikit-learn syntax in this deck (IsolationForest, predict, score_samples, decision_function) was checked against the official documentation during course development to ensure it reflects current, non-deprecated APIs.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5486400" cy="365760"/>
          </a:xfrm>
          <a:prstGeom prst="rect">
            <a:avLst/>
          </a:prstGeom>
          <a:noFill/>
        </p:spPr>
        <p:txBody>
          <a:bodyPr wrap="square" anchor="t" lIns="0" rIns="0" tIns="0" bIns="0">
            <a:spAutoFit/>
          </a:bodyPr>
          <a:lstStyle/>
          <a:p>
            <a:pPr algn="l">
              <a:lnSpc>
                <a:spcPct val="100000"/>
              </a:lnSpc>
            </a:pPr>
            <a:r>
              <a:rPr sz="1400" b="1" i="0">
                <a:solidFill>
                  <a:srgbClr val="FCA5A5"/>
                </a:solidFill>
                <a:latin typeface="Calibri"/>
              </a:rPr>
              <a:t>BEGINNER DATA SCIENCE SESSION</a:t>
            </a:r>
          </a:p>
        </p:txBody>
      </p:sp>
      <p:sp>
        <p:nvSpPr>
          <p:cNvPr id="4" name="TextBox 3"/>
          <p:cNvSpPr txBox="1"/>
          <p:nvPr/>
        </p:nvSpPr>
        <p:spPr>
          <a:xfrm>
            <a:off x="822960" y="2103120"/>
            <a:ext cx="10515600" cy="1188720"/>
          </a:xfrm>
          <a:prstGeom prst="rect">
            <a:avLst/>
          </a:prstGeom>
          <a:noFill/>
        </p:spPr>
        <p:txBody>
          <a:bodyPr wrap="square" anchor="t" lIns="0" rIns="0" tIns="0" bIns="0">
            <a:spAutoFit/>
          </a:bodyPr>
          <a:lstStyle/>
          <a:p>
            <a:pPr algn="l">
              <a:lnSpc>
                <a:spcPct val="100000"/>
              </a:lnSpc>
            </a:pPr>
            <a:r>
              <a:rPr sz="4800" b="1" i="0">
                <a:solidFill>
                  <a:srgbClr val="FFFFFF"/>
                </a:solidFill>
                <a:latin typeface="Calibri"/>
              </a:rPr>
              <a:t>Unsupervised Learning</a:t>
            </a:r>
          </a:p>
        </p:txBody>
      </p:sp>
      <p:sp>
        <p:nvSpPr>
          <p:cNvPr id="5" name="TextBox 4"/>
          <p:cNvSpPr txBox="1"/>
          <p:nvPr/>
        </p:nvSpPr>
        <p:spPr>
          <a:xfrm>
            <a:off x="822960" y="2971800"/>
            <a:ext cx="10515600" cy="1005840"/>
          </a:xfrm>
          <a:prstGeom prst="rect">
            <a:avLst/>
          </a:prstGeom>
          <a:noFill/>
        </p:spPr>
        <p:txBody>
          <a:bodyPr wrap="square" anchor="t" lIns="0" rIns="0" tIns="0" bIns="0">
            <a:spAutoFit/>
          </a:bodyPr>
          <a:lstStyle/>
          <a:p>
            <a:pPr algn="l">
              <a:lnSpc>
                <a:spcPct val="100000"/>
              </a:lnSpc>
            </a:pPr>
            <a:r>
              <a:rPr sz="3200" b="1" i="0">
                <a:solidFill>
                  <a:srgbClr val="FCA5A5"/>
                </a:solidFill>
                <a:latin typeface="Calibri"/>
              </a:rPr>
              <a:t>Anomaly Detection Systems</a:t>
            </a:r>
          </a:p>
        </p:txBody>
      </p:sp>
      <p:sp>
        <p:nvSpPr>
          <p:cNvPr id="6" name="Rectangle 5"/>
          <p:cNvSpPr/>
          <p:nvPr/>
        </p:nvSpPr>
        <p:spPr>
          <a:xfrm>
            <a:off x="822960" y="4114800"/>
            <a:ext cx="1188720" cy="444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297680"/>
            <a:ext cx="9601200" cy="548640"/>
          </a:xfrm>
          <a:prstGeom prst="rect">
            <a:avLst/>
          </a:prstGeom>
          <a:noFill/>
        </p:spPr>
        <p:txBody>
          <a:bodyPr wrap="square" anchor="t" lIns="0" rIns="0" tIns="0" bIns="0">
            <a:spAutoFit/>
          </a:bodyPr>
          <a:lstStyle/>
          <a:p>
            <a:pPr algn="l">
              <a:lnSpc>
                <a:spcPct val="100000"/>
              </a:lnSpc>
            </a:pPr>
            <a:r>
              <a:rPr sz="1900" b="0" i="1">
                <a:solidFill>
                  <a:srgbClr val="E5E7EB"/>
                </a:solidFill>
                <a:latin typeface="Calibri"/>
              </a:rPr>
              <a:t>Finding Unusual Patterns When We Don't Have Labels</a:t>
            </a:r>
          </a:p>
        </p:txBody>
      </p:sp>
      <p:sp>
        <p:nvSpPr>
          <p:cNvPr id="8" name="Rounded Rectangle 7"/>
          <p:cNvSpPr/>
          <p:nvPr/>
        </p:nvSpPr>
        <p:spPr>
          <a:xfrm>
            <a:off x="822960" y="5577840"/>
            <a:ext cx="2148840" cy="45720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No Fraud Labels</a:t>
            </a:r>
          </a:p>
        </p:txBody>
      </p:sp>
      <p:sp>
        <p:nvSpPr>
          <p:cNvPr id="9" name="Rounded Rectangle 8"/>
          <p:cNvSpPr/>
          <p:nvPr/>
        </p:nvSpPr>
        <p:spPr>
          <a:xfrm>
            <a:off x="3154679" y="5577840"/>
            <a:ext cx="2148840" cy="4572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Learn Normal</a:t>
            </a:r>
          </a:p>
        </p:txBody>
      </p:sp>
      <p:sp>
        <p:nvSpPr>
          <p:cNvPr id="10" name="Rounded Rectangle 9"/>
          <p:cNvSpPr/>
          <p:nvPr/>
        </p:nvSpPr>
        <p:spPr>
          <a:xfrm>
            <a:off x="5486400" y="5577840"/>
            <a:ext cx="2148840" cy="45720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i="0">
                <a:solidFill>
                  <a:srgbClr val="FFFFFF"/>
                </a:solidFill>
                <a:latin typeface="Calibri"/>
              </a:rPr>
              <a:t>Flag Unusual</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INTRODUCTION</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By the End of This Session, You Will Be Able To...</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46320"/>
          </a:xfrm>
          <a:prstGeom prst="rect">
            <a:avLst/>
          </a:prstGeom>
          <a:noFill/>
        </p:spPr>
        <p:txBody>
          <a:bodyPr wrap="square" anchor="t" lIns="0" rIns="0" tIns="0" bIns="0">
            <a:spAutoFit/>
          </a:bodyPr>
          <a:lstStyle/>
          <a:p>
            <a:pPr>
              <a:lnSpc>
                <a:spcPct val="112000"/>
              </a:lnSpc>
              <a:spcAft>
                <a:spcPts val="1200"/>
              </a:spcAft>
            </a:pPr>
            <a:r>
              <a:rPr sz="1550" b="0" i="0">
                <a:solidFill>
                  <a:srgbClr val="4B5563"/>
                </a:solidFill>
                <a:latin typeface="Calibri"/>
              </a:rPr>
              <a:t>•  Explain what anomaly detection means.</a:t>
            </a:r>
          </a:p>
          <a:p>
            <a:pPr>
              <a:lnSpc>
                <a:spcPct val="112000"/>
              </a:lnSpc>
              <a:spcAft>
                <a:spcPts val="1200"/>
              </a:spcAft>
            </a:pPr>
            <a:r>
              <a:rPr sz="1550" b="0" i="0">
                <a:solidFill>
                  <a:srgbClr val="4B5563"/>
                </a:solidFill>
                <a:latin typeface="Calibri"/>
              </a:rPr>
              <a:t>•  Explain why anomaly detection can be an unsupervised learning problem.</a:t>
            </a:r>
          </a:p>
          <a:p>
            <a:pPr>
              <a:lnSpc>
                <a:spcPct val="112000"/>
              </a:lnSpc>
              <a:spcAft>
                <a:spcPts val="1200"/>
              </a:spcAft>
            </a:pPr>
            <a:r>
              <a:rPr sz="1550" b="0" i="0">
                <a:solidFill>
                  <a:srgbClr val="4B5563"/>
                </a:solidFill>
                <a:latin typeface="Calibri"/>
              </a:rPr>
              <a:t>•  Distinguish between normal observations and anomalies.</a:t>
            </a:r>
          </a:p>
          <a:p>
            <a:pPr>
              <a:lnSpc>
                <a:spcPct val="112000"/>
              </a:lnSpc>
              <a:spcAft>
                <a:spcPts val="1200"/>
              </a:spcAft>
            </a:pPr>
            <a:r>
              <a:rPr sz="1550" b="0" i="0">
                <a:solidFill>
                  <a:srgbClr val="4B5563"/>
                </a:solidFill>
                <a:latin typeface="Calibri"/>
              </a:rPr>
              <a:t>•  Explain point, contextual, and collective anomalies.</a:t>
            </a:r>
          </a:p>
          <a:p>
            <a:pPr>
              <a:lnSpc>
                <a:spcPct val="112000"/>
              </a:lnSpc>
              <a:spcAft>
                <a:spcPts val="1200"/>
              </a:spcAft>
            </a:pPr>
            <a:r>
              <a:rPr sz="1550" b="0" i="0">
                <a:solidFill>
                  <a:srgbClr val="4B5563"/>
                </a:solidFill>
                <a:latin typeface="Calibri"/>
              </a:rPr>
              <a:t>•  Understand the basic approaches to anomaly detection.</a:t>
            </a:r>
          </a:p>
          <a:p>
            <a:pPr>
              <a:lnSpc>
                <a:spcPct val="112000"/>
              </a:lnSpc>
              <a:spcAft>
                <a:spcPts val="1200"/>
              </a:spcAft>
            </a:pPr>
            <a:r>
              <a:rPr sz="1550" b="0" i="0">
                <a:solidFill>
                  <a:srgbClr val="4B5563"/>
                </a:solidFill>
                <a:latin typeface="Calibri"/>
              </a:rPr>
              <a:t>•  Explain the intuition behind Isolation Forest.</a:t>
            </a:r>
          </a:p>
        </p:txBody>
      </p:sp>
      <p:sp>
        <p:nvSpPr>
          <p:cNvPr id="8" name="TextBox 7"/>
          <p:cNvSpPr txBox="1"/>
          <p:nvPr/>
        </p:nvSpPr>
        <p:spPr>
          <a:xfrm>
            <a:off x="6035040" y="1417320"/>
            <a:ext cx="5486400" cy="4846320"/>
          </a:xfrm>
          <a:prstGeom prst="rect">
            <a:avLst/>
          </a:prstGeom>
          <a:noFill/>
        </p:spPr>
        <p:txBody>
          <a:bodyPr wrap="square" anchor="t" lIns="0" rIns="0" tIns="0" bIns="0">
            <a:spAutoFit/>
          </a:bodyPr>
          <a:lstStyle/>
          <a:p>
            <a:pPr>
              <a:lnSpc>
                <a:spcPct val="112000"/>
              </a:lnSpc>
              <a:spcAft>
                <a:spcPts val="1200"/>
              </a:spcAft>
            </a:pPr>
            <a:r>
              <a:rPr sz="1550" b="0" i="0">
                <a:solidFill>
                  <a:srgbClr val="4B5563"/>
                </a:solidFill>
                <a:latin typeface="Calibri"/>
              </a:rPr>
              <a:t>•  Train an Isolation Forest model using Python.</a:t>
            </a:r>
          </a:p>
          <a:p>
            <a:pPr>
              <a:lnSpc>
                <a:spcPct val="112000"/>
              </a:lnSpc>
              <a:spcAft>
                <a:spcPts val="1200"/>
              </a:spcAft>
            </a:pPr>
            <a:r>
              <a:rPr sz="1550" b="0" i="0">
                <a:solidFill>
                  <a:srgbClr val="4B5563"/>
                </a:solidFill>
                <a:latin typeface="Calibri"/>
              </a:rPr>
              <a:t>•  Interpret anomaly predictions and anomaly scores.</a:t>
            </a:r>
          </a:p>
          <a:p>
            <a:pPr>
              <a:lnSpc>
                <a:spcPct val="112000"/>
              </a:lnSpc>
              <a:spcAft>
                <a:spcPts val="1200"/>
              </a:spcAft>
            </a:pPr>
            <a:r>
              <a:rPr sz="1550" b="0" i="0">
                <a:solidFill>
                  <a:srgbClr val="4B5563"/>
                </a:solidFill>
                <a:latin typeface="Calibri"/>
              </a:rPr>
              <a:t>•  Visualize detected anomalies.</a:t>
            </a:r>
          </a:p>
          <a:p>
            <a:pPr>
              <a:lnSpc>
                <a:spcPct val="112000"/>
              </a:lnSpc>
              <a:spcAft>
                <a:spcPts val="1200"/>
              </a:spcAft>
            </a:pPr>
            <a:r>
              <a:rPr sz="1550" b="0" i="0">
                <a:solidFill>
                  <a:srgbClr val="4B5563"/>
                </a:solidFill>
                <a:latin typeface="Calibri"/>
              </a:rPr>
              <a:t>•  Understand false positives and false negatives.</a:t>
            </a:r>
          </a:p>
          <a:p>
            <a:pPr>
              <a:lnSpc>
                <a:spcPct val="112000"/>
              </a:lnSpc>
              <a:spcAft>
                <a:spcPts val="1200"/>
              </a:spcAft>
            </a:pPr>
            <a:r>
              <a:rPr sz="1550" b="0" i="0">
                <a:solidFill>
                  <a:srgbClr val="4B5563"/>
                </a:solidFill>
                <a:latin typeface="Calibri"/>
              </a:rPr>
              <a:t>•  Explain why an anomaly does not automatically mean fraud.</a:t>
            </a:r>
          </a:p>
          <a:p>
            <a:pPr>
              <a:lnSpc>
                <a:spcPct val="112000"/>
              </a:lnSpc>
              <a:spcAft>
                <a:spcPts val="1200"/>
              </a:spcAft>
            </a:pPr>
            <a:r>
              <a:rPr sz="1550" b="0" i="0">
                <a:solidFill>
                  <a:srgbClr val="4B5563"/>
                </a:solidFill>
                <a:latin typeface="Calibri"/>
              </a:rPr>
              <a:t>•  Build a simple anomaly detection workflow, end to end.</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 · THE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A Real-Life Scenario</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600200"/>
          <a:ext cx="10771629" cy="2011680"/>
        </p:xfrm>
        <a:graphic>
          <a:graphicData uri="http://schemas.openxmlformats.org/drawingml/2006/table">
            <a:tbl>
              <a:tblPr firstRow="1" bandRow="1">
                <a:tableStyleId>{5C22544A-7EE6-4342-B048-85BDC9FD1C3A}</a:tableStyleId>
              </a:tblPr>
              <a:tblGrid>
                <a:gridCol w="2037876"/>
                <a:gridCol w="2911251"/>
                <a:gridCol w="2911251"/>
                <a:gridCol w="2911251"/>
              </a:tblGrid>
              <a:tr h="402336">
                <a:tc>
                  <a:txBody>
                    <a:bodyPr/>
                    <a:lstStyle/>
                    <a:p>
                      <a:r>
                        <a:rPr sz="1450" b="1" i="0">
                          <a:solidFill>
                            <a:srgbClr val="FFFFFF"/>
                          </a:solidFill>
                          <a:latin typeface="Calibri"/>
                        </a:rPr>
                        <a:t>Transaction</a:t>
                      </a:r>
                    </a:p>
                  </a:txBody>
                  <a:tcPr anchor="ctr" marL="127000" marR="127000">
                    <a:solidFill>
                      <a:srgbClr val="1F2937"/>
                    </a:solidFill>
                  </a:tcPr>
                </a:tc>
                <a:tc>
                  <a:txBody>
                    <a:bodyPr/>
                    <a:lstStyle/>
                    <a:p>
                      <a:r>
                        <a:rPr sz="1450" b="1" i="0">
                          <a:solidFill>
                            <a:srgbClr val="FFFFFF"/>
                          </a:solidFill>
                          <a:latin typeface="Calibri"/>
                        </a:rPr>
                        <a:t>Amount</a:t>
                      </a:r>
                    </a:p>
                  </a:txBody>
                  <a:tcPr anchor="ctr" marL="127000" marR="127000">
                    <a:solidFill>
                      <a:srgbClr val="1F2937"/>
                    </a:solidFill>
                  </a:tcPr>
                </a:tc>
                <a:tc>
                  <a:txBody>
                    <a:bodyPr/>
                    <a:lstStyle/>
                    <a:p>
                      <a:r>
                        <a:rPr sz="1450" b="1" i="0">
                          <a:solidFill>
                            <a:srgbClr val="FFFFFF"/>
                          </a:solidFill>
                          <a:latin typeface="Calibri"/>
                        </a:rPr>
                        <a:t>Location</a:t>
                      </a:r>
                    </a:p>
                  </a:txBody>
                  <a:tcPr anchor="ctr" marL="127000" marR="127000">
                    <a:solidFill>
                      <a:srgbClr val="1F2937"/>
                    </a:solidFill>
                  </a:tcPr>
                </a:tc>
                <a:tc>
                  <a:txBody>
                    <a:bodyPr/>
                    <a:lstStyle/>
                    <a:p>
                      <a:r>
                        <a:rPr sz="1450" b="1" i="0">
                          <a:solidFill>
                            <a:srgbClr val="FFFFFF"/>
                          </a:solidFill>
                          <a:latin typeface="Calibri"/>
                        </a:rPr>
                        <a:t>Time</a:t>
                      </a:r>
                    </a:p>
                  </a:txBody>
                  <a:tcPr anchor="ctr" marL="127000" marR="127000">
                    <a:solidFill>
                      <a:srgbClr val="1F2937"/>
                    </a:solidFill>
                  </a:tcPr>
                </a:tc>
              </a:tr>
              <a:tr h="402336">
                <a:tc>
                  <a:txBody>
                    <a:bodyPr/>
                    <a:lstStyle/>
                    <a:p>
                      <a:r>
                        <a:rPr sz="1400" b="1" i="0">
                          <a:solidFill>
                            <a:srgbClr val="1F2937"/>
                          </a:solidFill>
                          <a:latin typeface="Calibri"/>
                        </a:rPr>
                        <a:t>1</a:t>
                      </a:r>
                    </a:p>
                  </a:txBody>
                  <a:tcPr anchor="ctr" marL="127000" marR="127000">
                    <a:solidFill>
                      <a:srgbClr val="FFFFFF"/>
                    </a:solidFill>
                  </a:tcPr>
                </a:tc>
                <a:tc>
                  <a:txBody>
                    <a:bodyPr/>
                    <a:lstStyle/>
                    <a:p>
                      <a:r>
                        <a:rPr sz="1400" b="0" i="0">
                          <a:solidFill>
                            <a:srgbClr val="4B5563"/>
                          </a:solidFill>
                          <a:latin typeface="Calibri"/>
                        </a:rPr>
                        <a:t>₦25,000</a:t>
                      </a:r>
                    </a:p>
                  </a:txBody>
                  <a:tcPr anchor="ctr" marL="127000" marR="127000">
                    <a:solidFill>
                      <a:srgbClr val="FFFFFF"/>
                    </a:solidFill>
                  </a:tcPr>
                </a:tc>
                <a:tc>
                  <a:txBody>
                    <a:bodyPr/>
                    <a:lstStyle/>
                    <a:p>
                      <a:r>
                        <a:rPr sz="1400" b="0" i="0">
                          <a:solidFill>
                            <a:srgbClr val="4B5563"/>
                          </a:solidFill>
                          <a:latin typeface="Calibri"/>
                        </a:rPr>
                        <a:t>Abuja</a:t>
                      </a:r>
                    </a:p>
                  </a:txBody>
                  <a:tcPr anchor="ctr" marL="127000" marR="127000">
                    <a:solidFill>
                      <a:srgbClr val="FFFFFF"/>
                    </a:solidFill>
                  </a:tcPr>
                </a:tc>
                <a:tc>
                  <a:txBody>
                    <a:bodyPr/>
                    <a:lstStyle/>
                    <a:p>
                      <a:r>
                        <a:rPr sz="1400" b="0" i="0">
                          <a:solidFill>
                            <a:srgbClr val="4B5563"/>
                          </a:solidFill>
                          <a:latin typeface="Calibri"/>
                        </a:rPr>
                        <a:t>10:05</a:t>
                      </a:r>
                    </a:p>
                  </a:txBody>
                  <a:tcPr anchor="ctr" marL="127000" marR="127000">
                    <a:solidFill>
                      <a:srgbClr val="FFFFFF"/>
                    </a:solidFill>
                  </a:tcPr>
                </a:tc>
              </a:tr>
              <a:tr h="402336">
                <a:tc>
                  <a:txBody>
                    <a:bodyPr/>
                    <a:lstStyle/>
                    <a:p>
                      <a:r>
                        <a:rPr sz="1400" b="1" i="0">
                          <a:solidFill>
                            <a:srgbClr val="1F2937"/>
                          </a:solidFill>
                          <a:latin typeface="Calibri"/>
                        </a:rPr>
                        <a:t>2</a:t>
                      </a:r>
                    </a:p>
                  </a:txBody>
                  <a:tcPr anchor="ctr" marL="127000" marR="127000">
                    <a:solidFill>
                      <a:srgbClr val="F7F9FB"/>
                    </a:solidFill>
                  </a:tcPr>
                </a:tc>
                <a:tc>
                  <a:txBody>
                    <a:bodyPr/>
                    <a:lstStyle/>
                    <a:p>
                      <a:r>
                        <a:rPr sz="1400" b="0" i="0">
                          <a:solidFill>
                            <a:srgbClr val="4B5563"/>
                          </a:solidFill>
                          <a:latin typeface="Calibri"/>
                        </a:rPr>
                        <a:t>₦30,000</a:t>
                      </a:r>
                    </a:p>
                  </a:txBody>
                  <a:tcPr anchor="ctr" marL="127000" marR="127000">
                    <a:solidFill>
                      <a:srgbClr val="F7F9FB"/>
                    </a:solidFill>
                  </a:tcPr>
                </a:tc>
                <a:tc>
                  <a:txBody>
                    <a:bodyPr/>
                    <a:lstStyle/>
                    <a:p>
                      <a:r>
                        <a:rPr sz="1400" b="0" i="0">
                          <a:solidFill>
                            <a:srgbClr val="4B5563"/>
                          </a:solidFill>
                          <a:latin typeface="Calibri"/>
                        </a:rPr>
                        <a:t>Abuja</a:t>
                      </a:r>
                    </a:p>
                  </a:txBody>
                  <a:tcPr anchor="ctr" marL="127000" marR="127000">
                    <a:solidFill>
                      <a:srgbClr val="F7F9FB"/>
                    </a:solidFill>
                  </a:tcPr>
                </a:tc>
                <a:tc>
                  <a:txBody>
                    <a:bodyPr/>
                    <a:lstStyle/>
                    <a:p>
                      <a:r>
                        <a:rPr sz="1400" b="0" i="0">
                          <a:solidFill>
                            <a:srgbClr val="4B5563"/>
                          </a:solidFill>
                          <a:latin typeface="Calibri"/>
                        </a:rPr>
                        <a:t>11:15</a:t>
                      </a:r>
                    </a:p>
                  </a:txBody>
                  <a:tcPr anchor="ctr" marL="127000" marR="127000">
                    <a:solidFill>
                      <a:srgbClr val="F7F9FB"/>
                    </a:solidFill>
                  </a:tcPr>
                </a:tc>
              </a:tr>
              <a:tr h="402336">
                <a:tc>
                  <a:txBody>
                    <a:bodyPr/>
                    <a:lstStyle/>
                    <a:p>
                      <a:r>
                        <a:rPr sz="1400" b="1" i="0">
                          <a:solidFill>
                            <a:srgbClr val="1F2937"/>
                          </a:solidFill>
                          <a:latin typeface="Calibri"/>
                        </a:rPr>
                        <a:t>3</a:t>
                      </a:r>
                    </a:p>
                  </a:txBody>
                  <a:tcPr anchor="ctr" marL="127000" marR="127000">
                    <a:solidFill>
                      <a:srgbClr val="FFFFFF"/>
                    </a:solidFill>
                  </a:tcPr>
                </a:tc>
                <a:tc>
                  <a:txBody>
                    <a:bodyPr/>
                    <a:lstStyle/>
                    <a:p>
                      <a:r>
                        <a:rPr sz="1400" b="0" i="0">
                          <a:solidFill>
                            <a:srgbClr val="4B5563"/>
                          </a:solidFill>
                          <a:latin typeface="Calibri"/>
                        </a:rPr>
                        <a:t>₦28,000</a:t>
                      </a:r>
                    </a:p>
                  </a:txBody>
                  <a:tcPr anchor="ctr" marL="127000" marR="127000">
                    <a:solidFill>
                      <a:srgbClr val="FFFFFF"/>
                    </a:solidFill>
                  </a:tcPr>
                </a:tc>
                <a:tc>
                  <a:txBody>
                    <a:bodyPr/>
                    <a:lstStyle/>
                    <a:p>
                      <a:r>
                        <a:rPr sz="1400" b="0" i="0">
                          <a:solidFill>
                            <a:srgbClr val="4B5563"/>
                          </a:solidFill>
                          <a:latin typeface="Calibri"/>
                        </a:rPr>
                        <a:t>Abuja</a:t>
                      </a:r>
                    </a:p>
                  </a:txBody>
                  <a:tcPr anchor="ctr" marL="127000" marR="127000">
                    <a:solidFill>
                      <a:srgbClr val="FFFFFF"/>
                    </a:solidFill>
                  </a:tcPr>
                </a:tc>
                <a:tc>
                  <a:txBody>
                    <a:bodyPr/>
                    <a:lstStyle/>
                    <a:p>
                      <a:r>
                        <a:rPr sz="1400" b="0" i="0">
                          <a:solidFill>
                            <a:srgbClr val="4B5563"/>
                          </a:solidFill>
                          <a:latin typeface="Calibri"/>
                        </a:rPr>
                        <a:t>13:20</a:t>
                      </a:r>
                    </a:p>
                  </a:txBody>
                  <a:tcPr anchor="ctr" marL="127000" marR="127000">
                    <a:solidFill>
                      <a:srgbClr val="FFFFFF"/>
                    </a:solidFill>
                  </a:tcPr>
                </a:tc>
              </a:tr>
              <a:tr h="402336">
                <a:tc>
                  <a:txBody>
                    <a:bodyPr/>
                    <a:lstStyle/>
                    <a:p>
                      <a:r>
                        <a:rPr sz="1400" b="1" i="0">
                          <a:solidFill>
                            <a:srgbClr val="1F2937"/>
                          </a:solidFill>
                          <a:latin typeface="Calibri"/>
                        </a:rPr>
                        <a:t>4</a:t>
                      </a:r>
                    </a:p>
                  </a:txBody>
                  <a:tcPr anchor="ctr" marL="127000" marR="127000">
                    <a:solidFill>
                      <a:srgbClr val="F7F9FB"/>
                    </a:solidFill>
                  </a:tcPr>
                </a:tc>
                <a:tc>
                  <a:txBody>
                    <a:bodyPr/>
                    <a:lstStyle/>
                    <a:p>
                      <a:r>
                        <a:rPr sz="1400" b="0" i="0">
                          <a:solidFill>
                            <a:srgbClr val="4B5563"/>
                          </a:solidFill>
                          <a:latin typeface="Calibri"/>
                        </a:rPr>
                        <a:t>₦1,500,000</a:t>
                      </a:r>
                    </a:p>
                  </a:txBody>
                  <a:tcPr anchor="ctr" marL="127000" marR="127000">
                    <a:solidFill>
                      <a:srgbClr val="F7F9FB"/>
                    </a:solidFill>
                  </a:tcPr>
                </a:tc>
                <a:tc>
                  <a:txBody>
                    <a:bodyPr/>
                    <a:lstStyle/>
                    <a:p>
                      <a:r>
                        <a:rPr sz="1400" b="0" i="0">
                          <a:solidFill>
                            <a:srgbClr val="4B5563"/>
                          </a:solidFill>
                          <a:latin typeface="Calibri"/>
                        </a:rPr>
                        <a:t>Lagos</a:t>
                      </a:r>
                    </a:p>
                  </a:txBody>
                  <a:tcPr anchor="ctr" marL="127000" marR="127000">
                    <a:solidFill>
                      <a:srgbClr val="F7F9FB"/>
                    </a:solidFill>
                  </a:tcPr>
                </a:tc>
                <a:tc>
                  <a:txBody>
                    <a:bodyPr/>
                    <a:lstStyle/>
                    <a:p>
                      <a:r>
                        <a:rPr sz="1400" b="0" i="0">
                          <a:solidFill>
                            <a:srgbClr val="4B5563"/>
                          </a:solidFill>
                          <a:latin typeface="Calibri"/>
                        </a:rPr>
                        <a:t>13:25</a:t>
                      </a:r>
                    </a:p>
                  </a:txBody>
                  <a:tcPr anchor="ctr" marL="127000" marR="127000">
                    <a:solidFill>
                      <a:srgbClr val="F7F9FB"/>
                    </a:solidFill>
                  </a:tcPr>
                </a:tc>
              </a:tr>
            </a:tbl>
          </a:graphicData>
        </a:graphic>
      </p:graphicFrame>
      <p:sp>
        <p:nvSpPr>
          <p:cNvPr id="8" name="Rounded Rectangle 7"/>
          <p:cNvSpPr/>
          <p:nvPr/>
        </p:nvSpPr>
        <p:spPr>
          <a:xfrm>
            <a:off x="3108960" y="3977639"/>
            <a:ext cx="5943600" cy="59436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FFFFFF"/>
                </a:solidFill>
                <a:latin typeface="Calibri"/>
              </a:rPr>
              <a:t>Which transaction looks suspicious?</a:t>
            </a:r>
          </a:p>
        </p:txBody>
      </p:sp>
      <p:sp>
        <p:nvSpPr>
          <p:cNvPr id="9" name="TextBox 8"/>
          <p:cNvSpPr txBox="1"/>
          <p:nvPr/>
        </p:nvSpPr>
        <p:spPr>
          <a:xfrm>
            <a:off x="713232" y="4892040"/>
            <a:ext cx="10771632" cy="1005840"/>
          </a:xfrm>
          <a:prstGeom prst="rect">
            <a:avLst/>
          </a:prstGeom>
          <a:noFill/>
        </p:spPr>
        <p:txBody>
          <a:bodyPr wrap="square" anchor="t" lIns="0" rIns="0" tIns="0" bIns="0">
            <a:spAutoFit/>
          </a:bodyPr>
          <a:lstStyle/>
          <a:p>
            <a:pPr algn="l">
              <a:lnSpc>
                <a:spcPct val="100000"/>
              </a:lnSpc>
            </a:pPr>
            <a:r>
              <a:rPr sz="1550" b="0" i="1">
                <a:solidFill>
                  <a:srgbClr val="4B5563"/>
                </a:solidFill>
                <a:latin typeface="Calibri"/>
              </a:rPr>
              <a:t>Most people immediately point at Transaction 4 — much larger, different city, minutes after three small, local transactions. Nobody had to teach you a rule to notice that.</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 · THE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Challenge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1005840"/>
          </a:xfrm>
          <a:prstGeom prst="rect">
            <a:avLst/>
          </a:prstGeom>
          <a:noFill/>
        </p:spPr>
        <p:txBody>
          <a:bodyPr wrap="square" anchor="t" lIns="0" rIns="0" tIns="0" bIns="0">
            <a:spAutoFit/>
          </a:bodyPr>
          <a:lstStyle/>
          <a:p>
            <a:pPr algn="l">
              <a:lnSpc>
                <a:spcPct val="100000"/>
              </a:lnSpc>
            </a:pPr>
            <a:r>
              <a:rPr sz="2200" b="1" i="0">
                <a:solidFill>
                  <a:srgbClr val="1F2937"/>
                </a:solidFill>
                <a:latin typeface="Calibri"/>
              </a:rPr>
              <a:t>What if the bank doesn't have a label telling us which transaction is fraudulent?</a:t>
            </a:r>
          </a:p>
        </p:txBody>
      </p:sp>
      <p:sp>
        <p:nvSpPr>
          <p:cNvPr id="8" name="TextBox 7"/>
          <p:cNvSpPr txBox="1"/>
          <p:nvPr/>
        </p:nvSpPr>
        <p:spPr>
          <a:xfrm>
            <a:off x="713232" y="2880360"/>
            <a:ext cx="10771632" cy="2011680"/>
          </a:xfrm>
          <a:prstGeom prst="rect">
            <a:avLst/>
          </a:prstGeom>
          <a:noFill/>
        </p:spPr>
        <p:txBody>
          <a:bodyPr wrap="square" anchor="t" lIns="0" rIns="0" tIns="0" bIns="0">
            <a:spAutoFit/>
          </a:bodyPr>
          <a:lstStyle/>
          <a:p>
            <a:pPr>
              <a:lnSpc>
                <a:spcPct val="112000"/>
              </a:lnSpc>
              <a:spcAft>
                <a:spcPts val="1000"/>
              </a:spcAft>
            </a:pPr>
            <a:r>
              <a:rPr sz="1750" b="0" i="0">
                <a:solidFill>
                  <a:srgbClr val="4B5563"/>
                </a:solidFill>
                <a:latin typeface="Calibri"/>
              </a:rPr>
              <a:t>•  No column says “this transaction is fraud.”</a:t>
            </a:r>
          </a:p>
          <a:p>
            <a:pPr>
              <a:lnSpc>
                <a:spcPct val="112000"/>
              </a:lnSpc>
              <a:spcAft>
                <a:spcPts val="1000"/>
              </a:spcAft>
            </a:pPr>
            <a:r>
              <a:rPr sz="1750" b="0" i="0">
                <a:solidFill>
                  <a:srgbClr val="4B5563"/>
                </a:solidFill>
                <a:latin typeface="Calibri"/>
              </a:rPr>
              <a:t>•  No historical record of confirmed fraud cases exists yet.</a:t>
            </a:r>
          </a:p>
          <a:p>
            <a:pPr>
              <a:lnSpc>
                <a:spcPct val="112000"/>
              </a:lnSpc>
              <a:spcAft>
                <a:spcPts val="1000"/>
              </a:spcAft>
            </a:pPr>
            <a:r>
              <a:rPr sz="1750" b="0" i="0">
                <a:solidFill>
                  <a:srgbClr val="4B5563"/>
                </a:solidFill>
                <a:latin typeface="Calibri"/>
              </a:rPr>
              <a:t>•  Millions of transactions happen daily — a human can't review them all.</a:t>
            </a:r>
          </a:p>
          <a:p>
            <a:pPr>
              <a:lnSpc>
                <a:spcPct val="112000"/>
              </a:lnSpc>
              <a:spcAft>
                <a:spcPts val="1000"/>
              </a:spcAft>
            </a:pPr>
            <a:r>
              <a:rPr sz="1750" b="0" i="0">
                <a:solidFill>
                  <a:srgbClr val="4B5563"/>
                </a:solidFill>
                <a:latin typeface="Calibri"/>
              </a:rPr>
              <a:t>•  We need the DATA ITSELF to reveal what's unusual.</a:t>
            </a:r>
          </a:p>
        </p:txBody>
      </p:sp>
      <p:sp>
        <p:nvSpPr>
          <p:cNvPr id="9" name="Rounded Rectangle 8"/>
          <p:cNvSpPr/>
          <p:nvPr/>
        </p:nvSpPr>
        <p:spPr>
          <a:xfrm>
            <a:off x="2743200" y="5212080"/>
            <a:ext cx="6675120" cy="59436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600" b="1" i="0">
                <a:solidFill>
                  <a:srgbClr val="1E40AF"/>
                </a:solidFill>
                <a:latin typeface="Calibri"/>
              </a:rPr>
              <a:t>This is a classic unlabelled-data problem</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 · THE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an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45920"/>
            <a:ext cx="10771632" cy="822960"/>
          </a:xfrm>
          <a:prstGeom prst="rect">
            <a:avLst/>
          </a:prstGeom>
          <a:noFill/>
        </p:spPr>
        <p:txBody>
          <a:bodyPr wrap="square" anchor="t" lIns="0" rIns="0" tIns="0" bIns="0">
            <a:spAutoFit/>
          </a:bodyPr>
          <a:lstStyle/>
          <a:p>
            <a:pPr algn="l">
              <a:lnSpc>
                <a:spcPct val="100000"/>
              </a:lnSpc>
            </a:pPr>
            <a:r>
              <a:rPr sz="2100" b="1" i="0">
                <a:solidFill>
                  <a:srgbClr val="1F2937"/>
                </a:solidFill>
                <a:latin typeface="Calibri"/>
              </a:rPr>
              <a:t>“An anomaly is a data point that behaves very differently</a:t>
            </a:r>
          </a:p>
          <a:p>
            <a:pPr algn="l">
              <a:lnSpc>
                <a:spcPct val="100000"/>
              </a:lnSpc>
            </a:pPr>
            <a:r>
              <a:rPr sz="2100" b="1" i="0">
                <a:solidFill>
                  <a:srgbClr val="1F2937"/>
                </a:solidFill>
                <a:latin typeface="Calibri"/>
              </a:rPr>
              <a:t>from what is normal.”</a:t>
            </a:r>
          </a:p>
        </p:txBody>
      </p:sp>
      <p:sp>
        <p:nvSpPr>
          <p:cNvPr id="8" name="TextBox 7"/>
          <p:cNvSpPr txBox="1"/>
          <p:nvPr/>
        </p:nvSpPr>
        <p:spPr>
          <a:xfrm>
            <a:off x="713232" y="3063240"/>
            <a:ext cx="10771632" cy="2377440"/>
          </a:xfrm>
          <a:prstGeom prst="rect">
            <a:avLst/>
          </a:prstGeom>
          <a:noFill/>
        </p:spPr>
        <p:txBody>
          <a:bodyPr wrap="square" anchor="t" lIns="0" rIns="0" tIns="0" bIns="0">
            <a:spAutoFit/>
          </a:bodyPr>
          <a:lstStyle/>
          <a:p>
            <a:pPr>
              <a:lnSpc>
                <a:spcPct val="112000"/>
              </a:lnSpc>
              <a:spcAft>
                <a:spcPts val="1000"/>
              </a:spcAft>
            </a:pPr>
            <a:r>
              <a:rPr sz="1700" b="0" i="0">
                <a:solidFill>
                  <a:srgbClr val="4B5563"/>
                </a:solidFill>
                <a:latin typeface="Calibri"/>
              </a:rPr>
              <a:t>•  An unusually large transaction</a:t>
            </a:r>
          </a:p>
          <a:p>
            <a:pPr>
              <a:lnSpc>
                <a:spcPct val="112000"/>
              </a:lnSpc>
              <a:spcAft>
                <a:spcPts val="1000"/>
              </a:spcAft>
            </a:pPr>
            <a:r>
              <a:rPr sz="1700" b="0" i="0">
                <a:solidFill>
                  <a:srgbClr val="4B5563"/>
                </a:solidFill>
                <a:latin typeface="Calibri"/>
              </a:rPr>
              <a:t>•  An unusually frequent login attempt</a:t>
            </a:r>
          </a:p>
          <a:p>
            <a:pPr>
              <a:lnSpc>
                <a:spcPct val="112000"/>
              </a:lnSpc>
              <a:spcAft>
                <a:spcPts val="1000"/>
              </a:spcAft>
            </a:pPr>
            <a:r>
              <a:rPr sz="1700" b="0" i="0">
                <a:solidFill>
                  <a:srgbClr val="4B5563"/>
                </a:solidFill>
                <a:latin typeface="Calibri"/>
              </a:rPr>
              <a:t>•  An unusual spike in server temperature</a:t>
            </a:r>
          </a:p>
          <a:p>
            <a:pPr>
              <a:lnSpc>
                <a:spcPct val="112000"/>
              </a:lnSpc>
              <a:spcAft>
                <a:spcPts val="1000"/>
              </a:spcAft>
            </a:pPr>
            <a:r>
              <a:rPr sz="1700" b="0" i="0">
                <a:solidFill>
                  <a:srgbClr val="4B5563"/>
                </a:solidFill>
                <a:latin typeface="Calibri"/>
              </a:rPr>
              <a:t>•  Unusual network traffic volume</a:t>
            </a:r>
          </a:p>
          <a:p>
            <a:pPr>
              <a:lnSpc>
                <a:spcPct val="112000"/>
              </a:lnSpc>
              <a:spcAft>
                <a:spcPts val="1000"/>
              </a:spcAft>
            </a:pPr>
            <a:r>
              <a:rPr sz="1700" b="0" i="0">
                <a:solidFill>
                  <a:srgbClr val="4B5563"/>
                </a:solidFill>
                <a:latin typeface="Calibri"/>
              </a:rPr>
              <a:t>•  Unusual credit card activity for a specific customer</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1 · THE PROBLEM</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Normal vs. Anomalous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Real (synthetic) transaction amounts from our bank dataset — most cluster tightly together.</a:t>
            </a:r>
          </a:p>
        </p:txBody>
      </p:sp>
      <p:pic>
        <p:nvPicPr>
          <p:cNvPr id="8" name="Picture 7" descr="01_normal_vs_anomalous.png"/>
          <p:cNvPicPr>
            <a:picLocks noChangeAspect="1"/>
          </p:cNvPicPr>
          <p:nvPr/>
        </p:nvPicPr>
        <p:blipFill>
          <a:blip r:embed="rId2"/>
          <a:stretch>
            <a:fillRect/>
          </a:stretch>
        </p:blipFill>
        <p:spPr>
          <a:xfrm>
            <a:off x="2163927" y="2103120"/>
            <a:ext cx="7863840" cy="4291212"/>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Supervised vs. Unsupervised</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2" cy="2377440"/>
        </p:xfrm>
        <a:graphic>
          <a:graphicData uri="http://schemas.openxmlformats.org/drawingml/2006/table">
            <a:tbl>
              <a:tblPr firstRow="1" bandRow="1">
                <a:tableStyleId>{5C22544A-7EE6-4342-B048-85BDC9FD1C3A}</a:tableStyleId>
              </a:tblPr>
              <a:tblGrid>
                <a:gridCol w="5385816"/>
                <a:gridCol w="5385816"/>
              </a:tblGrid>
              <a:tr h="594360">
                <a:tc>
                  <a:txBody>
                    <a:bodyPr/>
                    <a:lstStyle/>
                    <a:p>
                      <a:r>
                        <a:rPr sz="1450" b="1" i="0">
                          <a:solidFill>
                            <a:srgbClr val="FFFFFF"/>
                          </a:solidFill>
                          <a:latin typeface="Calibri"/>
                        </a:rPr>
                        <a:t>Supervised</a:t>
                      </a:r>
                    </a:p>
                  </a:txBody>
                  <a:tcPr anchor="ctr" marL="127000" marR="127000">
                    <a:solidFill>
                      <a:srgbClr val="1F2937"/>
                    </a:solidFill>
                  </a:tcPr>
                </a:tc>
                <a:tc>
                  <a:txBody>
                    <a:bodyPr/>
                    <a:lstStyle/>
                    <a:p>
                      <a:r>
                        <a:rPr sz="1450" b="1" i="0">
                          <a:solidFill>
                            <a:srgbClr val="FFFFFF"/>
                          </a:solidFill>
                          <a:latin typeface="Calibri"/>
                        </a:rPr>
                        <a:t>Unsupervised</a:t>
                      </a:r>
                    </a:p>
                  </a:txBody>
                  <a:tcPr anchor="ctr" marL="127000" marR="127000">
                    <a:solidFill>
                      <a:srgbClr val="1F2937"/>
                    </a:solidFill>
                  </a:tcPr>
                </a:tc>
              </a:tr>
              <a:tr h="594360">
                <a:tc>
                  <a:txBody>
                    <a:bodyPr/>
                    <a:lstStyle/>
                    <a:p>
                      <a:r>
                        <a:rPr sz="1400" b="1" i="0">
                          <a:solidFill>
                            <a:srgbClr val="1F2937"/>
                          </a:solidFill>
                          <a:latin typeface="Calibri"/>
                        </a:rPr>
                        <a:t>Has labels</a:t>
                      </a:r>
                    </a:p>
                  </a:txBody>
                  <a:tcPr anchor="ctr" marL="127000" marR="127000">
                    <a:solidFill>
                      <a:srgbClr val="FFFFFF"/>
                    </a:solidFill>
                  </a:tcPr>
                </a:tc>
                <a:tc>
                  <a:txBody>
                    <a:bodyPr/>
                    <a:lstStyle/>
                    <a:p>
                      <a:r>
                        <a:rPr sz="1400" b="0" i="0">
                          <a:solidFill>
                            <a:srgbClr val="4B5563"/>
                          </a:solidFill>
                          <a:latin typeface="Calibri"/>
                        </a:rPr>
                        <a:t>No labels</a:t>
                      </a:r>
                    </a:p>
                  </a:txBody>
                  <a:tcPr anchor="ctr" marL="127000" marR="127000">
                    <a:solidFill>
                      <a:srgbClr val="FFFFFF"/>
                    </a:solidFill>
                  </a:tcPr>
                </a:tc>
              </a:tr>
              <a:tr h="594360">
                <a:tc>
                  <a:txBody>
                    <a:bodyPr/>
                    <a:lstStyle/>
                    <a:p>
                      <a:r>
                        <a:rPr sz="1400" b="1" i="0">
                          <a:solidFill>
                            <a:srgbClr val="1F2937"/>
                          </a:solidFill>
                          <a:latin typeface="Calibri"/>
                        </a:rPr>
                        <a:t>Learns from known outcomes</a:t>
                      </a:r>
                    </a:p>
                  </a:txBody>
                  <a:tcPr anchor="ctr" marL="127000" marR="127000">
                    <a:solidFill>
                      <a:srgbClr val="F7F9FB"/>
                    </a:solidFill>
                  </a:tcPr>
                </a:tc>
                <a:tc>
                  <a:txBody>
                    <a:bodyPr/>
                    <a:lstStyle/>
                    <a:p>
                      <a:r>
                        <a:rPr sz="1400" b="0" i="0">
                          <a:solidFill>
                            <a:srgbClr val="4B5563"/>
                          </a:solidFill>
                          <a:latin typeface="Calibri"/>
                        </a:rPr>
                        <a:t>Finds patterns</a:t>
                      </a:r>
                    </a:p>
                  </a:txBody>
                  <a:tcPr anchor="ctr" marL="127000" marR="127000">
                    <a:solidFill>
                      <a:srgbClr val="F7F9FB"/>
                    </a:solidFill>
                  </a:tcPr>
                </a:tc>
              </a:tr>
              <a:tr h="594360">
                <a:tc>
                  <a:txBody>
                    <a:bodyPr/>
                    <a:lstStyle/>
                    <a:p>
                      <a:r>
                        <a:rPr sz="1400" b="1" i="0">
                          <a:solidFill>
                            <a:srgbClr val="1F2937"/>
                          </a:solidFill>
                          <a:latin typeface="Calibri"/>
                        </a:rPr>
                        <a:t>Classification</a:t>
                      </a:r>
                    </a:p>
                  </a:txBody>
                  <a:tcPr anchor="ctr" marL="127000" marR="127000">
                    <a:solidFill>
                      <a:srgbClr val="FFFFFF"/>
                    </a:solidFill>
                  </a:tcPr>
                </a:tc>
                <a:tc>
                  <a:txBody>
                    <a:bodyPr/>
                    <a:lstStyle/>
                    <a:p>
                      <a:r>
                        <a:rPr sz="1400" b="0" i="0">
                          <a:solidFill>
                            <a:srgbClr val="4B5563"/>
                          </a:solidFill>
                          <a:latin typeface="Calibri"/>
                        </a:rPr>
                        <a:t>Clustering / anomaly detection</a:t>
                      </a:r>
                    </a:p>
                  </a:txBody>
                  <a:tcPr anchor="ctr" marL="127000" marR="127000">
                    <a:solidFill>
                      <a:srgbClr val="FFFFFF"/>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How Do We Learn “Normal”?</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914400"/>
          </a:xfrm>
          <a:prstGeom prst="rect">
            <a:avLst/>
          </a:prstGeom>
          <a:noFill/>
        </p:spPr>
        <p:txBody>
          <a:bodyPr wrap="square" anchor="t" lIns="0" rIns="0" tIns="0" bIns="0">
            <a:spAutoFit/>
          </a:bodyPr>
          <a:lstStyle/>
          <a:p>
            <a:pPr algn="l">
              <a:lnSpc>
                <a:spcPct val="100000"/>
              </a:lnSpc>
            </a:pPr>
            <a:r>
              <a:rPr sz="2100" b="1" i="0">
                <a:solidFill>
                  <a:srgbClr val="1F2937"/>
                </a:solidFill>
                <a:latin typeface="Calibri"/>
              </a:rPr>
              <a:t>If nobody tells the machine what fraud looks like,</a:t>
            </a:r>
          </a:p>
          <a:p>
            <a:pPr algn="l">
              <a:lnSpc>
                <a:spcPct val="100000"/>
              </a:lnSpc>
            </a:pPr>
            <a:r>
              <a:rPr sz="2100" b="1" i="0">
                <a:solidFill>
                  <a:srgbClr val="1F2937"/>
                </a:solidFill>
                <a:latin typeface="Calibri"/>
              </a:rPr>
              <a:t>how can it find fraud?</a:t>
            </a:r>
          </a:p>
        </p:txBody>
      </p:sp>
      <p:sp>
        <p:nvSpPr>
          <p:cNvPr id="8" name="Rounded Rectangle 7"/>
          <p:cNvSpPr/>
          <p:nvPr/>
        </p:nvSpPr>
        <p:spPr>
          <a:xfrm>
            <a:off x="2194560" y="3291840"/>
            <a:ext cx="3726180" cy="100584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Learn what NORMAL</a:t>
            </a:r>
          </a:p>
          <a:p>
            <a:pPr algn="ctr"/>
            <a:r>
              <a:rPr sz="1450" b="1" i="0">
                <a:solidFill>
                  <a:srgbClr val="FFFFFF"/>
                </a:solidFill>
                <a:latin typeface="Calibri"/>
              </a:rPr>
              <a:t>looks like</a:t>
            </a:r>
          </a:p>
        </p:txBody>
      </p:sp>
      <p:cxnSp>
        <p:nvCxnSpPr>
          <p:cNvPr id="9" name="Connector 8"/>
          <p:cNvCxnSpPr/>
          <p:nvPr/>
        </p:nvCxnSpPr>
        <p:spPr>
          <a:xfrm>
            <a:off x="5946140" y="37947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40780" y="3291840"/>
            <a:ext cx="3726180" cy="100584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Identify observations</a:t>
            </a:r>
          </a:p>
          <a:p>
            <a:pPr algn="ctr"/>
            <a:r>
              <a:rPr sz="1450" b="1" i="0">
                <a:solidFill>
                  <a:srgbClr val="FFFFFF"/>
                </a:solidFill>
                <a:latin typeface="Calibri"/>
              </a:rPr>
              <a:t>that don't fit</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Different Types of Anomalies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920240"/>
            <a:ext cx="3429000" cy="237744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1. Point Anomaly</a:t>
            </a:r>
          </a:p>
          <a:p>
            <a:pPr algn="ctr"/>
            <a:r>
              <a:rPr sz="1550" b="1" i="0">
                <a:solidFill>
                  <a:srgbClr val="FFFFFF"/>
                </a:solidFill>
                <a:latin typeface="Calibri"/>
              </a:rPr>
              <a:t/>
            </a:r>
          </a:p>
          <a:p>
            <a:pPr algn="ctr"/>
            <a:r>
              <a:rPr sz="1550" b="1" i="0">
                <a:solidFill>
                  <a:srgbClr val="FFFFFF"/>
                </a:solidFill>
                <a:latin typeface="Calibri"/>
              </a:rPr>
              <a:t>A single observation that is unusual all by itself.</a:t>
            </a:r>
          </a:p>
        </p:txBody>
      </p:sp>
      <p:sp>
        <p:nvSpPr>
          <p:cNvPr id="8" name="Rounded Rectangle 7"/>
          <p:cNvSpPr/>
          <p:nvPr/>
        </p:nvSpPr>
        <p:spPr>
          <a:xfrm>
            <a:off x="4370832" y="1920240"/>
            <a:ext cx="3429000" cy="2377440"/>
          </a:xfrm>
          <a:prstGeom prst="roundRect">
            <a:avLst>
              <a:gd name="adj" fmla="val 8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2. Contextual Anomaly</a:t>
            </a:r>
          </a:p>
          <a:p>
            <a:pPr algn="ctr"/>
            <a:r>
              <a:rPr sz="1550" b="1" i="0">
                <a:solidFill>
                  <a:srgbClr val="FFFFFF"/>
                </a:solidFill>
                <a:latin typeface="Calibri"/>
              </a:rPr>
              <a:t/>
            </a:r>
          </a:p>
          <a:p>
            <a:pPr algn="ctr"/>
            <a:r>
              <a:rPr sz="1550" b="1" i="0">
                <a:solidFill>
                  <a:srgbClr val="FFFFFF"/>
                </a:solidFill>
                <a:latin typeface="Calibri"/>
              </a:rPr>
              <a:t>Normal in one context, unusual in another.</a:t>
            </a:r>
          </a:p>
        </p:txBody>
      </p:sp>
      <p:sp>
        <p:nvSpPr>
          <p:cNvPr id="9" name="Rounded Rectangle 8"/>
          <p:cNvSpPr/>
          <p:nvPr/>
        </p:nvSpPr>
        <p:spPr>
          <a:xfrm>
            <a:off x="8028432" y="1920240"/>
            <a:ext cx="3429000" cy="237744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50" b="1" i="0">
                <a:solidFill>
                  <a:srgbClr val="FFFFFF"/>
                </a:solidFill>
                <a:latin typeface="Calibri"/>
              </a:rPr>
              <a:t>3. Collective Anomaly</a:t>
            </a:r>
          </a:p>
          <a:p>
            <a:pPr algn="ctr"/>
            <a:r>
              <a:rPr sz="1550" b="1" i="0">
                <a:solidFill>
                  <a:srgbClr val="FFFFFF"/>
                </a:solidFill>
                <a:latin typeface="Calibri"/>
              </a:rPr>
              <a:t/>
            </a:r>
          </a:p>
          <a:p>
            <a:pPr algn="ctr"/>
            <a:r>
              <a:rPr sz="1550" b="1" i="0">
                <a:solidFill>
                  <a:srgbClr val="FFFFFF"/>
                </a:solidFill>
                <a:latin typeface="Calibri"/>
              </a:rPr>
              <a:t>A group of observations that's unusual TOGETHER.</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Point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Most transactions in our dataset sit between ₦5,000 and ₦500,000.</a:t>
            </a:r>
          </a:p>
          <a:p>
            <a:pPr>
              <a:lnSpc>
                <a:spcPct val="112000"/>
              </a:lnSpc>
              <a:spcAft>
                <a:spcPts val="1000"/>
              </a:spcAft>
            </a:pPr>
            <a:r>
              <a:rPr sz="1650" b="0" i="0">
                <a:solidFill>
                  <a:srgbClr val="4B5563"/>
                </a:solidFill>
                <a:latin typeface="Calibri"/>
              </a:rPr>
              <a:t>•  One transaction is worth several million naira.</a:t>
            </a:r>
          </a:p>
          <a:p>
            <a:pPr>
              <a:lnSpc>
                <a:spcPct val="112000"/>
              </a:lnSpc>
              <a:spcAft>
                <a:spcPts val="1000"/>
              </a:spcAft>
            </a:pPr>
            <a:r>
              <a:rPr sz="1650" b="0" i="0">
                <a:solidFill>
                  <a:srgbClr val="4B5563"/>
                </a:solidFill>
                <a:latin typeface="Calibri"/>
              </a:rPr>
              <a:t>•  It's unusual entirely on its own — no other context is needed to spot it.</a:t>
            </a:r>
          </a:p>
          <a:p>
            <a:pPr>
              <a:lnSpc>
                <a:spcPct val="112000"/>
              </a:lnSpc>
              <a:spcAft>
                <a:spcPts val="1000"/>
              </a:spcAft>
            </a:pPr>
            <a:r>
              <a:rPr sz="1650" b="0" i="0">
                <a:solidFill>
                  <a:srgbClr val="4B5563"/>
                </a:solidFill>
                <a:latin typeface="Calibri"/>
              </a:rPr>
              <a:t>•  This is the easiest kind of anomaly to imagine, but real fraud is often subtler than this.</a:t>
            </a:r>
          </a:p>
        </p:txBody>
      </p:sp>
      <p:pic>
        <p:nvPicPr>
          <p:cNvPr id="8" name="Picture 7" descr="02_point_anomaly.png"/>
          <p:cNvPicPr>
            <a:picLocks noChangeAspect="1"/>
          </p:cNvPicPr>
          <p:nvPr/>
        </p:nvPicPr>
        <p:blipFill>
          <a:blip r:embed="rId2"/>
          <a:stretch>
            <a:fillRect/>
          </a:stretch>
        </p:blipFill>
        <p:spPr>
          <a:xfrm>
            <a:off x="6035040" y="1691640"/>
            <a:ext cx="5349240" cy="2964322"/>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Contextual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822960"/>
          </a:xfrm>
          <a:prstGeom prst="rect">
            <a:avLst/>
          </a:prstGeom>
          <a:noFill/>
        </p:spPr>
        <p:txBody>
          <a:bodyPr wrap="square" anchor="t" lIns="0" rIns="0" tIns="0" bIns="0">
            <a:spAutoFit/>
          </a:bodyPr>
          <a:lstStyle/>
          <a:p>
            <a:pPr algn="l">
              <a:lnSpc>
                <a:spcPct val="100000"/>
              </a:lnSpc>
            </a:pPr>
            <a:r>
              <a:rPr sz="1900" b="1" i="0">
                <a:solidFill>
                  <a:srgbClr val="1F2937"/>
                </a:solidFill>
                <a:latin typeface="Calibri"/>
              </a:rPr>
              <a:t>Something may be normal in one context, but unusual in another.</a:t>
            </a:r>
          </a:p>
        </p:txBody>
      </p:sp>
      <p:sp>
        <p:nvSpPr>
          <p:cNvPr id="8" name="Rounded Rectangle 7"/>
          <p:cNvSpPr/>
          <p:nvPr/>
        </p:nvSpPr>
        <p:spPr>
          <a:xfrm>
            <a:off x="713232" y="2743200"/>
            <a:ext cx="5120640" cy="182880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₦500,000 transaction</a:t>
            </a:r>
          </a:p>
          <a:p>
            <a:pPr algn="ctr"/>
            <a:r>
              <a:rPr sz="1700" b="1" i="0">
                <a:solidFill>
                  <a:srgbClr val="FFFFFF"/>
                </a:solidFill>
                <a:latin typeface="Calibri"/>
              </a:rPr>
              <a:t/>
            </a:r>
          </a:p>
          <a:p>
            <a:pPr algn="ctr"/>
            <a:r>
              <a:rPr sz="1700" b="1" i="0">
                <a:solidFill>
                  <a:srgbClr val="FFFFFF"/>
                </a:solidFill>
                <a:latin typeface="Calibri"/>
              </a:rPr>
              <a:t>NORMAL for a business</a:t>
            </a:r>
          </a:p>
          <a:p>
            <a:pPr algn="ctr"/>
            <a:r>
              <a:rPr sz="1700" b="1" i="0">
                <a:solidFill>
                  <a:srgbClr val="FFFFFF"/>
                </a:solidFill>
                <a:latin typeface="Calibri"/>
              </a:rPr>
              <a:t>customer</a:t>
            </a:r>
          </a:p>
        </p:txBody>
      </p:sp>
      <p:sp>
        <p:nvSpPr>
          <p:cNvPr id="9" name="Rounded Rectangle 8"/>
          <p:cNvSpPr/>
          <p:nvPr/>
        </p:nvSpPr>
        <p:spPr>
          <a:xfrm>
            <a:off x="6263640" y="2743200"/>
            <a:ext cx="5120640" cy="182880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₦500,000 transaction</a:t>
            </a:r>
          </a:p>
          <a:p>
            <a:pPr algn="ctr"/>
            <a:r>
              <a:rPr sz="1700" b="1" i="0">
                <a:solidFill>
                  <a:srgbClr val="FFFFFF"/>
                </a:solidFill>
                <a:latin typeface="Calibri"/>
              </a:rPr>
              <a:t/>
            </a:r>
          </a:p>
          <a:p>
            <a:pPr algn="ctr"/>
            <a:r>
              <a:rPr sz="1700" b="1" i="0">
                <a:solidFill>
                  <a:srgbClr val="FFFFFF"/>
                </a:solidFill>
                <a:latin typeface="Calibri"/>
              </a:rPr>
              <a:t>UNUSUAL for a student</a:t>
            </a:r>
          </a:p>
          <a:p>
            <a:pPr algn="ctr"/>
            <a:r>
              <a:rPr sz="1700" b="1" i="0">
                <a:solidFill>
                  <a:srgbClr val="FFFFFF"/>
                </a:solidFill>
                <a:latin typeface="Calibri"/>
              </a:rPr>
              <a:t>account</a:t>
            </a:r>
          </a:p>
        </p:txBody>
      </p:sp>
      <p:sp>
        <p:nvSpPr>
          <p:cNvPr id="10" name="TextBox 9"/>
          <p:cNvSpPr txBox="1"/>
          <p:nvPr/>
        </p:nvSpPr>
        <p:spPr>
          <a:xfrm>
            <a:off x="713232" y="4892040"/>
            <a:ext cx="10771632" cy="822960"/>
          </a:xfrm>
          <a:prstGeom prst="rect">
            <a:avLst/>
          </a:prstGeom>
          <a:noFill/>
        </p:spPr>
        <p:txBody>
          <a:bodyPr wrap="square" anchor="t" lIns="0" rIns="0" tIns="0" bIns="0">
            <a:spAutoFit/>
          </a:bodyPr>
          <a:lstStyle/>
          <a:p>
            <a:pPr algn="l">
              <a:lnSpc>
                <a:spcPct val="100000"/>
              </a:lnSpc>
            </a:pPr>
            <a:r>
              <a:rPr sz="1550" b="0" i="1">
                <a:solidFill>
                  <a:srgbClr val="4B5563"/>
                </a:solidFill>
                <a:latin typeface="Calibri"/>
              </a:rPr>
              <a:t>Same amount. Same currency. Completely different meaning depending on WHO made the transaction.</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2 · UNSUPERVISED LEARNING</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Collective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37360"/>
            <a:ext cx="5120640" cy="1554480"/>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One login attempt</a:t>
            </a:r>
          </a:p>
          <a:p>
            <a:pPr algn="ctr"/>
            <a:r>
              <a:rPr sz="1700" b="1" i="0">
                <a:solidFill>
                  <a:srgbClr val="FFFFFF"/>
                </a:solidFill>
                <a:latin typeface="Calibri"/>
              </a:rPr>
              <a:t/>
            </a:r>
          </a:p>
          <a:p>
            <a:pPr algn="ctr"/>
            <a:r>
              <a:rPr sz="1700" b="1" i="0">
                <a:solidFill>
                  <a:srgbClr val="FFFFFF"/>
                </a:solidFill>
                <a:latin typeface="Calibri"/>
              </a:rPr>
              <a:t>Looks completely normal</a:t>
            </a:r>
          </a:p>
        </p:txBody>
      </p:sp>
      <p:sp>
        <p:nvSpPr>
          <p:cNvPr id="8" name="Rounded Rectangle 7"/>
          <p:cNvSpPr/>
          <p:nvPr/>
        </p:nvSpPr>
        <p:spPr>
          <a:xfrm>
            <a:off x="6263640" y="1737360"/>
            <a:ext cx="5120640" cy="155448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700" b="1" i="0">
                <a:solidFill>
                  <a:srgbClr val="FFFFFF"/>
                </a:solidFill>
                <a:latin typeface="Calibri"/>
              </a:rPr>
              <a:t>500 login attempts</a:t>
            </a:r>
          </a:p>
          <a:p>
            <a:pPr algn="ctr"/>
            <a:r>
              <a:rPr sz="1700" b="1" i="0">
                <a:solidFill>
                  <a:srgbClr val="FFFFFF"/>
                </a:solidFill>
                <a:latin typeface="Calibri"/>
              </a:rPr>
              <a:t>in 2 minutes</a:t>
            </a:r>
          </a:p>
          <a:p>
            <a:pPr algn="ctr"/>
            <a:r>
              <a:rPr sz="1700" b="1" i="0">
                <a:solidFill>
                  <a:srgbClr val="FFFFFF"/>
                </a:solidFill>
                <a:latin typeface="Calibri"/>
              </a:rPr>
              <a:t/>
            </a:r>
          </a:p>
          <a:p>
            <a:pPr algn="ctr"/>
            <a:r>
              <a:rPr sz="1700" b="1" i="0">
                <a:solidFill>
                  <a:srgbClr val="FFFFFF"/>
                </a:solidFill>
                <a:latin typeface="Calibri"/>
              </a:rPr>
              <a:t>An unusual PATTERN</a:t>
            </a:r>
          </a:p>
        </p:txBody>
      </p:sp>
      <p:sp>
        <p:nvSpPr>
          <p:cNvPr id="9" name="TextBox 8"/>
          <p:cNvSpPr txBox="1"/>
          <p:nvPr/>
        </p:nvSpPr>
        <p:spPr>
          <a:xfrm>
            <a:off x="713232" y="3657600"/>
            <a:ext cx="10771632" cy="1188720"/>
          </a:xfrm>
          <a:prstGeom prst="rect">
            <a:avLst/>
          </a:prstGeom>
          <a:noFill/>
        </p:spPr>
        <p:txBody>
          <a:bodyPr wrap="square" anchor="t" lIns="0" rIns="0" tIns="0" bIns="0">
            <a:spAutoFit/>
          </a:bodyPr>
          <a:lstStyle/>
          <a:p>
            <a:pPr algn="l">
              <a:lnSpc>
                <a:spcPct val="100000"/>
              </a:lnSpc>
            </a:pPr>
            <a:r>
              <a:rPr sz="1600" b="0" i="0">
                <a:solidFill>
                  <a:srgbClr val="4B5563"/>
                </a:solidFill>
                <a:latin typeface="Calibri"/>
              </a:rPr>
              <a:t>No single login in that burst is individually suspicious. It's the COMBINATION — many attempts, tightly clustered in time — that reveals the anomaly. Our own dataset includes a version of this: a handful of customers with a burst of 15-35 transactions inside one hour.</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HOW DETECTION WORKS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The Basic Idea</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Every approach we're about to cover follows this same basic shape.</a:t>
            </a:r>
          </a:p>
        </p:txBody>
      </p:sp>
      <p:sp>
        <p:nvSpPr>
          <p:cNvPr id="8" name="Rounded Rectangle 7"/>
          <p:cNvSpPr/>
          <p:nvPr/>
        </p:nvSpPr>
        <p:spPr>
          <a:xfrm>
            <a:off x="713232" y="2926080"/>
            <a:ext cx="2452878" cy="1051560"/>
          </a:xfrm>
          <a:prstGeom prst="roundRect">
            <a:avLst>
              <a:gd name="adj" fmla="val 16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Data</a:t>
            </a:r>
          </a:p>
        </p:txBody>
      </p:sp>
      <p:cxnSp>
        <p:nvCxnSpPr>
          <p:cNvPr id="9" name="Connector 8"/>
          <p:cNvCxnSpPr/>
          <p:nvPr/>
        </p:nvCxnSpPr>
        <p:spPr>
          <a:xfrm>
            <a:off x="3191510"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86150" y="2926080"/>
            <a:ext cx="2452878" cy="105156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Learn Normal</a:t>
            </a:r>
          </a:p>
          <a:p>
            <a:pPr algn="ctr"/>
            <a:r>
              <a:rPr sz="1450" b="1" i="0">
                <a:solidFill>
                  <a:srgbClr val="FFFFFF"/>
                </a:solidFill>
                <a:latin typeface="Calibri"/>
              </a:rPr>
              <a:t>Pattern</a:t>
            </a:r>
          </a:p>
        </p:txBody>
      </p:sp>
      <p:cxnSp>
        <p:nvCxnSpPr>
          <p:cNvPr id="11" name="Connector 10"/>
          <p:cNvCxnSpPr/>
          <p:nvPr/>
        </p:nvCxnSpPr>
        <p:spPr>
          <a:xfrm>
            <a:off x="5964428"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59068" y="2926080"/>
            <a:ext cx="2452878" cy="105156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Calculate</a:t>
            </a:r>
          </a:p>
          <a:p>
            <a:pPr algn="ctr"/>
            <a:r>
              <a:rPr sz="1450" b="1" i="0">
                <a:solidFill>
                  <a:srgbClr val="FFFFFF"/>
                </a:solidFill>
                <a:latin typeface="Calibri"/>
              </a:rPr>
              <a:t>Unusualness</a:t>
            </a:r>
          </a:p>
        </p:txBody>
      </p:sp>
      <p:cxnSp>
        <p:nvCxnSpPr>
          <p:cNvPr id="13" name="Connector 12"/>
          <p:cNvCxnSpPr/>
          <p:nvPr/>
        </p:nvCxnSpPr>
        <p:spPr>
          <a:xfrm>
            <a:off x="8737346"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31986" y="2926080"/>
            <a:ext cx="2452878" cy="1051560"/>
          </a:xfrm>
          <a:prstGeom prst="roundRect">
            <a:avLst>
              <a:gd name="adj" fmla="val 16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Flag</a:t>
            </a:r>
          </a:p>
          <a:p>
            <a:pPr algn="ctr"/>
            <a:r>
              <a:rPr sz="1450" b="1" i="0">
                <a:solidFill>
                  <a:srgbClr val="FFFFFF"/>
                </a:solidFill>
                <a:latin typeface="Calibri"/>
              </a:rPr>
              <a:t>Anomalies</a:t>
            </a:r>
          </a:p>
        </p:txBody>
      </p:sp>
      <p:sp>
        <p:nvSpPr>
          <p:cNvPr id="15" name="TextBox 14"/>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6" name="TextBox 15"/>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HOW DETECTION WORKS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Approaches to Anomaly Detection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937760"/>
          </a:xfrm>
          <a:prstGeom prst="rect">
            <a:avLst/>
          </a:prstGeom>
          <a:noFill/>
        </p:spPr>
        <p:txBody>
          <a:bodyPr wrap="square" anchor="t" lIns="0" rIns="0" tIns="0" bIns="0">
            <a:spAutoFit/>
          </a:bodyPr>
          <a:lstStyle/>
          <a:p>
            <a:pPr>
              <a:lnSpc>
                <a:spcPct val="112000"/>
              </a:lnSpc>
              <a:spcAft>
                <a:spcPts val="1000"/>
              </a:spcAft>
            </a:pPr>
            <a:r>
              <a:rPr sz="1750" b="0" i="0">
                <a:solidFill>
                  <a:srgbClr val="4B5563"/>
                </a:solidFill>
                <a:latin typeface="Calibri"/>
              </a:rPr>
              <a:t>•  Statistical methods — how far is a value from what's typically expected?</a:t>
            </a:r>
          </a:p>
          <a:p>
            <a:pPr>
              <a:lnSpc>
                <a:spcPct val="112000"/>
              </a:lnSpc>
              <a:spcAft>
                <a:spcPts val="1000"/>
              </a:spcAft>
            </a:pPr>
            <a:r>
              <a:rPr sz="1750" b="0" i="0">
                <a:solidFill>
                  <a:srgbClr val="4B5563"/>
                </a:solidFill>
                <a:latin typeface="Calibri"/>
              </a:rPr>
              <a:t>•  Distance-based methods — how far is this point from its neighbours?</a:t>
            </a:r>
          </a:p>
          <a:p>
            <a:pPr>
              <a:lnSpc>
                <a:spcPct val="112000"/>
              </a:lnSpc>
              <a:spcAft>
                <a:spcPts val="1000"/>
              </a:spcAft>
            </a:pPr>
            <a:r>
              <a:rPr sz="1750" b="0" i="0">
                <a:solidFill>
                  <a:srgbClr val="4B5563"/>
                </a:solidFill>
                <a:latin typeface="Calibri"/>
              </a:rPr>
              <a:t>•  Density-based methods — does this point sit in a crowded or a sparse region?</a:t>
            </a:r>
          </a:p>
          <a:p>
            <a:pPr>
              <a:lnSpc>
                <a:spcPct val="112000"/>
              </a:lnSpc>
              <a:spcAft>
                <a:spcPts val="1000"/>
              </a:spcAft>
            </a:pPr>
            <a:r>
              <a:rPr sz="1750" b="0" i="0">
                <a:solidFill>
                  <a:srgbClr val="4B5563"/>
                </a:solidFill>
                <a:latin typeface="Calibri"/>
              </a:rPr>
              <a:t>•  Isolation Forest — how easily can this point be separated from the rest?</a:t>
            </a:r>
          </a:p>
          <a:p>
            <a:pPr>
              <a:lnSpc>
                <a:spcPct val="112000"/>
              </a:lnSpc>
              <a:spcAft>
                <a:spcPts val="1000"/>
              </a:spcAft>
            </a:pPr>
            <a:r>
              <a:rPr sz="1750" b="0" i="0">
                <a:solidFill>
                  <a:srgbClr val="4B5563"/>
                </a:solidFill>
                <a:latin typeface="Calibri"/>
              </a:rPr>
              <a:t>•  One-Class SVM — does this point fall inside or outside the learned boundary of normal data?</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HOW DETECTION WORKS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Statistical Approach</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45920"/>
            <a:ext cx="10771632" cy="502920"/>
          </a:xfrm>
          <a:prstGeom prst="rect">
            <a:avLst/>
          </a:prstGeom>
          <a:noFill/>
        </p:spPr>
        <p:txBody>
          <a:bodyPr wrap="square" anchor="t" lIns="0" rIns="0" tIns="0" bIns="0">
            <a:spAutoFit/>
          </a:bodyPr>
          <a:lstStyle/>
          <a:p>
            <a:pPr algn="l">
              <a:lnSpc>
                <a:spcPct val="100000"/>
              </a:lnSpc>
            </a:pPr>
            <a:r>
              <a:rPr sz="1550" b="1" i="0">
                <a:solidFill>
                  <a:srgbClr val="6B7280"/>
                </a:solidFill>
                <a:latin typeface="Calibri"/>
              </a:rPr>
              <a:t>Illustrative example — one customer's typical transaction behaviour:</a:t>
            </a:r>
          </a:p>
        </p:txBody>
      </p:sp>
      <p:graphicFrame>
        <p:nvGraphicFramePr>
          <p:cNvPr id="8" name="Table 7"/>
          <p:cNvGraphicFramePr>
            <a:graphicFrameLocks noGrp="1"/>
          </p:cNvGraphicFramePr>
          <p:nvPr/>
        </p:nvGraphicFramePr>
        <p:xfrm>
          <a:off x="713232" y="2103120"/>
          <a:ext cx="6766560" cy="1554480"/>
        </p:xfrm>
        <a:graphic>
          <a:graphicData uri="http://schemas.openxmlformats.org/drawingml/2006/table">
            <a:tbl>
              <a:tblPr firstRow="1" bandRow="1">
                <a:tableStyleId>{5C22544A-7EE6-4342-B048-85BDC9FD1C3A}</a:tableStyleId>
              </a:tblPr>
              <a:tblGrid>
                <a:gridCol w="2255520"/>
                <a:gridCol w="2255520"/>
                <a:gridCol w="2255520"/>
              </a:tblGrid>
              <a:tr h="777240">
                <a:tc>
                  <a:txBody>
                    <a:bodyPr/>
                    <a:lstStyle/>
                    <a:p>
                      <a:r>
                        <a:rPr sz="1450" b="1" i="0">
                          <a:solidFill>
                            <a:srgbClr val="FFFFFF"/>
                          </a:solidFill>
                          <a:latin typeface="Calibri"/>
                        </a:rPr>
                        <a:t>Typical mean</a:t>
                      </a:r>
                    </a:p>
                  </a:txBody>
                  <a:tcPr anchor="ctr" marL="127000" marR="127000">
                    <a:solidFill>
                      <a:srgbClr val="1F2937"/>
                    </a:solidFill>
                  </a:tcPr>
                </a:tc>
                <a:tc>
                  <a:txBody>
                    <a:bodyPr/>
                    <a:lstStyle/>
                    <a:p>
                      <a:r>
                        <a:rPr sz="1450" b="1" i="0">
                          <a:solidFill>
                            <a:srgbClr val="FFFFFF"/>
                          </a:solidFill>
                          <a:latin typeface="Calibri"/>
                        </a:rPr>
                        <a:t>Typical std. deviation</a:t>
                      </a:r>
                    </a:p>
                  </a:txBody>
                  <a:tcPr anchor="ctr" marL="127000" marR="127000">
                    <a:solidFill>
                      <a:srgbClr val="1F2937"/>
                    </a:solidFill>
                  </a:tcPr>
                </a:tc>
                <a:tc>
                  <a:txBody>
                    <a:bodyPr/>
                    <a:lstStyle/>
                    <a:p>
                      <a:r>
                        <a:rPr sz="1450" b="1" i="0">
                          <a:solidFill>
                            <a:srgbClr val="FFFFFF"/>
                          </a:solidFill>
                          <a:latin typeface="Calibri"/>
                        </a:rPr>
                        <a:t>This transaction</a:t>
                      </a:r>
                    </a:p>
                  </a:txBody>
                  <a:tcPr anchor="ctr" marL="127000" marR="127000">
                    <a:solidFill>
                      <a:srgbClr val="1F2937"/>
                    </a:solidFill>
                  </a:tcPr>
                </a:tc>
              </a:tr>
              <a:tr h="777240">
                <a:tc>
                  <a:txBody>
                    <a:bodyPr/>
                    <a:lstStyle/>
                    <a:p>
                      <a:r>
                        <a:rPr sz="1400" b="1" i="0">
                          <a:solidFill>
                            <a:srgbClr val="1F2937"/>
                          </a:solidFill>
                          <a:latin typeface="Calibri"/>
                        </a:rPr>
                        <a:t>₦45,000</a:t>
                      </a:r>
                    </a:p>
                  </a:txBody>
                  <a:tcPr anchor="ctr" marL="127000" marR="127000">
                    <a:solidFill>
                      <a:srgbClr val="FFFFFF"/>
                    </a:solidFill>
                  </a:tcPr>
                </a:tc>
                <a:tc>
                  <a:txBody>
                    <a:bodyPr/>
                    <a:lstStyle/>
                    <a:p>
                      <a:r>
                        <a:rPr sz="1400" b="0" i="0">
                          <a:solidFill>
                            <a:srgbClr val="4B5563"/>
                          </a:solidFill>
                          <a:latin typeface="Calibri"/>
                        </a:rPr>
                        <a:t>₦15,000</a:t>
                      </a:r>
                    </a:p>
                  </a:txBody>
                  <a:tcPr anchor="ctr" marL="127000" marR="127000">
                    <a:solidFill>
                      <a:srgbClr val="FFFFFF"/>
                    </a:solidFill>
                  </a:tcPr>
                </a:tc>
                <a:tc>
                  <a:txBody>
                    <a:bodyPr/>
                    <a:lstStyle/>
                    <a:p>
                      <a:r>
                        <a:rPr sz="1400" b="0" i="0">
                          <a:solidFill>
                            <a:srgbClr val="4B5563"/>
                          </a:solidFill>
                          <a:latin typeface="Calibri"/>
                        </a:rPr>
                        <a:t>₦150,000</a:t>
                      </a:r>
                    </a:p>
                  </a:txBody>
                  <a:tcPr anchor="ctr" marL="127000" marR="127000">
                    <a:solidFill>
                      <a:srgbClr val="FFFFFF"/>
                    </a:solidFill>
                  </a:tcPr>
                </a:tc>
              </a:tr>
            </a:tbl>
          </a:graphicData>
        </a:graphic>
      </p:graphicFrame>
      <p:sp>
        <p:nvSpPr>
          <p:cNvPr id="9" name="Rounded Rectangle 8"/>
          <p:cNvSpPr/>
          <p:nvPr/>
        </p:nvSpPr>
        <p:spPr>
          <a:xfrm>
            <a:off x="713232" y="3886200"/>
            <a:ext cx="6766560" cy="86868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27000" bIns="127000"/>
          <a:lstStyle/>
          <a:p>
            <a:pPr algn="ctr">
              <a:lnSpc>
                <a:spcPct val="125000"/>
              </a:lnSpc>
            </a:pPr>
            <a:r>
              <a:rPr sz="1500" b="0" i="0">
                <a:solidFill>
                  <a:srgbClr val="E5E7EB"/>
                </a:solidFill>
                <a:latin typeface="Consolas"/>
              </a:rPr>
              <a:t>z = (150,000 - 45,000) / 15,000</a:t>
            </a:r>
          </a:p>
          <a:p>
            <a:pPr>
              <a:lnSpc>
                <a:spcPct val="125000"/>
              </a:lnSpc>
            </a:pPr>
            <a:r>
              <a:rPr sz="1500" b="0" i="0">
                <a:solidFill>
                  <a:srgbClr val="E5E7EB"/>
                </a:solidFill>
                <a:latin typeface="Consolas"/>
              </a:rPr>
              <a:t>z ≈ 7</a:t>
            </a:r>
          </a:p>
        </p:txBody>
      </p:sp>
      <p:sp>
        <p:nvSpPr>
          <p:cNvPr id="10" name="TextBox 9"/>
          <p:cNvSpPr txBox="1"/>
          <p:nvPr/>
        </p:nvSpPr>
        <p:spPr>
          <a:xfrm>
            <a:off x="7818120" y="2148840"/>
            <a:ext cx="3063240" cy="3291840"/>
          </a:xfrm>
          <a:prstGeom prst="rect">
            <a:avLst/>
          </a:prstGeom>
          <a:noFill/>
        </p:spPr>
        <p:txBody>
          <a:bodyPr wrap="square" anchor="t" lIns="0" rIns="0" tIns="0" bIns="0">
            <a:spAutoFit/>
          </a:bodyPr>
          <a:lstStyle/>
          <a:p>
            <a:pPr algn="l">
              <a:lnSpc>
                <a:spcPct val="100000"/>
              </a:lnSpc>
            </a:pPr>
            <a:r>
              <a:rPr sz="1400" b="0" i="0">
                <a:solidFill>
                  <a:srgbClr val="4B5563"/>
                </a:solidFill>
                <a:latin typeface="Calibri"/>
              </a:rPr>
              <a:t>A z-score measures how many standard deviations a value sits from the mean.</a:t>
            </a:r>
          </a:p>
          <a:p>
            <a:pPr algn="l">
              <a:lnSpc>
                <a:spcPct val="100000"/>
              </a:lnSpc>
            </a:pPr>
            <a:r>
              <a:rPr sz="1400" b="0" i="0">
                <a:solidFill>
                  <a:srgbClr val="4B5563"/>
                </a:solidFill>
                <a:latin typeface="Calibri"/>
              </a:rPr>
              <a:t/>
            </a:r>
          </a:p>
          <a:p>
            <a:pPr algn="l">
              <a:lnSpc>
                <a:spcPct val="100000"/>
              </a:lnSpc>
            </a:pPr>
            <a:r>
              <a:rPr sz="1400" b="0" i="0">
                <a:solidFill>
                  <a:srgbClr val="4B5563"/>
                </a:solidFill>
                <a:latin typeface="Calibri"/>
              </a:rPr>
              <a:t>z ≈ 7 means this transaction is about 7 standard deviations above what's typical — extremely rare if this customer's spending followed a normal pattern.</a:t>
            </a:r>
          </a:p>
        </p:txBody>
      </p:sp>
      <p:sp>
        <p:nvSpPr>
          <p:cNvPr id="11" name="TextBox 10"/>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2" name="TextBox 11"/>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HOW DETECTION WORKS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Distance-Based Approach</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If an observation is far away from most other observations, it may be unusual.</a:t>
            </a:r>
          </a:p>
          <a:p>
            <a:pPr>
              <a:lnSpc>
                <a:spcPct val="112000"/>
              </a:lnSpc>
              <a:spcAft>
                <a:spcPts val="1000"/>
              </a:spcAft>
            </a:pPr>
            <a:r>
              <a:rPr sz="1650" b="0" i="0">
                <a:solidFill>
                  <a:srgbClr val="4B5563"/>
                </a:solidFill>
                <a:latin typeface="Calibri"/>
              </a:rPr>
              <a:t>•  We measure “far” using distance across all the features together (like we do in K-Means).</a:t>
            </a:r>
          </a:p>
          <a:p>
            <a:pPr>
              <a:lnSpc>
                <a:spcPct val="112000"/>
              </a:lnSpc>
              <a:spcAft>
                <a:spcPts val="1000"/>
              </a:spcAft>
            </a:pPr>
            <a:r>
              <a:rPr sz="1650" b="0" i="0">
                <a:solidFill>
                  <a:srgbClr val="4B5563"/>
                </a:solidFill>
                <a:latin typeface="Calibri"/>
              </a:rPr>
              <a:t>•  Simple and intuitive — but can struggle when data has many features, or clusters of very different sizes.</a:t>
            </a:r>
          </a:p>
        </p:txBody>
      </p:sp>
      <p:pic>
        <p:nvPicPr>
          <p:cNvPr id="8" name="Picture 7" descr="03_distance_based.png"/>
          <p:cNvPicPr>
            <a:picLocks noChangeAspect="1"/>
          </p:cNvPicPr>
          <p:nvPr/>
        </p:nvPicPr>
        <p:blipFill>
          <a:blip r:embed="rId2"/>
          <a:stretch>
            <a:fillRect/>
          </a:stretch>
        </p:blipFill>
        <p:spPr>
          <a:xfrm>
            <a:off x="6035040" y="1691640"/>
            <a:ext cx="5349240" cy="4092276"/>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3 · HOW DETECTION WORKS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Density-Based Approach</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If most observations are packed together and one sits in a very sparse region, it may be an anomaly.</a:t>
            </a:r>
          </a:p>
          <a:p>
            <a:pPr>
              <a:lnSpc>
                <a:spcPct val="112000"/>
              </a:lnSpc>
              <a:spcAft>
                <a:spcPts val="1000"/>
              </a:spcAft>
            </a:pPr>
            <a:r>
              <a:rPr sz="1650" b="0" i="0">
                <a:solidFill>
                  <a:srgbClr val="4B5563"/>
                </a:solidFill>
                <a:latin typeface="Calibri"/>
              </a:rPr>
              <a:t>•  This adapts well when different groups naturally have different densities.</a:t>
            </a:r>
          </a:p>
          <a:p>
            <a:pPr>
              <a:lnSpc>
                <a:spcPct val="112000"/>
              </a:lnSpc>
              <a:spcAft>
                <a:spcPts val="1000"/>
              </a:spcAft>
            </a:pPr>
            <a:r>
              <a:rPr sz="1650" b="0" i="0">
                <a:solidFill>
                  <a:srgbClr val="4B5563"/>
                </a:solidFill>
                <a:latin typeface="Calibri"/>
              </a:rPr>
              <a:t>•  Local Outlier Factor (LOF) is the classic algorithm built on this idea — we'll return to it in Section 5.</a:t>
            </a:r>
          </a:p>
        </p:txBody>
      </p:sp>
      <p:pic>
        <p:nvPicPr>
          <p:cNvPr id="8" name="Picture 7" descr="04_density_based.png"/>
          <p:cNvPicPr>
            <a:picLocks noChangeAspect="1"/>
          </p:cNvPicPr>
          <p:nvPr/>
        </p:nvPicPr>
        <p:blipFill>
          <a:blip r:embed="rId2"/>
          <a:stretch>
            <a:fillRect/>
          </a:stretch>
        </p:blipFill>
        <p:spPr>
          <a:xfrm>
            <a:off x="6035040" y="1691640"/>
            <a:ext cx="5349240" cy="4089545"/>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Meet Isolation Forest</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828800"/>
            <a:ext cx="10771632" cy="1188720"/>
          </a:xfrm>
          <a:prstGeom prst="rect">
            <a:avLst/>
          </a:prstGeom>
          <a:noFill/>
        </p:spPr>
        <p:txBody>
          <a:bodyPr wrap="square" anchor="t" lIns="0" rIns="0" tIns="0" bIns="0">
            <a:spAutoFit/>
          </a:bodyPr>
          <a:lstStyle/>
          <a:p>
            <a:pPr algn="l">
              <a:lnSpc>
                <a:spcPct val="100000"/>
              </a:lnSpc>
            </a:pPr>
            <a:r>
              <a:rPr sz="2600" b="1" i="0">
                <a:solidFill>
                  <a:srgbClr val="1F2937"/>
                </a:solidFill>
                <a:latin typeface="Calibri"/>
              </a:rPr>
              <a:t>“Anomalies are easier to isolate than</a:t>
            </a:r>
          </a:p>
          <a:p>
            <a:pPr algn="l">
              <a:lnSpc>
                <a:spcPct val="100000"/>
              </a:lnSpc>
            </a:pPr>
            <a:r>
              <a:rPr sz="2600" b="1" i="0">
                <a:solidFill>
                  <a:srgbClr val="1F2937"/>
                </a:solidFill>
                <a:latin typeface="Calibri"/>
              </a:rPr>
              <a:t>normal observations.”</a:t>
            </a:r>
          </a:p>
        </p:txBody>
      </p:sp>
      <p:sp>
        <p:nvSpPr>
          <p:cNvPr id="8" name="TextBox 7"/>
          <p:cNvSpPr txBox="1"/>
          <p:nvPr/>
        </p:nvSpPr>
        <p:spPr>
          <a:xfrm>
            <a:off x="713232" y="3383280"/>
            <a:ext cx="10771632" cy="210312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Practical — fast, even on large datasets.</a:t>
            </a:r>
          </a:p>
          <a:p>
            <a:pPr>
              <a:lnSpc>
                <a:spcPct val="112000"/>
              </a:lnSpc>
              <a:spcAft>
                <a:spcPts val="1000"/>
              </a:spcAft>
            </a:pPr>
            <a:r>
              <a:rPr sz="1650" b="0" i="0">
                <a:solidFill>
                  <a:srgbClr val="4B5563"/>
                </a:solidFill>
                <a:latin typeface="Calibri"/>
              </a:rPr>
              <a:t>•  Widely used in real fraud and intrusion detection systems.</a:t>
            </a:r>
          </a:p>
          <a:p>
            <a:pPr>
              <a:lnSpc>
                <a:spcPct val="112000"/>
              </a:lnSpc>
              <a:spcAft>
                <a:spcPts val="1000"/>
              </a:spcAft>
            </a:pPr>
            <a:r>
              <a:rPr sz="1650" b="0" i="0">
                <a:solidFill>
                  <a:srgbClr val="4B5563"/>
                </a:solidFill>
                <a:latin typeface="Calibri"/>
              </a:rPr>
              <a:t>•  Available directly in scikit-learn.</a:t>
            </a:r>
          </a:p>
          <a:p>
            <a:pPr>
              <a:lnSpc>
                <a:spcPct val="112000"/>
              </a:lnSpc>
              <a:spcAft>
                <a:spcPts val="1000"/>
              </a:spcAft>
            </a:pPr>
            <a:r>
              <a:rPr sz="1650" b="0" i="0">
                <a:solidFill>
                  <a:srgbClr val="4B5563"/>
                </a:solidFill>
                <a:latin typeface="Calibri"/>
              </a:rPr>
              <a:t>•  Intuitive enough to explain without heavy mathematics.</a:t>
            </a:r>
          </a:p>
          <a:p>
            <a:pPr>
              <a:lnSpc>
                <a:spcPct val="112000"/>
              </a:lnSpc>
              <a:spcAft>
                <a:spcPts val="1000"/>
              </a:spcAft>
            </a:pPr>
            <a:r>
              <a:rPr sz="1650" b="0" i="0">
                <a:solidFill>
                  <a:srgbClr val="4B5563"/>
                </a:solidFill>
                <a:latin typeface="Calibri"/>
              </a:rPr>
              <a:t>•  This is the MAIN algorithm for today's hands-on session.</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Does “Isolation” Mean?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19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Keep drawing random lines that split the data in half. Watch how quickly the red point gets cut off from everyone else.</a:t>
            </a:r>
          </a:p>
        </p:txBody>
      </p:sp>
      <p:pic>
        <p:nvPicPr>
          <p:cNvPr id="8" name="Picture 7" descr="05_isolation_outlier.png"/>
          <p:cNvPicPr>
            <a:picLocks noChangeAspect="1"/>
          </p:cNvPicPr>
          <p:nvPr/>
        </p:nvPicPr>
        <p:blipFill>
          <a:blip r:embed="rId2"/>
          <a:stretch>
            <a:fillRect/>
          </a:stretch>
        </p:blipFill>
        <p:spPr>
          <a:xfrm>
            <a:off x="792327" y="2286000"/>
            <a:ext cx="10607040" cy="3444520"/>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Normal Point vs.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Now watch a NORMAL point (the teal circle, buried inside the crowd) go through the same process.</a:t>
            </a:r>
          </a:p>
        </p:txBody>
      </p:sp>
      <p:pic>
        <p:nvPicPr>
          <p:cNvPr id="8" name="Picture 7" descr="06_isolation_normal.png"/>
          <p:cNvPicPr>
            <a:picLocks noChangeAspect="1"/>
          </p:cNvPicPr>
          <p:nvPr/>
        </p:nvPicPr>
        <p:blipFill>
          <a:blip r:embed="rId2"/>
          <a:stretch>
            <a:fillRect/>
          </a:stretch>
        </p:blipFill>
        <p:spPr>
          <a:xfrm>
            <a:off x="792327" y="2286000"/>
            <a:ext cx="10607040" cy="3444520"/>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How Isolation Forest Works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69767" y="1417320"/>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1. Randomly select a feature</a:t>
            </a:r>
          </a:p>
        </p:txBody>
      </p:sp>
      <p:cxnSp>
        <p:nvCxnSpPr>
          <p:cNvPr id="8" name="Connector 7"/>
          <p:cNvCxnSpPr/>
          <p:nvPr/>
        </p:nvCxnSpPr>
        <p:spPr>
          <a:xfrm>
            <a:off x="6095847" y="1954784"/>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169767" y="2112264"/>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2. Randomly select a split point</a:t>
            </a:r>
          </a:p>
        </p:txBody>
      </p:sp>
      <p:cxnSp>
        <p:nvCxnSpPr>
          <p:cNvPr id="10" name="Connector 9"/>
          <p:cNvCxnSpPr/>
          <p:nvPr/>
        </p:nvCxnSpPr>
        <p:spPr>
          <a:xfrm>
            <a:off x="6095847" y="2649728"/>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69767" y="2807208"/>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3. Split the data</a:t>
            </a:r>
          </a:p>
        </p:txBody>
      </p:sp>
      <p:cxnSp>
        <p:nvCxnSpPr>
          <p:cNvPr id="12" name="Connector 11"/>
          <p:cNvCxnSpPr/>
          <p:nvPr/>
        </p:nvCxnSpPr>
        <p:spPr>
          <a:xfrm>
            <a:off x="6095847" y="3344672"/>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169767" y="3502152"/>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4. Continue splitting</a:t>
            </a:r>
          </a:p>
        </p:txBody>
      </p:sp>
      <p:cxnSp>
        <p:nvCxnSpPr>
          <p:cNvPr id="14" name="Connector 13"/>
          <p:cNvCxnSpPr/>
          <p:nvPr/>
        </p:nvCxnSpPr>
        <p:spPr>
          <a:xfrm>
            <a:off x="6095847" y="4039616"/>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169767" y="4197096"/>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5. Observe how quickly each point becomes isolated</a:t>
            </a:r>
          </a:p>
        </p:txBody>
      </p:sp>
      <p:cxnSp>
        <p:nvCxnSpPr>
          <p:cNvPr id="16" name="Connector 15"/>
          <p:cNvCxnSpPr/>
          <p:nvPr/>
        </p:nvCxnSpPr>
        <p:spPr>
          <a:xfrm>
            <a:off x="6095847" y="473456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169767" y="4892040"/>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6. Repeat many times (many trees)</a:t>
            </a:r>
          </a:p>
        </p:txBody>
      </p:sp>
      <p:cxnSp>
        <p:nvCxnSpPr>
          <p:cNvPr id="18" name="Connector 17"/>
          <p:cNvCxnSpPr/>
          <p:nvPr/>
        </p:nvCxnSpPr>
        <p:spPr>
          <a:xfrm>
            <a:off x="6095847" y="5429504"/>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169767" y="5586984"/>
            <a:ext cx="585216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7. Calculate anomaly scores</a:t>
            </a:r>
          </a:p>
        </p:txBody>
      </p:sp>
      <p:sp>
        <p:nvSpPr>
          <p:cNvPr id="20" name="TextBox 1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21" name="TextBox 2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Why Use Many Trees?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37360"/>
            <a:ext cx="10771632" cy="82296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“One random tree may give a poor decision.</a:t>
            </a:r>
          </a:p>
          <a:p>
            <a:pPr algn="l">
              <a:lnSpc>
                <a:spcPct val="100000"/>
              </a:lnSpc>
            </a:pPr>
            <a:r>
              <a:rPr sz="2000" b="1" i="0">
                <a:solidFill>
                  <a:srgbClr val="1F2937"/>
                </a:solidFill>
                <a:latin typeface="Calibri"/>
              </a:rPr>
              <a:t>Many trees give us a more reliable picture.”</a:t>
            </a:r>
          </a:p>
        </p:txBody>
      </p:sp>
      <p:sp>
        <p:nvSpPr>
          <p:cNvPr id="8" name="TextBox 7"/>
          <p:cNvSpPr txBox="1"/>
          <p:nvPr/>
        </p:nvSpPr>
        <p:spPr>
          <a:xfrm>
            <a:off x="713232" y="3017520"/>
            <a:ext cx="10771632" cy="201168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Isolation Forest builds many independent random trees (an ENSEMBLE).</a:t>
            </a:r>
          </a:p>
          <a:p>
            <a:pPr>
              <a:lnSpc>
                <a:spcPct val="112000"/>
              </a:lnSpc>
              <a:spcAft>
                <a:spcPts val="1000"/>
              </a:spcAft>
            </a:pPr>
            <a:r>
              <a:rPr sz="1650" b="0" i="0">
                <a:solidFill>
                  <a:srgbClr val="4B5563"/>
                </a:solidFill>
                <a:latin typeface="Calibri"/>
              </a:rPr>
              <a:t>•  Each tree gives its own opinion about how easily a point isolates.</a:t>
            </a:r>
          </a:p>
          <a:p>
            <a:pPr>
              <a:lnSpc>
                <a:spcPct val="112000"/>
              </a:lnSpc>
              <a:spcAft>
                <a:spcPts val="1000"/>
              </a:spcAft>
            </a:pPr>
            <a:r>
              <a:rPr sz="1650" b="0" i="0">
                <a:solidFill>
                  <a:srgbClr val="4B5563"/>
                </a:solidFill>
                <a:latin typeface="Calibri"/>
              </a:rPr>
              <a:t>•  The final anomaly score AVERAGES this across all the trees.</a:t>
            </a:r>
          </a:p>
          <a:p>
            <a:pPr>
              <a:lnSpc>
                <a:spcPct val="112000"/>
              </a:lnSpc>
              <a:spcAft>
                <a:spcPts val="1000"/>
              </a:spcAft>
            </a:pPr>
            <a:r>
              <a:rPr sz="1650" b="0" i="0">
                <a:solidFill>
                  <a:srgbClr val="4B5563"/>
                </a:solidFill>
                <a:latin typeface="Calibri"/>
              </a:rPr>
              <a:t>•  This averaging smooths out the luck of any single random tree's split choices.</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Important Parameters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417320"/>
            <a:ext cx="10771632" cy="192024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27000" bIns="127000"/>
          <a:lstStyle/>
          <a:p>
            <a:pPr algn="ctr">
              <a:lnSpc>
                <a:spcPct val="125000"/>
              </a:lnSpc>
            </a:pPr>
            <a:r>
              <a:rPr sz="1450" b="0" i="0">
                <a:solidFill>
                  <a:srgbClr val="E5E7EB"/>
                </a:solidFill>
                <a:latin typeface="Consolas"/>
              </a:rPr>
              <a:t>from sklearn.ensemble import IsolationForest</a:t>
            </a:r>
          </a:p>
          <a:p>
            <a:pPr>
              <a:lnSpc>
                <a:spcPct val="125000"/>
              </a:lnSpc>
            </a:pPr>
            <a:r>
              <a:rPr sz="1450" b="0" i="0">
                <a:solidFill>
                  <a:srgbClr val="E5E7EB"/>
                </a:solidFill>
                <a:latin typeface="Consolas"/>
              </a:rPr>
              <a:t> </a:t>
            </a:r>
          </a:p>
          <a:p>
            <a:pPr>
              <a:lnSpc>
                <a:spcPct val="125000"/>
              </a:lnSpc>
            </a:pPr>
            <a:r>
              <a:rPr sz="1450" b="0" i="0">
                <a:solidFill>
                  <a:srgbClr val="E5E7EB"/>
                </a:solidFill>
                <a:latin typeface="Consolas"/>
              </a:rPr>
              <a:t>model = IsolationForest(</a:t>
            </a:r>
          </a:p>
          <a:p>
            <a:pPr>
              <a:lnSpc>
                <a:spcPct val="125000"/>
              </a:lnSpc>
            </a:pPr>
            <a:r>
              <a:rPr sz="1450" b="0" i="0">
                <a:solidFill>
                  <a:srgbClr val="E5E7EB"/>
                </a:solidFill>
                <a:latin typeface="Consolas"/>
              </a:rPr>
              <a:t>    n_estimators=100,</a:t>
            </a:r>
          </a:p>
          <a:p>
            <a:pPr>
              <a:lnSpc>
                <a:spcPct val="125000"/>
              </a:lnSpc>
            </a:pPr>
            <a:r>
              <a:rPr sz="1450" b="0" i="0">
                <a:solidFill>
                  <a:srgbClr val="E5E7EB"/>
                </a:solidFill>
                <a:latin typeface="Consolas"/>
              </a:rPr>
              <a:t>    contamination="auto",</a:t>
            </a:r>
          </a:p>
          <a:p>
            <a:pPr>
              <a:lnSpc>
                <a:spcPct val="125000"/>
              </a:lnSpc>
            </a:pPr>
            <a:r>
              <a:rPr sz="1450" b="0" i="0">
                <a:solidFill>
                  <a:srgbClr val="E5E7EB"/>
                </a:solidFill>
                <a:latin typeface="Consolas"/>
              </a:rPr>
              <a:t>    random_state=42</a:t>
            </a:r>
          </a:p>
          <a:p>
            <a:pPr>
              <a:lnSpc>
                <a:spcPct val="125000"/>
              </a:lnSpc>
            </a:pPr>
            <a:r>
              <a:rPr sz="1450" b="0" i="0">
                <a:solidFill>
                  <a:srgbClr val="E5E7EB"/>
                </a:solidFill>
                <a:latin typeface="Consolas"/>
              </a:rPr>
              <a:t>)</a:t>
            </a:r>
          </a:p>
        </p:txBody>
      </p:sp>
      <p:sp>
        <p:nvSpPr>
          <p:cNvPr id="8" name="TextBox 7"/>
          <p:cNvSpPr txBox="1"/>
          <p:nvPr/>
        </p:nvSpPr>
        <p:spPr>
          <a:xfrm>
            <a:off x="713232" y="3611880"/>
            <a:ext cx="10771632" cy="2697480"/>
          </a:xfrm>
          <a:prstGeom prst="rect">
            <a:avLst/>
          </a:prstGeom>
          <a:noFill/>
        </p:spPr>
        <p:txBody>
          <a:bodyPr wrap="square" anchor="t" lIns="0" rIns="0" tIns="0" bIns="0">
            <a:spAutoFit/>
          </a:bodyPr>
          <a:lstStyle/>
          <a:p>
            <a:pPr>
              <a:lnSpc>
                <a:spcPct val="112000"/>
              </a:lnSpc>
              <a:spcAft>
                <a:spcPts val="1000"/>
              </a:spcAft>
            </a:pPr>
            <a:r>
              <a:rPr sz="1550" b="0" i="0">
                <a:solidFill>
                  <a:srgbClr val="4B5563"/>
                </a:solidFill>
                <a:latin typeface="Calibri"/>
              </a:rPr>
              <a:t>•  n_estimators — how many random trees to build (100 is a solid beginner default).</a:t>
            </a:r>
          </a:p>
          <a:p>
            <a:pPr>
              <a:lnSpc>
                <a:spcPct val="112000"/>
              </a:lnSpc>
              <a:spcAft>
                <a:spcPts val="1000"/>
              </a:spcAft>
            </a:pPr>
            <a:r>
              <a:rPr sz="1550" b="0" i="0">
                <a:solidFill>
                  <a:srgbClr val="4B5563"/>
                </a:solidFill>
                <a:latin typeface="Calibri"/>
              </a:rPr>
              <a:t>•  contamination — our estimate of what fraction of the data is anomalous.</a:t>
            </a:r>
          </a:p>
          <a:p>
            <a:pPr>
              <a:lnSpc>
                <a:spcPct val="112000"/>
              </a:lnSpc>
              <a:spcAft>
                <a:spcPts val="1000"/>
              </a:spcAft>
            </a:pPr>
            <a:r>
              <a:rPr sz="1550" b="0" i="0">
                <a:solidFill>
                  <a:srgbClr val="4B5563"/>
                </a:solidFill>
                <a:latin typeface="Calibri"/>
              </a:rPr>
              <a:t>•  random_state — makes the result reproducible.</a:t>
            </a:r>
          </a:p>
          <a:p>
            <a:pPr>
              <a:lnSpc>
                <a:spcPct val="112000"/>
              </a:lnSpc>
              <a:spcAft>
                <a:spcPts val="1000"/>
              </a:spcAft>
            </a:pPr>
            <a:r>
              <a:rPr sz="1550" b="0" i="0">
                <a:solidFill>
                  <a:srgbClr val="4B5563"/>
                </a:solidFill>
                <a:latin typeface="Calibri"/>
              </a:rPr>
              <a:t>•  We're deliberately NOT covering every available parameter — these three are enough to get a working model.</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What Is Contamination?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91640"/>
            <a:ext cx="10771632" cy="822960"/>
          </a:xfrm>
          <a:prstGeom prst="rect">
            <a:avLst/>
          </a:prstGeom>
          <a:noFill/>
        </p:spPr>
        <p:txBody>
          <a:bodyPr wrap="square" anchor="t" lIns="0" rIns="0" tIns="0" bIns="0">
            <a:spAutoFit/>
          </a:bodyPr>
          <a:lstStyle/>
          <a:p>
            <a:pPr algn="l">
              <a:lnSpc>
                <a:spcPct val="100000"/>
              </a:lnSpc>
            </a:pPr>
            <a:r>
              <a:rPr sz="2000" b="1" i="0">
                <a:solidFill>
                  <a:srgbClr val="1F2937"/>
                </a:solidFill>
                <a:latin typeface="Calibri"/>
              </a:rPr>
              <a:t>“Contamination is an estimate of how much of the data</a:t>
            </a:r>
          </a:p>
          <a:p>
            <a:pPr algn="l">
              <a:lnSpc>
                <a:spcPct val="100000"/>
              </a:lnSpc>
            </a:pPr>
            <a:r>
              <a:rPr sz="2000" b="1" i="0">
                <a:solidFill>
                  <a:srgbClr val="1F2937"/>
                </a:solidFill>
                <a:latin typeface="Calibri"/>
              </a:rPr>
              <a:t>may be anomalous.”</a:t>
            </a:r>
          </a:p>
        </p:txBody>
      </p:sp>
      <p:sp>
        <p:nvSpPr>
          <p:cNvPr id="8" name="TextBox 7"/>
          <p:cNvSpPr txBox="1"/>
          <p:nvPr/>
        </p:nvSpPr>
        <p:spPr>
          <a:xfrm>
            <a:off x="713232" y="3063240"/>
            <a:ext cx="10771632" cy="155448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If we set contamination=0.03, we're telling the model: “I expect roughly 3% of transactions to be unusual.”</a:t>
            </a:r>
          </a:p>
          <a:p>
            <a:pPr>
              <a:lnSpc>
                <a:spcPct val="112000"/>
              </a:lnSpc>
              <a:spcAft>
                <a:spcPts val="1000"/>
              </a:spcAft>
            </a:pPr>
            <a:r>
              <a:rPr sz="1650" b="0" i="0">
                <a:solidFill>
                  <a:srgbClr val="4B5563"/>
                </a:solidFill>
                <a:latin typeface="Calibri"/>
              </a:rPr>
              <a:t>•  This directly controls HOW MANY points get flagged — it's essentially a threshold in disguise.</a:t>
            </a:r>
          </a:p>
          <a:p>
            <a:pPr>
              <a:lnSpc>
                <a:spcPct val="112000"/>
              </a:lnSpc>
              <a:spcAft>
                <a:spcPts val="1000"/>
              </a:spcAft>
            </a:pPr>
            <a:r>
              <a:rPr sz="1650" b="0" i="0">
                <a:solidFill>
                  <a:srgbClr val="4B5563"/>
                </a:solidFill>
                <a:latin typeface="Calibri"/>
              </a:rPr>
              <a:t>•  "auto" uses a default from the original research paper — a reasonable starting point, not a guarantee.</a:t>
            </a:r>
          </a:p>
        </p:txBody>
      </p:sp>
      <p:sp>
        <p:nvSpPr>
          <p:cNvPr id="9" name="Rounded Rectangle 8"/>
          <p:cNvSpPr/>
          <p:nvPr/>
        </p:nvSpPr>
        <p:spPr>
          <a:xfrm>
            <a:off x="2377440" y="5074920"/>
            <a:ext cx="7406640" cy="594360"/>
          </a:xfrm>
          <a:prstGeom prst="roundRect">
            <a:avLst>
              <a:gd name="adj" fmla="val 50000"/>
            </a:avLst>
          </a:prstGeom>
          <a:solidFill>
            <a:srgbClr val="FDE9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D97706"/>
                </a:solidFill>
                <a:latin typeface="Calibri"/>
              </a:rPr>
              <a:t>We'll experiment with different contamination values in Hour 2</a:t>
            </a:r>
          </a:p>
        </p:txBody>
      </p:sp>
      <p:sp>
        <p:nvSpPr>
          <p:cNvPr id="10" name="TextBox 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1" name="TextBox 1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Anomaly Score</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25</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5074920" cy="489204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Every transaction gets a continuous anomaly score, not just a yes/no flag.</a:t>
            </a:r>
          </a:p>
          <a:p>
            <a:pPr>
              <a:lnSpc>
                <a:spcPct val="112000"/>
              </a:lnSpc>
              <a:spcAft>
                <a:spcPts val="1000"/>
              </a:spcAft>
            </a:pPr>
            <a:r>
              <a:rPr sz="1650" b="0" i="0">
                <a:solidFill>
                  <a:srgbClr val="4B5563"/>
                </a:solidFill>
                <a:latin typeface="Calibri"/>
              </a:rPr>
              <a:t>•  In scikit-learn's Isolation Forest, LOWER scores mean MORE unusual.</a:t>
            </a:r>
          </a:p>
          <a:p>
            <a:pPr>
              <a:lnSpc>
                <a:spcPct val="112000"/>
              </a:lnSpc>
              <a:spcAft>
                <a:spcPts val="1000"/>
              </a:spcAft>
            </a:pPr>
            <a:r>
              <a:rPr sz="1650" b="0" i="0">
                <a:solidFill>
                  <a:srgbClr val="4B5563"/>
                </a:solidFill>
                <a:latin typeface="Calibri"/>
              </a:rPr>
              <a:t>•  This lets us rank transactions by how unusual they are — not just sort them into two bins.</a:t>
            </a:r>
          </a:p>
          <a:p>
            <a:pPr>
              <a:lnSpc>
                <a:spcPct val="112000"/>
              </a:lnSpc>
              <a:spcAft>
                <a:spcPts val="1000"/>
              </a:spcAft>
            </a:pPr>
            <a:r>
              <a:rPr sz="1650" b="0" i="0">
                <a:solidFill>
                  <a:srgbClr val="4B5563"/>
                </a:solidFill>
                <a:latin typeface="Calibri"/>
              </a:rPr>
              <a:t>•  Notice how cleanly the two distributions separate in our own dataset.</a:t>
            </a:r>
          </a:p>
        </p:txBody>
      </p:sp>
      <p:pic>
        <p:nvPicPr>
          <p:cNvPr id="8" name="Picture 7" descr="07_anomaly_score_distribution.png"/>
          <p:cNvPicPr>
            <a:picLocks noChangeAspect="1"/>
          </p:cNvPicPr>
          <p:nvPr/>
        </p:nvPicPr>
        <p:blipFill>
          <a:blip r:embed="rId2"/>
          <a:stretch>
            <a:fillRect/>
          </a:stretch>
        </p:blipFill>
        <p:spPr>
          <a:xfrm>
            <a:off x="6035040" y="1691640"/>
            <a:ext cx="5349240" cy="2919022"/>
          </a:xfrm>
          <a:prstGeom prst="rect">
            <a:avLst/>
          </a:prstGeom>
          <a:ln w="12700">
            <a:solidFill>
              <a:srgbClr val="E5E7EB"/>
            </a:solidFill>
          </a:ln>
        </p:spPr>
      </p:pic>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Prediction: Normal or Anomaly?</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26</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417320"/>
            <a:ext cx="10771632" cy="128016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27000" bIns="127000"/>
          <a:lstStyle/>
          <a:p>
            <a:pPr algn="ctr">
              <a:lnSpc>
                <a:spcPct val="125000"/>
              </a:lnSpc>
            </a:pPr>
            <a:r>
              <a:rPr sz="1450" b="0" i="0">
                <a:solidFill>
                  <a:srgbClr val="E5E7EB"/>
                </a:solidFill>
                <a:latin typeface="Consolas"/>
              </a:rPr>
              <a:t>&gt;&gt;&gt; model.predict(X)</a:t>
            </a:r>
          </a:p>
          <a:p>
            <a:pPr>
              <a:lnSpc>
                <a:spcPct val="125000"/>
              </a:lnSpc>
            </a:pPr>
            <a:r>
              <a:rPr sz="1450" b="0" i="0">
                <a:solidFill>
                  <a:srgbClr val="E5E7EB"/>
                </a:solidFill>
                <a:latin typeface="Consolas"/>
              </a:rPr>
              <a:t>array([ 1,  1,  1, -1,  1, -1, ...])</a:t>
            </a:r>
          </a:p>
        </p:txBody>
      </p:sp>
      <p:sp>
        <p:nvSpPr>
          <p:cNvPr id="8" name="TextBox 7"/>
          <p:cNvSpPr txBox="1"/>
          <p:nvPr/>
        </p:nvSpPr>
        <p:spPr>
          <a:xfrm>
            <a:off x="713232" y="2971800"/>
            <a:ext cx="10771632" cy="3337560"/>
          </a:xfrm>
          <a:prstGeom prst="rect">
            <a:avLst/>
          </a:prstGeom>
          <a:noFill/>
        </p:spPr>
        <p:txBody>
          <a:bodyPr wrap="square" anchor="t" lIns="0" rIns="0" tIns="0" bIns="0">
            <a:spAutoFit/>
          </a:bodyPr>
          <a:lstStyle/>
          <a:p>
            <a:pPr>
              <a:lnSpc>
                <a:spcPct val="112000"/>
              </a:lnSpc>
              <a:spcAft>
                <a:spcPts val="1000"/>
              </a:spcAft>
            </a:pPr>
            <a:r>
              <a:rPr sz="1550" b="0" i="0">
                <a:solidFill>
                  <a:srgbClr val="4B5563"/>
                </a:solidFill>
                <a:latin typeface="Calibri"/>
              </a:rPr>
              <a:t>•  1  →  normal observation (an “inlier”).</a:t>
            </a:r>
          </a:p>
          <a:p>
            <a:pPr>
              <a:lnSpc>
                <a:spcPct val="112000"/>
              </a:lnSpc>
              <a:spcAft>
                <a:spcPts val="1000"/>
              </a:spcAft>
            </a:pPr>
            <a:r>
              <a:rPr sz="1550" b="0" i="0">
                <a:solidFill>
                  <a:srgbClr val="4B5563"/>
                </a:solidFill>
                <a:latin typeface="Calibri"/>
              </a:rPr>
              <a:t>•  -1  →  anomaly (an “outlier”).</a:t>
            </a:r>
          </a:p>
          <a:p>
            <a:pPr>
              <a:lnSpc>
                <a:spcPct val="112000"/>
              </a:lnSpc>
              <a:spcAft>
                <a:spcPts val="1000"/>
              </a:spcAft>
            </a:pPr>
            <a:r>
              <a:rPr sz="1550" b="0" i="0">
                <a:solidFill>
                  <a:srgbClr val="4B5563"/>
                </a:solidFill>
                <a:latin typeface="Calibri"/>
              </a:rPr>
              <a:t>•  predict() converts the continuous anomaly score into this simple yes/no flag, using the contamination setting as the cutoff.</a:t>
            </a:r>
          </a:p>
          <a:p>
            <a:pPr>
              <a:lnSpc>
                <a:spcPct val="112000"/>
              </a:lnSpc>
              <a:spcAft>
                <a:spcPts val="1000"/>
              </a:spcAft>
            </a:pPr>
            <a:r>
              <a:rPr sz="1550" b="0" i="0">
                <a:solidFill>
                  <a:srgbClr val="4B5563"/>
                </a:solidFill>
                <a:latin typeface="Calibri"/>
              </a:rPr>
              <a:t>•  Verified against the current scikit-learn documentation.</a:t>
            </a:r>
          </a:p>
        </p:txBody>
      </p:sp>
      <p:sp>
        <p:nvSpPr>
          <p:cNvPr id="9" name="TextBox 8"/>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0" name="TextBox 9"/>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4 · ISOLATION FOREST</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From Model Output to Business Action</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27</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783080"/>
            <a:ext cx="1898294" cy="868680"/>
          </a:xfrm>
          <a:prstGeom prst="roundRect">
            <a:avLst>
              <a:gd name="adj" fmla="val 16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Transaction</a:t>
            </a:r>
          </a:p>
        </p:txBody>
      </p:sp>
      <p:cxnSp>
        <p:nvCxnSpPr>
          <p:cNvPr id="8" name="Connector 7"/>
          <p:cNvCxnSpPr/>
          <p:nvPr/>
        </p:nvCxnSpPr>
        <p:spPr>
          <a:xfrm>
            <a:off x="2636926" y="221742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31566" y="1783080"/>
            <a:ext cx="1898294" cy="86868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Model</a:t>
            </a:r>
          </a:p>
        </p:txBody>
      </p:sp>
      <p:cxnSp>
        <p:nvCxnSpPr>
          <p:cNvPr id="10" name="Connector 9"/>
          <p:cNvCxnSpPr/>
          <p:nvPr/>
        </p:nvCxnSpPr>
        <p:spPr>
          <a:xfrm>
            <a:off x="4855260" y="221742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49900" y="1783080"/>
            <a:ext cx="1898294" cy="868680"/>
          </a:xfrm>
          <a:prstGeom prst="roundRect">
            <a:avLst>
              <a:gd name="adj" fmla="val 16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Anomaly</a:t>
            </a:r>
          </a:p>
        </p:txBody>
      </p:sp>
      <p:cxnSp>
        <p:nvCxnSpPr>
          <p:cNvPr id="12" name="Connector 11"/>
          <p:cNvCxnSpPr/>
          <p:nvPr/>
        </p:nvCxnSpPr>
        <p:spPr>
          <a:xfrm>
            <a:off x="7073594" y="221742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68234" y="1783080"/>
            <a:ext cx="1898294" cy="86868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Investigation</a:t>
            </a:r>
          </a:p>
        </p:txBody>
      </p:sp>
      <p:cxnSp>
        <p:nvCxnSpPr>
          <p:cNvPr id="14" name="Connector 13"/>
          <p:cNvCxnSpPr/>
          <p:nvPr/>
        </p:nvCxnSpPr>
        <p:spPr>
          <a:xfrm>
            <a:off x="9291928" y="221742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86568" y="1783080"/>
            <a:ext cx="1898294" cy="868680"/>
          </a:xfrm>
          <a:prstGeom prst="roundRect">
            <a:avLst>
              <a:gd name="adj" fmla="val 16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Human Decision</a:t>
            </a:r>
          </a:p>
        </p:txBody>
      </p:sp>
      <p:sp>
        <p:nvSpPr>
          <p:cNvPr id="16" name="TextBox 15"/>
          <p:cNvSpPr txBox="1"/>
          <p:nvPr/>
        </p:nvSpPr>
        <p:spPr>
          <a:xfrm>
            <a:off x="713232" y="3063240"/>
            <a:ext cx="10771632" cy="548640"/>
          </a:xfrm>
          <a:prstGeom prst="rect">
            <a:avLst/>
          </a:prstGeom>
          <a:noFill/>
        </p:spPr>
        <p:txBody>
          <a:bodyPr wrap="square" anchor="t" lIns="0" rIns="0" tIns="0" bIns="0">
            <a:spAutoFit/>
          </a:bodyPr>
          <a:lstStyle/>
          <a:p>
            <a:pPr algn="l">
              <a:lnSpc>
                <a:spcPct val="100000"/>
              </a:lnSpc>
            </a:pPr>
            <a:r>
              <a:rPr sz="2000" b="1" i="1">
                <a:solidFill>
                  <a:srgbClr val="DC2626"/>
                </a:solidFill>
                <a:latin typeface="Calibri"/>
              </a:rPr>
              <a:t>An anomaly does NOT automatically mean fraud.</a:t>
            </a:r>
          </a:p>
        </p:txBody>
      </p:sp>
      <p:sp>
        <p:nvSpPr>
          <p:cNvPr id="17" name="TextBox 16"/>
          <p:cNvSpPr txBox="1"/>
          <p:nvPr/>
        </p:nvSpPr>
        <p:spPr>
          <a:xfrm>
            <a:off x="713232" y="3749039"/>
            <a:ext cx="10771632" cy="2103120"/>
          </a:xfrm>
          <a:prstGeom prst="rect">
            <a:avLst/>
          </a:prstGeom>
          <a:noFill/>
        </p:spPr>
        <p:txBody>
          <a:bodyPr wrap="square" anchor="t" lIns="0" rIns="0" tIns="0" bIns="0">
            <a:spAutoFit/>
          </a:bodyPr>
          <a:lstStyle/>
          <a:p>
            <a:pPr>
              <a:lnSpc>
                <a:spcPct val="112000"/>
              </a:lnSpc>
              <a:spcAft>
                <a:spcPts val="1000"/>
              </a:spcAft>
            </a:pPr>
            <a:r>
              <a:rPr sz="1650" b="0" i="0">
                <a:solidFill>
                  <a:srgbClr val="4B5563"/>
                </a:solidFill>
                <a:latin typeface="Calibri"/>
              </a:rPr>
              <a:t>•  A false positive is a normal transaction wrongly flagged as unusual.</a:t>
            </a:r>
          </a:p>
          <a:p>
            <a:pPr>
              <a:lnSpc>
                <a:spcPct val="112000"/>
              </a:lnSpc>
              <a:spcAft>
                <a:spcPts val="1000"/>
              </a:spcAft>
            </a:pPr>
            <a:r>
              <a:rPr sz="1650" b="0" i="0">
                <a:solidFill>
                  <a:srgbClr val="4B5563"/>
                </a:solidFill>
                <a:latin typeface="Calibri"/>
              </a:rPr>
              <a:t>•  A flagged transaction should trigger investigation, not an automatic block or account freeze.</a:t>
            </a:r>
          </a:p>
          <a:p>
            <a:pPr>
              <a:lnSpc>
                <a:spcPct val="112000"/>
              </a:lnSpc>
              <a:spcAft>
                <a:spcPts val="1000"/>
              </a:spcAft>
            </a:pPr>
            <a:r>
              <a:rPr sz="1650" b="0" i="0">
                <a:solidFill>
                  <a:srgbClr val="4B5563"/>
                </a:solidFill>
                <a:latin typeface="Calibri"/>
              </a:rPr>
              <a:t>•  The model's job is to narrow down WHERE a human should look — not to make the final call.</a:t>
            </a:r>
          </a:p>
        </p:txBody>
      </p:sp>
      <p:sp>
        <p:nvSpPr>
          <p:cNvPr id="18" name="TextBox 1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9" name="TextBox 1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OTHER METHODS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When Would We Use Other Algorithms?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28</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1" cy="2743200"/>
        </p:xfrm>
        <a:graphic>
          <a:graphicData uri="http://schemas.openxmlformats.org/drawingml/2006/table">
            <a:tbl>
              <a:tblPr firstRow="1" bandRow="1">
                <a:tableStyleId>{5C22544A-7EE6-4342-B048-85BDC9FD1C3A}</a:tableStyleId>
              </a:tblPr>
              <a:tblGrid>
                <a:gridCol w="4142935"/>
                <a:gridCol w="6628696"/>
              </a:tblGrid>
              <a:tr h="548640">
                <a:tc>
                  <a:txBody>
                    <a:bodyPr/>
                    <a:lstStyle/>
                    <a:p>
                      <a:r>
                        <a:rPr sz="1450" b="1" i="0">
                          <a:solidFill>
                            <a:srgbClr val="FFFFFF"/>
                          </a:solidFill>
                          <a:latin typeface="Calibri"/>
                        </a:rPr>
                        <a:t>Method</a:t>
                      </a:r>
                    </a:p>
                  </a:txBody>
                  <a:tcPr anchor="ctr" marL="127000" marR="127000">
                    <a:solidFill>
                      <a:srgbClr val="1F2937"/>
                    </a:solidFill>
                  </a:tcPr>
                </a:tc>
                <a:tc>
                  <a:txBody>
                    <a:bodyPr/>
                    <a:lstStyle/>
                    <a:p>
                      <a:r>
                        <a:rPr sz="1450" b="1" i="0">
                          <a:solidFill>
                            <a:srgbClr val="FFFFFF"/>
                          </a:solidFill>
                          <a:latin typeface="Calibri"/>
                        </a:rPr>
                        <a:t>Basic Idea</a:t>
                      </a:r>
                    </a:p>
                  </a:txBody>
                  <a:tcPr anchor="ctr" marL="127000" marR="127000">
                    <a:solidFill>
                      <a:srgbClr val="1F2937"/>
                    </a:solidFill>
                  </a:tcPr>
                </a:tc>
              </a:tr>
              <a:tr h="548640">
                <a:tc>
                  <a:txBody>
                    <a:bodyPr/>
                    <a:lstStyle/>
                    <a:p>
                      <a:r>
                        <a:rPr sz="1400" b="1" i="0">
                          <a:solidFill>
                            <a:srgbClr val="1F2937"/>
                          </a:solidFill>
                          <a:latin typeface="Calibri"/>
                        </a:rPr>
                        <a:t>Isolation Forest</a:t>
                      </a:r>
                    </a:p>
                  </a:txBody>
                  <a:tcPr anchor="ctr" marL="127000" marR="127000">
                    <a:solidFill>
                      <a:srgbClr val="FFFFFF"/>
                    </a:solidFill>
                  </a:tcPr>
                </a:tc>
                <a:tc>
                  <a:txBody>
                    <a:bodyPr/>
                    <a:lstStyle/>
                    <a:p>
                      <a:r>
                        <a:rPr sz="1400" b="0" i="0">
                          <a:solidFill>
                            <a:srgbClr val="4B5563"/>
                          </a:solidFill>
                          <a:latin typeface="Calibri"/>
                        </a:rPr>
                        <a:t>Easy-to-isolate points are suspicious</a:t>
                      </a:r>
                    </a:p>
                  </a:txBody>
                  <a:tcPr anchor="ctr" marL="127000" marR="127000">
                    <a:solidFill>
                      <a:srgbClr val="FFFFFF"/>
                    </a:solidFill>
                  </a:tcPr>
                </a:tc>
              </a:tr>
              <a:tr h="548640">
                <a:tc>
                  <a:txBody>
                    <a:bodyPr/>
                    <a:lstStyle/>
                    <a:p>
                      <a:r>
                        <a:rPr sz="1400" b="1" i="0">
                          <a:solidFill>
                            <a:srgbClr val="1F2937"/>
                          </a:solidFill>
                          <a:latin typeface="Calibri"/>
                        </a:rPr>
                        <a:t>One-Class SVM</a:t>
                      </a:r>
                    </a:p>
                  </a:txBody>
                  <a:tcPr anchor="ctr" marL="127000" marR="127000">
                    <a:solidFill>
                      <a:srgbClr val="F7F9FB"/>
                    </a:solidFill>
                  </a:tcPr>
                </a:tc>
                <a:tc>
                  <a:txBody>
                    <a:bodyPr/>
                    <a:lstStyle/>
                    <a:p>
                      <a:r>
                        <a:rPr sz="1400" b="0" i="0">
                          <a:solidFill>
                            <a:srgbClr val="4B5563"/>
                          </a:solidFill>
                          <a:latin typeface="Calibri"/>
                        </a:rPr>
                        <a:t>Learn the boundary of normal data</a:t>
                      </a:r>
                    </a:p>
                  </a:txBody>
                  <a:tcPr anchor="ctr" marL="127000" marR="127000">
                    <a:solidFill>
                      <a:srgbClr val="F7F9FB"/>
                    </a:solidFill>
                  </a:tcPr>
                </a:tc>
              </a:tr>
              <a:tr h="548640">
                <a:tc>
                  <a:txBody>
                    <a:bodyPr/>
                    <a:lstStyle/>
                    <a:p>
                      <a:r>
                        <a:rPr sz="1400" b="1" i="0">
                          <a:solidFill>
                            <a:srgbClr val="1F2937"/>
                          </a:solidFill>
                          <a:latin typeface="Calibri"/>
                        </a:rPr>
                        <a:t>Local Outlier Factor (LOF)</a:t>
                      </a:r>
                    </a:p>
                  </a:txBody>
                  <a:tcPr anchor="ctr" marL="127000" marR="127000">
                    <a:solidFill>
                      <a:srgbClr val="FFFFFF"/>
                    </a:solidFill>
                  </a:tcPr>
                </a:tc>
                <a:tc>
                  <a:txBody>
                    <a:bodyPr/>
                    <a:lstStyle/>
                    <a:p>
                      <a:r>
                        <a:rPr sz="1400" b="0" i="0">
                          <a:solidFill>
                            <a:srgbClr val="4B5563"/>
                          </a:solidFill>
                          <a:latin typeface="Calibri"/>
                        </a:rPr>
                        <a:t>Identify observations in unusually low-density regions</a:t>
                      </a:r>
                    </a:p>
                  </a:txBody>
                  <a:tcPr anchor="ctr" marL="127000" marR="127000">
                    <a:solidFill>
                      <a:srgbClr val="FFFFFF"/>
                    </a:solidFill>
                  </a:tcPr>
                </a:tc>
              </a:tr>
              <a:tr h="548640">
                <a:tc>
                  <a:txBody>
                    <a:bodyPr/>
                    <a:lstStyle/>
                    <a:p>
                      <a:r>
                        <a:rPr sz="1400" b="1" i="0">
                          <a:solidFill>
                            <a:srgbClr val="1F2937"/>
                          </a:solidFill>
                          <a:latin typeface="Calibri"/>
                        </a:rPr>
                        <a:t>Statistical methods</a:t>
                      </a:r>
                    </a:p>
                  </a:txBody>
                  <a:tcPr anchor="ctr" marL="127000" marR="127000">
                    <a:solidFill>
                      <a:srgbClr val="F7F9FB"/>
                    </a:solidFill>
                  </a:tcPr>
                </a:tc>
                <a:tc>
                  <a:txBody>
                    <a:bodyPr/>
                    <a:lstStyle/>
                    <a:p>
                      <a:r>
                        <a:rPr sz="1400" b="0" i="0">
                          <a:solidFill>
                            <a:srgbClr val="4B5563"/>
                          </a:solidFill>
                          <a:latin typeface="Calibri"/>
                        </a:rPr>
                        <a:t>Flag observations far from expected behaviour</a:t>
                      </a:r>
                    </a:p>
                  </a:txBody>
                  <a:tcPr anchor="ctr" marL="127000" marR="127000">
                    <a:solidFill>
                      <a:srgbClr val="F7F9FB"/>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5 · OTHER METHODS</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Choosing an Approach</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29</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57200"/>
          </a:xfrm>
          <a:prstGeom prst="rect">
            <a:avLst/>
          </a:prstGeom>
          <a:noFill/>
        </p:spPr>
        <p:txBody>
          <a:bodyPr wrap="square" anchor="t" lIns="0" rIns="0" tIns="0" bIns="0">
            <a:spAutoFit/>
          </a:bodyPr>
          <a:lstStyle/>
          <a:p>
            <a:pPr algn="l">
              <a:lnSpc>
                <a:spcPct val="100000"/>
              </a:lnSpc>
            </a:pPr>
            <a:r>
              <a:rPr sz="1650" b="0" i="1">
                <a:solidFill>
                  <a:srgbClr val="6B7280"/>
                </a:solidFill>
                <a:latin typeface="Calibri"/>
              </a:rPr>
              <a:t>Beginner guidance for picking an approach in practice.</a:t>
            </a:r>
          </a:p>
        </p:txBody>
      </p:sp>
      <p:sp>
        <p:nvSpPr>
          <p:cNvPr id="8" name="Rounded Rectangle 7"/>
          <p:cNvSpPr/>
          <p:nvPr/>
        </p:nvSpPr>
        <p:spPr>
          <a:xfrm>
            <a:off x="713232" y="2926080"/>
            <a:ext cx="1898294" cy="1051560"/>
          </a:xfrm>
          <a:prstGeom prst="roundRect">
            <a:avLst>
              <a:gd name="adj" fmla="val 16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Start</a:t>
            </a:r>
          </a:p>
          <a:p>
            <a:pPr algn="ctr"/>
            <a:r>
              <a:rPr sz="1450" b="1" i="0">
                <a:solidFill>
                  <a:srgbClr val="FFFFFF"/>
                </a:solidFill>
                <a:latin typeface="Calibri"/>
              </a:rPr>
              <a:t>Simple</a:t>
            </a:r>
          </a:p>
        </p:txBody>
      </p:sp>
      <p:cxnSp>
        <p:nvCxnSpPr>
          <p:cNvPr id="9" name="Connector 8"/>
          <p:cNvCxnSpPr/>
          <p:nvPr/>
        </p:nvCxnSpPr>
        <p:spPr>
          <a:xfrm>
            <a:off x="2636926"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31566" y="2926080"/>
            <a:ext cx="1898294" cy="1051560"/>
          </a:xfrm>
          <a:prstGeom prst="roundRect">
            <a:avLst>
              <a:gd name="adj" fmla="val 16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Understand</a:t>
            </a:r>
          </a:p>
          <a:p>
            <a:pPr algn="ctr"/>
            <a:r>
              <a:rPr sz="1450" b="1" i="0">
                <a:solidFill>
                  <a:srgbClr val="FFFFFF"/>
                </a:solidFill>
                <a:latin typeface="Calibri"/>
              </a:rPr>
              <a:t>the Data</a:t>
            </a:r>
          </a:p>
        </p:txBody>
      </p:sp>
      <p:cxnSp>
        <p:nvCxnSpPr>
          <p:cNvPr id="11" name="Connector 10"/>
          <p:cNvCxnSpPr/>
          <p:nvPr/>
        </p:nvCxnSpPr>
        <p:spPr>
          <a:xfrm>
            <a:off x="4855260"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49900" y="2926080"/>
            <a:ext cx="1898294" cy="1051560"/>
          </a:xfrm>
          <a:prstGeom prst="roundRect">
            <a:avLst>
              <a:gd name="adj" fmla="val 16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Choose a</a:t>
            </a:r>
          </a:p>
          <a:p>
            <a:pPr algn="ctr"/>
            <a:r>
              <a:rPr sz="1450" b="1" i="0">
                <a:solidFill>
                  <a:srgbClr val="FFFFFF"/>
                </a:solidFill>
                <a:latin typeface="Calibri"/>
              </a:rPr>
              <a:t>Method</a:t>
            </a:r>
          </a:p>
        </p:txBody>
      </p:sp>
      <p:cxnSp>
        <p:nvCxnSpPr>
          <p:cNvPr id="13" name="Connector 12"/>
          <p:cNvCxnSpPr/>
          <p:nvPr/>
        </p:nvCxnSpPr>
        <p:spPr>
          <a:xfrm>
            <a:off x="7073594"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8234" y="2926080"/>
            <a:ext cx="1898294" cy="1051560"/>
          </a:xfrm>
          <a:prstGeom prst="roundRect">
            <a:avLst>
              <a:gd name="adj" fmla="val 16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Validate</a:t>
            </a:r>
          </a:p>
          <a:p>
            <a:pPr algn="ctr"/>
            <a:r>
              <a:rPr sz="1450" b="1" i="0">
                <a:solidFill>
                  <a:srgbClr val="FFFFFF"/>
                </a:solidFill>
                <a:latin typeface="Calibri"/>
              </a:rPr>
              <a:t>Results</a:t>
            </a:r>
          </a:p>
        </p:txBody>
      </p:sp>
      <p:cxnSp>
        <p:nvCxnSpPr>
          <p:cNvPr id="15" name="Connector 14"/>
          <p:cNvCxnSpPr/>
          <p:nvPr/>
        </p:nvCxnSpPr>
        <p:spPr>
          <a:xfrm>
            <a:off x="9291928" y="3451860"/>
            <a:ext cx="269240" cy="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586568" y="2926080"/>
            <a:ext cx="1898294" cy="1051560"/>
          </a:xfrm>
          <a:prstGeom prst="roundRect">
            <a:avLst>
              <a:gd name="adj" fmla="val 16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50" b="1" i="0">
                <a:solidFill>
                  <a:srgbClr val="FFFFFF"/>
                </a:solidFill>
                <a:latin typeface="Calibri"/>
              </a:rPr>
              <a:t>Monitor</a:t>
            </a:r>
          </a:p>
        </p:txBody>
      </p:sp>
      <p:sp>
        <p:nvSpPr>
          <p:cNvPr id="17" name="TextBox 1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8" name="TextBox 17"/>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EVALUATION &amp; REAL-WORLD USE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How Do We Know It Works?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30</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937760"/>
          </a:xfrm>
          <a:prstGeom prst="rect">
            <a:avLst/>
          </a:prstGeom>
          <a:noFill/>
        </p:spPr>
        <p:txBody>
          <a:bodyPr wrap="square" anchor="t" lIns="0" rIns="0" tIns="0" bIns="0">
            <a:spAutoFit/>
          </a:bodyPr>
          <a:lstStyle/>
          <a:p>
            <a:pPr>
              <a:lnSpc>
                <a:spcPct val="112000"/>
              </a:lnSpc>
              <a:spcAft>
                <a:spcPts val="1000"/>
              </a:spcAft>
            </a:pPr>
            <a:r>
              <a:rPr sz="1600" b="0" i="0">
                <a:solidFill>
                  <a:srgbClr val="4B5563"/>
                </a:solidFill>
                <a:latin typeface="Calibri"/>
              </a:rPr>
              <a:t>•  Precision — of the transactions we flagged, how many were actually anomalous?</a:t>
            </a:r>
          </a:p>
          <a:p>
            <a:pPr>
              <a:lnSpc>
                <a:spcPct val="112000"/>
              </a:lnSpc>
              <a:spcAft>
                <a:spcPts val="1000"/>
              </a:spcAft>
            </a:pPr>
            <a:r>
              <a:rPr sz="1600" b="0" i="0">
                <a:solidFill>
                  <a:srgbClr val="4B5563"/>
                </a:solidFill>
                <a:latin typeface="Calibri"/>
              </a:rPr>
              <a:t>•  Recall — of the actual anomalies out there, how many did we successfully catch?</a:t>
            </a:r>
          </a:p>
          <a:p>
            <a:pPr>
              <a:lnSpc>
                <a:spcPct val="112000"/>
              </a:lnSpc>
              <a:spcAft>
                <a:spcPts val="1000"/>
              </a:spcAft>
            </a:pPr>
            <a:r>
              <a:rPr sz="1600" b="0" i="0">
                <a:solidFill>
                  <a:srgbClr val="4B5563"/>
                </a:solidFill>
                <a:latin typeface="Calibri"/>
              </a:rPr>
              <a:t>•  False positives — normal transactions wrongly flagged (annoys customers, wastes investigator time).</a:t>
            </a:r>
          </a:p>
          <a:p>
            <a:pPr>
              <a:lnSpc>
                <a:spcPct val="112000"/>
              </a:lnSpc>
              <a:spcAft>
                <a:spcPts val="1000"/>
              </a:spcAft>
            </a:pPr>
            <a:r>
              <a:rPr sz="1600" b="0" i="0">
                <a:solidFill>
                  <a:srgbClr val="4B5563"/>
                </a:solidFill>
                <a:latin typeface="Calibri"/>
              </a:rPr>
              <a:t>•  False negatives — real anomalies we missed entirely (the more dangerous kind of mistake).</a:t>
            </a:r>
          </a:p>
          <a:p>
            <a:pPr>
              <a:lnSpc>
                <a:spcPct val="112000"/>
              </a:lnSpc>
              <a:spcAft>
                <a:spcPts val="1000"/>
              </a:spcAft>
            </a:pPr>
            <a:r>
              <a:rPr sz="1600" b="0" i="0">
                <a:solidFill>
                  <a:srgbClr val="4B5563"/>
                </a:solidFill>
                <a:latin typeface="Calibri"/>
              </a:rPr>
              <a:t>•  Domain / business validation — ultimately, a human investigator's judgment matters too.</a:t>
            </a:r>
          </a:p>
          <a:p>
            <a:pPr>
              <a:lnSpc>
                <a:spcPct val="112000"/>
              </a:lnSpc>
              <a:spcAft>
                <a:spcPts val="1000"/>
              </a:spcAft>
            </a:pPr>
            <a:r>
              <a:rPr sz="1600" b="0" i="0">
                <a:solidFill>
                  <a:srgbClr val="4B5563"/>
                </a:solidFill>
                <a:latin typeface="Calibri"/>
              </a:rPr>
              <a:t>•  Anomaly detection can be HARD to evaluate when true labels aren't available at all — which is often the whole reason we're using it in the first place.</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SECTION 6 · EVALUATION &amp; REAL-WORLD USE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Final Mental Model</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31</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52647" y="1417320"/>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No labels</a:t>
            </a:r>
          </a:p>
        </p:txBody>
      </p:sp>
      <p:cxnSp>
        <p:nvCxnSpPr>
          <p:cNvPr id="8" name="Connector 7"/>
          <p:cNvCxnSpPr/>
          <p:nvPr/>
        </p:nvCxnSpPr>
        <p:spPr>
          <a:xfrm>
            <a:off x="6095847" y="1954784"/>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52647" y="2112264"/>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Understand normal behaviour</a:t>
            </a:r>
          </a:p>
        </p:txBody>
      </p:sp>
      <p:cxnSp>
        <p:nvCxnSpPr>
          <p:cNvPr id="10" name="Connector 9"/>
          <p:cNvCxnSpPr/>
          <p:nvPr/>
        </p:nvCxnSpPr>
        <p:spPr>
          <a:xfrm>
            <a:off x="6095847" y="2649728"/>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52647" y="2807208"/>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Find unusual observations</a:t>
            </a:r>
          </a:p>
        </p:txBody>
      </p:sp>
      <p:cxnSp>
        <p:nvCxnSpPr>
          <p:cNvPr id="12" name="Connector 11"/>
          <p:cNvCxnSpPr/>
          <p:nvPr/>
        </p:nvCxnSpPr>
        <p:spPr>
          <a:xfrm>
            <a:off x="6095847" y="3344672"/>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2647" y="3502152"/>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Calculate anomaly score</a:t>
            </a:r>
          </a:p>
        </p:txBody>
      </p:sp>
      <p:cxnSp>
        <p:nvCxnSpPr>
          <p:cNvPr id="14" name="Connector 13"/>
          <p:cNvCxnSpPr/>
          <p:nvPr/>
        </p:nvCxnSpPr>
        <p:spPr>
          <a:xfrm>
            <a:off x="6095847" y="4039616"/>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2647" y="4197096"/>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Set / interpret a threshold</a:t>
            </a:r>
          </a:p>
        </p:txBody>
      </p:sp>
      <p:cxnSp>
        <p:nvCxnSpPr>
          <p:cNvPr id="16" name="Connector 15"/>
          <p:cNvCxnSpPr/>
          <p:nvPr/>
        </p:nvCxnSpPr>
        <p:spPr>
          <a:xfrm>
            <a:off x="6095847" y="4734560"/>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352647" y="4892040"/>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Investigate</a:t>
            </a:r>
          </a:p>
        </p:txBody>
      </p:sp>
      <p:cxnSp>
        <p:nvCxnSpPr>
          <p:cNvPr id="18" name="Connector 17"/>
          <p:cNvCxnSpPr/>
          <p:nvPr/>
        </p:nvCxnSpPr>
        <p:spPr>
          <a:xfrm>
            <a:off x="6095847" y="5429504"/>
            <a:ext cx="0" cy="132080"/>
          </a:xfrm>
          <a:prstGeom prst="line">
            <a:avLst/>
          </a:prstGeom>
          <a:ln w="285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352647" y="5586984"/>
            <a:ext cx="5486400" cy="512064"/>
          </a:xfrm>
          <a:prstGeom prst="roundRect">
            <a:avLst>
              <a:gd name="adj" fmla="val 1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i="0">
                <a:solidFill>
                  <a:srgbClr val="FFFFFF"/>
                </a:solidFill>
                <a:latin typeface="Calibri"/>
              </a:rPr>
              <a:t>Take business action</a:t>
            </a:r>
          </a:p>
        </p:txBody>
      </p:sp>
      <p:sp>
        <p:nvSpPr>
          <p:cNvPr id="20" name="TextBox 19"/>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21" name="TextBox 20"/>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INSTRUCTOR REFERENCE</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Important Distinctions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32</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13232" y="1417320"/>
          <a:ext cx="10771631" cy="4206240"/>
        </p:xfrm>
        <a:graphic>
          <a:graphicData uri="http://schemas.openxmlformats.org/drawingml/2006/table">
            <a:tbl>
              <a:tblPr firstRow="1" bandRow="1">
                <a:tableStyleId>{5C22544A-7EE6-4342-B048-85BDC9FD1C3A}</a:tableStyleId>
              </a:tblPr>
              <a:tblGrid>
                <a:gridCol w="4308652"/>
                <a:gridCol w="6462979"/>
              </a:tblGrid>
              <a:tr h="841248">
                <a:tc>
                  <a:txBody>
                    <a:bodyPr/>
                    <a:lstStyle/>
                    <a:p>
                      <a:r>
                        <a:rPr sz="1450" b="1" i="0">
                          <a:solidFill>
                            <a:srgbClr val="FFFFFF"/>
                          </a:solidFill>
                          <a:latin typeface="Calibri"/>
                        </a:rPr>
                        <a:t>Myth</a:t>
                      </a:r>
                    </a:p>
                  </a:txBody>
                  <a:tcPr anchor="ctr" marL="127000" marR="127000">
                    <a:solidFill>
                      <a:srgbClr val="1F2937"/>
                    </a:solidFill>
                  </a:tcPr>
                </a:tc>
                <a:tc>
                  <a:txBody>
                    <a:bodyPr/>
                    <a:lstStyle/>
                    <a:p>
                      <a:r>
                        <a:rPr sz="1450" b="1" i="0">
                          <a:solidFill>
                            <a:srgbClr val="FFFFFF"/>
                          </a:solidFill>
                          <a:latin typeface="Calibri"/>
                        </a:rPr>
                        <a:t>Reality</a:t>
                      </a:r>
                    </a:p>
                  </a:txBody>
                  <a:tcPr anchor="ctr" marL="127000" marR="127000">
                    <a:solidFill>
                      <a:srgbClr val="1F2937"/>
                    </a:solidFill>
                  </a:tcPr>
                </a:tc>
              </a:tr>
              <a:tr h="841248">
                <a:tc>
                  <a:txBody>
                    <a:bodyPr/>
                    <a:lstStyle/>
                    <a:p>
                      <a:r>
                        <a:rPr sz="1400" b="1" i="0">
                          <a:solidFill>
                            <a:srgbClr val="1F2937"/>
                          </a:solidFill>
                          <a:latin typeface="Calibri"/>
                        </a:rPr>
                        <a:t>An anomaly means fraud.</a:t>
                      </a:r>
                    </a:p>
                  </a:txBody>
                  <a:tcPr anchor="ctr" marL="127000" marR="127000">
                    <a:solidFill>
                      <a:srgbClr val="FFFFFF"/>
                    </a:solidFill>
                  </a:tcPr>
                </a:tc>
                <a:tc>
                  <a:txBody>
                    <a:bodyPr/>
                    <a:lstStyle/>
                    <a:p>
                      <a:r>
                        <a:rPr sz="1400" b="0" i="0">
                          <a:solidFill>
                            <a:srgbClr val="4B5563"/>
                          </a:solidFill>
                          <a:latin typeface="Calibri"/>
                        </a:rPr>
                        <a:t>An anomaly is simply unusual — it may be legitimate, a data error, fraud, or a new but genuine customer behaviour.</a:t>
                      </a:r>
                    </a:p>
                  </a:txBody>
                  <a:tcPr anchor="ctr" marL="127000" marR="127000">
                    <a:solidFill>
                      <a:srgbClr val="FFFFFF"/>
                    </a:solidFill>
                  </a:tcPr>
                </a:tc>
              </a:tr>
              <a:tr h="841248">
                <a:tc>
                  <a:txBody>
                    <a:bodyPr/>
                    <a:lstStyle/>
                    <a:p>
                      <a:r>
                        <a:rPr sz="1400" b="1" i="0">
                          <a:solidFill>
                            <a:srgbClr val="1F2937"/>
                          </a:solidFill>
                          <a:latin typeface="Calibri"/>
                        </a:rPr>
                        <a:t>An outlier should always be removed.</a:t>
                      </a:r>
                    </a:p>
                  </a:txBody>
                  <a:tcPr anchor="ctr" marL="127000" marR="127000">
                    <a:solidFill>
                      <a:srgbClr val="F7F9FB"/>
                    </a:solidFill>
                  </a:tcPr>
                </a:tc>
                <a:tc>
                  <a:txBody>
                    <a:bodyPr/>
                    <a:lstStyle/>
                    <a:p>
                      <a:r>
                        <a:rPr sz="1400" b="0" i="0">
                          <a:solidFill>
                            <a:srgbClr val="4B5563"/>
                          </a:solidFill>
                          <a:latin typeface="Calibri"/>
                        </a:rPr>
                        <a:t>An outlier may be an error, a legitimate extreme value, an important event, or fraud — never remove automatically.</a:t>
                      </a:r>
                    </a:p>
                  </a:txBody>
                  <a:tcPr anchor="ctr" marL="127000" marR="127000">
                    <a:solidFill>
                      <a:srgbClr val="F7F9FB"/>
                    </a:solidFill>
                  </a:tcPr>
                </a:tc>
              </a:tr>
              <a:tr h="841248">
                <a:tc>
                  <a:txBody>
                    <a:bodyPr/>
                    <a:lstStyle/>
                    <a:p>
                      <a:r>
                        <a:rPr sz="1400" b="1" i="0">
                          <a:solidFill>
                            <a:srgbClr val="1F2937"/>
                          </a:solidFill>
                          <a:latin typeface="Calibri"/>
                        </a:rPr>
                        <a:t>Anomaly detection is the same as classification.</a:t>
                      </a:r>
                    </a:p>
                  </a:txBody>
                  <a:tcPr anchor="ctr" marL="127000" marR="127000">
                    <a:solidFill>
                      <a:srgbClr val="FFFFFF"/>
                    </a:solidFill>
                  </a:tcPr>
                </a:tc>
                <a:tc>
                  <a:txBody>
                    <a:bodyPr/>
                    <a:lstStyle/>
                    <a:p>
                      <a:r>
                        <a:rPr sz="1400" b="0" i="0">
                          <a:solidFill>
                            <a:srgbClr val="4B5563"/>
                          </a:solidFill>
                          <a:latin typeface="Calibri"/>
                        </a:rPr>
                        <a:t>Classification learns from labelled categories; anomaly detection identifies unusual behaviour without complete labels.</a:t>
                      </a:r>
                    </a:p>
                  </a:txBody>
                  <a:tcPr anchor="ctr" marL="127000" marR="127000">
                    <a:solidFill>
                      <a:srgbClr val="FFFFFF"/>
                    </a:solidFill>
                  </a:tcPr>
                </a:tc>
              </a:tr>
              <a:tr h="841248">
                <a:tc>
                  <a:txBody>
                    <a:bodyPr/>
                    <a:lstStyle/>
                    <a:p>
                      <a:r>
                        <a:rPr sz="1400" b="1" i="0">
                          <a:solidFill>
                            <a:srgbClr val="1F2937"/>
                          </a:solidFill>
                          <a:latin typeface="Calibri"/>
                        </a:rPr>
                        <a:t>Detection = a final decision.</a:t>
                      </a:r>
                    </a:p>
                  </a:txBody>
                  <a:tcPr anchor="ctr" marL="127000" marR="127000">
                    <a:solidFill>
                      <a:srgbClr val="F7F9FB"/>
                    </a:solidFill>
                  </a:tcPr>
                </a:tc>
                <a:tc>
                  <a:txBody>
                    <a:bodyPr/>
                    <a:lstStyle/>
                    <a:p>
                      <a:r>
                        <a:rPr sz="1400" b="0" i="0">
                          <a:solidFill>
                            <a:srgbClr val="4B5563"/>
                          </a:solidFill>
                          <a:latin typeface="Calibri"/>
                        </a:rPr>
                        <a:t>The model flags something; a human or business process then decides what action to take.</a:t>
                      </a:r>
                    </a:p>
                  </a:txBody>
                  <a:tcPr anchor="ctr" marL="127000" marR="127000">
                    <a:solidFill>
                      <a:srgbClr val="F7F9FB"/>
                    </a:solidFill>
                  </a:tcPr>
                </a:tc>
              </a:tr>
            </a:tbl>
          </a:graphicData>
        </a:graphic>
      </p:graphicFrame>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KNOWLEDGE CHECK</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Quick Quiz</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33</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4114800"/>
          </a:xfrm>
          <a:prstGeom prst="rect">
            <a:avLst/>
          </a:prstGeom>
          <a:noFill/>
        </p:spPr>
        <p:txBody>
          <a:bodyPr wrap="square" anchor="t" lIns="0" rIns="0" tIns="0" bIns="0">
            <a:spAutoFit/>
          </a:bodyPr>
          <a:lstStyle/>
          <a:p>
            <a:pPr>
              <a:lnSpc>
                <a:spcPct val="112000"/>
              </a:lnSpc>
              <a:spcAft>
                <a:spcPts val="1800"/>
              </a:spcAft>
            </a:pPr>
            <a:r>
              <a:rPr sz="1800" b="0" i="0">
                <a:solidFill>
                  <a:srgbClr val="4B5563"/>
                </a:solidFill>
                <a:latin typeface="Calibri"/>
              </a:rPr>
              <a:t>1. What is an anomaly?</a:t>
            </a:r>
          </a:p>
          <a:p>
            <a:pPr>
              <a:lnSpc>
                <a:spcPct val="112000"/>
              </a:lnSpc>
              <a:spcAft>
                <a:spcPts val="1800"/>
              </a:spcAft>
            </a:pPr>
            <a:r>
              <a:rPr sz="1800" b="0" i="0">
                <a:solidFill>
                  <a:srgbClr val="4B5563"/>
                </a:solidFill>
                <a:latin typeface="Calibri"/>
              </a:rPr>
              <a:t>2. Why can anomaly detection be an unsupervised learning problem?</a:t>
            </a:r>
          </a:p>
          <a:p>
            <a:pPr>
              <a:lnSpc>
                <a:spcPct val="112000"/>
              </a:lnSpc>
              <a:spcAft>
                <a:spcPts val="1800"/>
              </a:spcAft>
            </a:pPr>
            <a:r>
              <a:rPr sz="1800" b="0" i="0">
                <a:solidFill>
                  <a:srgbClr val="4B5563"/>
                </a:solidFill>
                <a:latin typeface="Calibri"/>
              </a:rPr>
              <a:t>3. What does Isolation Forest try to do?</a:t>
            </a:r>
          </a:p>
          <a:p>
            <a:pPr>
              <a:lnSpc>
                <a:spcPct val="112000"/>
              </a:lnSpc>
              <a:spcAft>
                <a:spcPts val="1800"/>
              </a:spcAft>
            </a:pPr>
            <a:r>
              <a:rPr sz="1800" b="0" i="0">
                <a:solidFill>
                  <a:srgbClr val="4B5563"/>
                </a:solidFill>
                <a:latin typeface="Calibri"/>
              </a:rPr>
              <a:t>4. What does -1 represent in the Isolation Forest predict() output?</a:t>
            </a:r>
          </a:p>
          <a:p>
            <a:pPr>
              <a:lnSpc>
                <a:spcPct val="112000"/>
              </a:lnSpc>
              <a:spcAft>
                <a:spcPts val="1800"/>
              </a:spcAft>
            </a:pPr>
            <a:r>
              <a:rPr sz="1800" b="0" i="0">
                <a:solidFill>
                  <a:srgbClr val="4B5563"/>
                </a:solidFill>
                <a:latin typeface="Calibri"/>
              </a:rPr>
              <a:t>5. Does an anomaly automatically mean fraud?</a:t>
            </a:r>
          </a:p>
          <a:p>
            <a:pPr>
              <a:lnSpc>
                <a:spcPct val="112000"/>
              </a:lnSpc>
              <a:spcAft>
                <a:spcPts val="1800"/>
              </a:spcAft>
            </a:pPr>
            <a:r>
              <a:rPr sz="1800" b="0" i="0">
                <a:solidFill>
                  <a:srgbClr val="4B5563"/>
                </a:solidFill>
                <a:latin typeface="Calibri"/>
              </a:rPr>
              <a:t>6. What is the risk of setting the anomaly threshold too aggressively?</a:t>
            </a:r>
          </a:p>
        </p:txBody>
      </p:sp>
      <p:sp>
        <p:nvSpPr>
          <p:cNvPr id="8" name="TextBox 7"/>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9" name="TextBox 8"/>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8686800" cy="274320"/>
          </a:xfrm>
          <a:prstGeom prst="rect">
            <a:avLst/>
          </a:prstGeom>
          <a:noFill/>
        </p:spPr>
        <p:txBody>
          <a:bodyPr wrap="square" anchor="t" lIns="0" rIns="0" tIns="0" bIns="0">
            <a:spAutoFit/>
          </a:bodyPr>
          <a:lstStyle/>
          <a:p>
            <a:pPr algn="l">
              <a:lnSpc>
                <a:spcPct val="100000"/>
              </a:lnSpc>
            </a:pPr>
            <a:r>
              <a:rPr sz="1250" b="1" i="0">
                <a:solidFill>
                  <a:srgbClr val="2563EB"/>
                </a:solidFill>
                <a:latin typeface="Calibri"/>
              </a:rPr>
              <a:t>APPENDIX</a:t>
            </a:r>
          </a:p>
        </p:txBody>
      </p:sp>
      <p:sp>
        <p:nvSpPr>
          <p:cNvPr id="4" name="TextBox 3"/>
          <p:cNvSpPr txBox="1"/>
          <p:nvPr/>
        </p:nvSpPr>
        <p:spPr>
          <a:xfrm>
            <a:off x="713232" y="603504"/>
            <a:ext cx="10789920" cy="566928"/>
          </a:xfrm>
          <a:prstGeom prst="rect">
            <a:avLst/>
          </a:prstGeom>
          <a:noFill/>
        </p:spPr>
        <p:txBody>
          <a:bodyPr wrap="square" anchor="t" lIns="0" rIns="0" tIns="0" bIns="0">
            <a:spAutoFit/>
          </a:bodyPr>
          <a:lstStyle/>
          <a:p>
            <a:pPr algn="l">
              <a:lnSpc>
                <a:spcPct val="100000"/>
              </a:lnSpc>
            </a:pPr>
            <a:r>
              <a:rPr sz="3000" b="1" i="0">
                <a:solidFill>
                  <a:srgbClr val="1F2937"/>
                </a:solidFill>
                <a:latin typeface="Calibri"/>
              </a:rPr>
              <a:t>References / Sources</a:t>
            </a:r>
          </a:p>
        </p:txBody>
      </p:sp>
      <p:sp>
        <p:nvSpPr>
          <p:cNvPr id="5" name="TextBox 4"/>
          <p:cNvSpPr txBox="1"/>
          <p:nvPr/>
        </p:nvSpPr>
        <p:spPr>
          <a:xfrm>
            <a:off x="9692640" y="384048"/>
            <a:ext cx="2011680" cy="274320"/>
          </a:xfrm>
          <a:prstGeom prst="rect">
            <a:avLst/>
          </a:prstGeom>
          <a:noFill/>
        </p:spPr>
        <p:txBody>
          <a:bodyPr wrap="square" anchor="t" lIns="0" rIns="0" tIns="0" bIns="0">
            <a:spAutoFit/>
          </a:bodyPr>
          <a:lstStyle/>
          <a:p>
            <a:pPr algn="r">
              <a:lnSpc>
                <a:spcPct val="100000"/>
              </a:lnSpc>
            </a:pPr>
            <a:r>
              <a:rPr sz="1050" b="1" i="0">
                <a:solidFill>
                  <a:srgbClr val="6B7280"/>
                </a:solidFill>
                <a:latin typeface="Calibri"/>
              </a:rPr>
              <a:t>SLIDE 34</a:t>
            </a:r>
          </a:p>
        </p:txBody>
      </p:sp>
      <p:sp>
        <p:nvSpPr>
          <p:cNvPr id="6" name="Rectangle 5"/>
          <p:cNvSpPr/>
          <p:nvPr/>
        </p:nvSpPr>
        <p:spPr>
          <a:xfrm>
            <a:off x="502920" y="1170432"/>
            <a:ext cx="11183112" cy="177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1732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Textbook</a:t>
            </a:r>
          </a:p>
        </p:txBody>
      </p:sp>
      <p:sp>
        <p:nvSpPr>
          <p:cNvPr id="8" name="TextBox 7"/>
          <p:cNvSpPr txBox="1"/>
          <p:nvPr/>
        </p:nvSpPr>
        <p:spPr>
          <a:xfrm>
            <a:off x="713232" y="1755648"/>
            <a:ext cx="10771632" cy="960120"/>
          </a:xfrm>
          <a:prstGeom prst="rect">
            <a:avLst/>
          </a:prstGeom>
          <a:noFill/>
        </p:spPr>
        <p:txBody>
          <a:bodyPr wrap="square" anchor="t" lIns="0" rIns="0" tIns="0" bIns="0">
            <a:spAutoFit/>
          </a:bodyPr>
          <a:lstStyle/>
          <a:p>
            <a:pPr>
              <a:lnSpc>
                <a:spcPct val="112000"/>
              </a:lnSpc>
              <a:spcAft>
                <a:spcPts val="600"/>
              </a:spcAft>
            </a:pPr>
            <a:r>
              <a:rPr sz="1450" b="0" i="0">
                <a:solidFill>
                  <a:srgbClr val="4B5563"/>
                </a:solidFill>
                <a:latin typeface="Calibri"/>
              </a:rPr>
              <a:t>•  Aggarwal, C. C. (2015). Data Mining: The Textbook. Springer. — Chapter 8, “Outlier Analysis” (extreme value analysis, distance-based and density-based / LOF methods).</a:t>
            </a:r>
          </a:p>
        </p:txBody>
      </p:sp>
      <p:sp>
        <p:nvSpPr>
          <p:cNvPr id="9" name="TextBox 8"/>
          <p:cNvSpPr txBox="1"/>
          <p:nvPr/>
        </p:nvSpPr>
        <p:spPr>
          <a:xfrm>
            <a:off x="713232" y="269748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Original Research</a:t>
            </a:r>
          </a:p>
        </p:txBody>
      </p:sp>
      <p:sp>
        <p:nvSpPr>
          <p:cNvPr id="10" name="TextBox 9"/>
          <p:cNvSpPr txBox="1"/>
          <p:nvPr/>
        </p:nvSpPr>
        <p:spPr>
          <a:xfrm>
            <a:off x="713232" y="3035808"/>
            <a:ext cx="10771632" cy="548640"/>
          </a:xfrm>
          <a:prstGeom prst="rect">
            <a:avLst/>
          </a:prstGeom>
          <a:noFill/>
        </p:spPr>
        <p:txBody>
          <a:bodyPr wrap="square" anchor="t" lIns="0" rIns="0" tIns="0" bIns="0">
            <a:spAutoFit/>
          </a:bodyPr>
          <a:lstStyle/>
          <a:p>
            <a:pPr>
              <a:lnSpc>
                <a:spcPct val="112000"/>
              </a:lnSpc>
              <a:spcAft>
                <a:spcPts val="600"/>
              </a:spcAft>
            </a:pPr>
            <a:r>
              <a:rPr sz="1450" b="0" i="0">
                <a:solidFill>
                  <a:srgbClr val="4B5563"/>
                </a:solidFill>
                <a:latin typeface="Calibri"/>
              </a:rPr>
              <a:t>•  Liu, F. T., Ting, K. M., &amp; Zhou, Z.-H. (2008). Isolation Forest. IEEE ICDM.</a:t>
            </a:r>
          </a:p>
        </p:txBody>
      </p:sp>
      <p:sp>
        <p:nvSpPr>
          <p:cNvPr id="11" name="TextBox 10"/>
          <p:cNvSpPr txBox="1"/>
          <p:nvPr/>
        </p:nvSpPr>
        <p:spPr>
          <a:xfrm>
            <a:off x="713232" y="370332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Official Documentation (verified for current syntax)</a:t>
            </a:r>
          </a:p>
        </p:txBody>
      </p:sp>
      <p:sp>
        <p:nvSpPr>
          <p:cNvPr id="12" name="TextBox 11"/>
          <p:cNvSpPr txBox="1"/>
          <p:nvPr/>
        </p:nvSpPr>
        <p:spPr>
          <a:xfrm>
            <a:off x="713232" y="4041648"/>
            <a:ext cx="10771632" cy="1737360"/>
          </a:xfrm>
          <a:prstGeom prst="rect">
            <a:avLst/>
          </a:prstGeom>
          <a:noFill/>
        </p:spPr>
        <p:txBody>
          <a:bodyPr wrap="square" anchor="t" lIns="0" rIns="0" tIns="0" bIns="0">
            <a:spAutoFit/>
          </a:bodyPr>
          <a:lstStyle/>
          <a:p>
            <a:pPr>
              <a:lnSpc>
                <a:spcPct val="112000"/>
              </a:lnSpc>
              <a:spcAft>
                <a:spcPts val="800"/>
              </a:spcAft>
            </a:pPr>
            <a:r>
              <a:rPr sz="1350" b="0" i="0">
                <a:solidFill>
                  <a:srgbClr val="4B5563"/>
                </a:solidFill>
                <a:latin typeface="Calibri"/>
              </a:rPr>
              <a:t>•  scikit-learn API Reference — IsolationForest, LocalOutlierFactor, OneClassSVM, StandardScaler (scikit-learn.org/stable/modules/generated/ ...)</a:t>
            </a:r>
          </a:p>
          <a:p>
            <a:pPr>
              <a:lnSpc>
                <a:spcPct val="112000"/>
              </a:lnSpc>
              <a:spcAft>
                <a:spcPts val="800"/>
              </a:spcAft>
            </a:pPr>
            <a:r>
              <a:rPr sz="1350" b="0" i="0">
                <a:solidFill>
                  <a:srgbClr val="4B5563"/>
                </a:solidFill>
                <a:latin typeface="Calibri"/>
              </a:rPr>
              <a:t>•  scikit-learn User Guide — Novelty and Outlier Detection (scikit-learn.org/stable/modules/outlier_detection.html)</a:t>
            </a:r>
          </a:p>
          <a:p>
            <a:pPr>
              <a:lnSpc>
                <a:spcPct val="112000"/>
              </a:lnSpc>
              <a:spcAft>
                <a:spcPts val="800"/>
              </a:spcAft>
            </a:pPr>
            <a:r>
              <a:rPr sz="1350" b="0" i="0">
                <a:solidFill>
                  <a:srgbClr val="4B5563"/>
                </a:solidFill>
                <a:latin typeface="Calibri"/>
              </a:rPr>
              <a:t>•  Every code snippet in this deck was checked against these pages during development.</a:t>
            </a:r>
          </a:p>
        </p:txBody>
      </p:sp>
      <p:sp>
        <p:nvSpPr>
          <p:cNvPr id="13" name="TextBox 12"/>
          <p:cNvSpPr txBox="1"/>
          <p:nvPr/>
        </p:nvSpPr>
        <p:spPr>
          <a:xfrm>
            <a:off x="713232" y="5943600"/>
            <a:ext cx="10771632" cy="292608"/>
          </a:xfrm>
          <a:prstGeom prst="rect">
            <a:avLst/>
          </a:prstGeom>
          <a:noFill/>
        </p:spPr>
        <p:txBody>
          <a:bodyPr wrap="square" anchor="t" lIns="0" rIns="0" tIns="0" bIns="0">
            <a:spAutoFit/>
          </a:bodyPr>
          <a:lstStyle/>
          <a:p>
            <a:pPr algn="l">
              <a:lnSpc>
                <a:spcPct val="100000"/>
              </a:lnSpc>
            </a:pPr>
            <a:r>
              <a:rPr sz="1400" b="1" i="0">
                <a:solidFill>
                  <a:srgbClr val="6B7280"/>
                </a:solidFill>
                <a:latin typeface="Calibri"/>
              </a:rPr>
              <a:t>Data</a:t>
            </a:r>
          </a:p>
        </p:txBody>
      </p:sp>
      <p:sp>
        <p:nvSpPr>
          <p:cNvPr id="14" name="TextBox 13"/>
          <p:cNvSpPr txBox="1"/>
          <p:nvPr/>
        </p:nvSpPr>
        <p:spPr>
          <a:xfrm>
            <a:off x="713232" y="6263640"/>
            <a:ext cx="10771632" cy="594360"/>
          </a:xfrm>
          <a:prstGeom prst="rect">
            <a:avLst/>
          </a:prstGeom>
          <a:noFill/>
        </p:spPr>
        <p:txBody>
          <a:bodyPr wrap="square" anchor="t" lIns="0" rIns="0" tIns="0" bIns="0">
            <a:spAutoFit/>
          </a:bodyPr>
          <a:lstStyle/>
          <a:p>
            <a:pPr>
              <a:lnSpc>
                <a:spcPct val="112000"/>
              </a:lnSpc>
              <a:spcAft>
                <a:spcPts val="400"/>
              </a:spcAft>
            </a:pPr>
            <a:r>
              <a:rPr sz="1250" b="0" i="0">
                <a:solidFill>
                  <a:srgbClr val="4B5563"/>
                </a:solidFill>
                <a:latin typeface="Calibri"/>
              </a:rPr>
              <a:t>•  All transaction data used in this course is SYNTHETIC (data/generate_data.py). It does not represent any real bank, customer, or transaction.</a:t>
            </a:r>
          </a:p>
        </p:txBody>
      </p:sp>
      <p:sp>
        <p:nvSpPr>
          <p:cNvPr id="15" name="TextBox 14"/>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pPr>
            <a:r>
              <a:rPr sz="950" b="0" i="0">
                <a:solidFill>
                  <a:srgbClr val="6B7280"/>
                </a:solidFill>
                <a:latin typeface="Calibri"/>
              </a:rPr>
              <a:t>Unsupervised Learning · Anomaly Detection Systems</a:t>
            </a:r>
          </a:p>
        </p:txBody>
      </p:sp>
      <p:sp>
        <p:nvSpPr>
          <p:cNvPr id="16" name="TextBox 15"/>
          <p:cNvSpPr txBox="1"/>
          <p:nvPr/>
        </p:nvSpPr>
        <p:spPr>
          <a:xfrm>
            <a:off x="10789920" y="6528816"/>
            <a:ext cx="914400" cy="256032"/>
          </a:xfrm>
          <a:prstGeom prst="rect">
            <a:avLst/>
          </a:prstGeom>
          <a:noFill/>
        </p:spPr>
        <p:txBody>
          <a:bodyPr wrap="square" anchor="t" lIns="0" rIns="0" tIns="0" bIns="0">
            <a:spAutoFit/>
          </a:bodyPr>
          <a:lstStyle/>
          <a:p>
            <a:pPr algn="r">
              <a:lnSpc>
                <a:spcPct val="100000"/>
              </a:lnSpc>
            </a:pPr>
            <a:r>
              <a:rPr sz="950" b="0" i="0">
                <a:solidFill>
                  <a:srgbClr val="6B7280"/>
                </a:solidFill>
                <a:latin typeface="Calibri"/>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