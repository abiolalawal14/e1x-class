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class. This is a 2-hour session: Hour 1 is concepts (this deck), Hour 2 is hands-on Python. Frame it as building ONE recommendation engine together for a movie streaming platform, not a tour of separate algorithms. Ask: has anyone ever wondered how Netflix or Spotify seems to 'know' what they might like? That's exactly what we're demystifying today — no magic, just patterns in what similar people like.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down the list quickly — this is a map, not a lesson. Mention explicitly that we are deliberately NOT covering matrix factorization, SVD, ALS, or neural collaborative filtering in depth today — those are later-course territory. Today is entirely about building strong intuition for neighborhood-based collaborative filtering, plus one working, understandable engine.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learners to name a platform's recommendation feature they've personally noticed working well (or badly!) before revealing these examples. The key reframe on this slide: these platforms are not reading minds — they're pattern-matching on behaviour, which is exactly what we'll build by hand in Hour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scale concrete — a million users and 50,000 movies means personalization isn't a nice-to-have, it's the only way the platform stays usable. Ask: 'if Netflix just showed everyone the same homepage, what would happen?' (Answer: most users would never find anything relevant, and give up browsing.)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word 'ITEM' as the general umbrella term — it applies to anything a platform can recommend, not just movies. We'll use movies as our running example for the rest of the course because it's the most intuitive, but the exact same technique applies to any of these categories.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Recommendations are PREDICTIONS about possible user preferences — not certainties. Plant that seed early; it directly pre-empts Misconception 3 later (a recommendation does not guarantee the user will like the item).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vocabulary-setting slide — keep it brief. These two words (USER, ITEM) will appear constantly for the rest of the course, so make sure everyone's comfortable with them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 interact with items in many different ways — this variety matters because it directly sets up the next two slides (explicit vs. implicit feedback). Ask: 'which of these examples tells us MOST clearly what the user thinks — and which tells us the LEAST?'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clearest, most direct kind of signal — the user is TELLING us their preference. Our movie ratings dataset in Hour 2 is entirely explicit feedback (1-5 star ratings), which is why it's a good first dataset for beginners to learn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critical distinction: 'the user did not directly SAY "I like this" — but their behaviour gives us useful clues.' Most real-world recommendation data is actually implicit (few people bother to rate things, but everyone leaves behavioural traces) — flag that our course dataset uses explicit ratings for teaching simplicity, but production systems often lean heavily on implicit signals instead.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anchor slides for the whole course — the user-item matrix is the single data structure that everything else builds on. Point at the '?' for John/Movie C explicitly: that gap is exactly what we're trying to fill in. This same table appears again on the very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this sit for a moment — it's the pivot slide into collaborative filtering. Everything from here forward in the course is really just different strategies for answering this one question.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reveal the term 'Collaborative Filtering' at the very end of this slide, after the intuition has landed — this matches the course's teaching philosophy exactly (simple idea before technical term). This is THE example that recurs throughout the entire course.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directly contrasts collaborative filtering with content-based recommendation (which DOES need to understand what a movie is 'about' — genre, actors, keywords). We're deliberately not teaching content-based methods today — mention it exists, briefly, so learners know it's a different, complementary approach, not that collaborative filtering is the only technique.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user-based collaborative filtering, made concrete — 'people like you also liked...' is the plain-English summary worth writing on a whiteboard. We'll build this exact mechanic in Python in Hour 2, using cosine similarity to find users like John.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workflow is exactly what the recommend_movies() function will do in Notebook 02 — point that forward-reference out explicitly so learners recognize the code later as a direct translation of this diagram, not something new.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conceptual flip from Slide 15 — instead of comparing PEOPLE, we compare ITEMS based on which people rated them similarly. This is exactly how our item-based similarity bar chart (from the notebook) found that 'Steel Vendetta' is most similar to other Action movies — not because a human tagged them as Action, but purely from co-rating patterns.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the structural symmetry with Slide 16 — same shape, different axis (items instead of users). This parallel structure is worth pointing out explicitly; it's why the two approaches feel so similar in code, just with the matrix compared along a different dimension (rows vs. columns).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single-slide summary of the whole first half of the course — consider leaving it up a little longer while taking questions. Common question: 'which one is better?' Honest answer: it depends on the platform — item-based tends to be more stable (items don't change taste overnight the way trending user bases can), which is part of why Amazon popularized item-based filtering for e-commerce specifically.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abstract-but-friendly — the concrete mechanics (cosine similarity) come next. The word 'similarity' will map directly onto a NUMBER in the next slide and in the notebooks — a value between -1 and 1 (in practice, usually 0 to 1 for rating data), where higher means more alike.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picture: John and Mary's arrows point almost the same direction (small angle → high similarity), while David's arrow points somewhere completely different (large angle → low similarity). This is literally what sklearn's cosine_similarity() computes when we feed it rows of the user-item matrix in Hour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master workflow slide for the whole course — everything maps onto one of these eight boxes. Worth returning to a simplified version of this at the very end (Slide 29) so learners see the full circle from raw data to a ranked recommendation list.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'exclude already-seen items' rule is easy to forget but essential — ask: 'why would it be a bad idea to recommend John a movie he's already watched and rated?' This exact filtering step appears explicitly in our recommend_movies() function in Notebook 02.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simple analogy: imagine a teacher recommending 5 books to a student. Precision asks 'how many of those 5 did the student actually enjoy?' Recall asks 'out of ALL the books that student would have enjoyed, how many did we manage to suggest?' You can have high precision with low recall (a few perfect picks, but missed many other good ones) or vice versa.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math informal, as instructed — the picture does the explaining. Note the general trade-off pattern (mention only if there's time): a bigger K tends to raise recall (more chances to include relevant items) but often lowers precision (the list gets diluted with less-relevant picks).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sparsity heatmap below is from OUR OWN course dataset — 78.7% of the user-movie matrix is empty, on just 300 users and 60 movies. Emphasize: real platforms are FAR sparser than this (sometimes 99.9%+ empty), which is exactly why cold start and sparsity are such persistent, real challenges, not academic curiosities.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Quick-fire slide — five short, important corrections. If time is short, this is one of the safest slides to read briskly, since a fuller misconceptions table appears again near the end for instructor reference and the quiz.</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slide — recommendation quality only matters once it changes business outcomes. Ask: 'can anyone think of a bank or education example?' (Banking: recommending relevant financial products; Education: recommending the next course a student is likely to complete successfully.)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single-slide summary of the ENTIRE conceptual hour — consider lingering here for questions before the coding break. Every slide in Hour 1 maps to one box in this chain.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energetic transition slide. Take a 2-3 minute break here if the room needs it before diving into Hour 2's hands-on notebooks.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running this as a rapid true/false check with the class before the quiz — these five distinctions are the ones beginners misstate most often in follow-up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(for instructor use):</a:t>
            </a:r>
          </a:p>
          <a:p>
            <a:r>
              <a:t>1. A system that helps users discover items they may be interested in, based on patterns in behaviour rather than explicit rules.</a:t>
            </a:r>
          </a:p>
          <a:p>
            <a:r>
              <a:t>2. Explicit feedback is when a user directly tells us their preference (a star rating, a like/dislike). Implicit feedback is inferred from behaviour (clicks, purchases, watch history) without the user directly stating an opinion.</a:t>
            </a:r>
          </a:p>
          <a:p>
            <a:r>
              <a:t>3. A table where rows are users, columns are items, and values are ratings or interactions — missing entries represent unknown preferences.</a:t>
            </a:r>
          </a:p>
          <a:p>
            <a:r>
              <a:t>4. Using patterns in the combined behaviour of many users to make recommendations, without needing to understand item descriptions or content.</a:t>
            </a:r>
          </a:p>
          <a:p>
            <a:r>
              <a:t>5. Finding users with similar preferences to a target user, and recommending items those similar users liked that the target user hasn't seen yet.</a:t>
            </a:r>
          </a:p>
          <a:p>
            <a:r>
              <a:t>6. Finding items that tend to be liked by the same users (similar rating patterns), and recommending items similar to ones a user already likes.</a:t>
            </a:r>
          </a:p>
          <a:p>
            <a:r>
              <a:t>7. The problem of making good recommendations for new users or new items that have little or no interaction history yet.</a:t>
            </a:r>
          </a:p>
          <a:p>
            <a:r>
              <a:t>8. No. A recommendation is a PREDICTION of possible interest, not a guarantee — the user may still dislike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scikit-learn and pandas syntax in this deck (cosine_similarity, pivot_table) was checked against the official documentation during course development to ensure it reflects current, non-deprecated APIs.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05840"/>
            <a:ext cx="6400800" cy="365760"/>
          </a:xfrm>
          <a:prstGeom prst="rect">
            <a:avLst/>
          </a:prstGeom>
          <a:noFill/>
        </p:spPr>
        <p:txBody>
          <a:bodyPr wrap="square" anchor="t" lIns="0" rIns="0" tIns="0" bIns="0">
            <a:spAutoFit/>
          </a:bodyPr>
          <a:lstStyle/>
          <a:p>
            <a:pPr algn="l">
              <a:lnSpc>
                <a:spcPct val="100000"/>
              </a:lnSpc>
            </a:pPr>
            <a:r>
              <a:rPr sz="1400" b="1" i="0">
                <a:solidFill>
                  <a:srgbClr val="DDD6FE"/>
                </a:solidFill>
                <a:latin typeface="Calibri"/>
              </a:rPr>
              <a:t>BEGINNER DATA SCIENCE COURSE</a:t>
            </a:r>
          </a:p>
        </p:txBody>
      </p:sp>
      <p:sp>
        <p:nvSpPr>
          <p:cNvPr id="4" name="TextBox 3"/>
          <p:cNvSpPr txBox="1"/>
          <p:nvPr/>
        </p:nvSpPr>
        <p:spPr>
          <a:xfrm>
            <a:off x="822960" y="2011680"/>
            <a:ext cx="10607040" cy="1188720"/>
          </a:xfrm>
          <a:prstGeom prst="rect">
            <a:avLst/>
          </a:prstGeom>
          <a:noFill/>
        </p:spPr>
        <p:txBody>
          <a:bodyPr wrap="square" anchor="t" lIns="0" rIns="0" tIns="0" bIns="0">
            <a:spAutoFit/>
          </a:bodyPr>
          <a:lstStyle/>
          <a:p>
            <a:pPr algn="l">
              <a:lnSpc>
                <a:spcPct val="100000"/>
              </a:lnSpc>
            </a:pPr>
            <a:r>
              <a:rPr sz="4000" b="1" i="0">
                <a:solidFill>
                  <a:srgbClr val="FFFFFF"/>
                </a:solidFill>
                <a:latin typeface="Calibri"/>
              </a:rPr>
              <a:t>Building Collaborative Filtering Engines</a:t>
            </a:r>
          </a:p>
        </p:txBody>
      </p:sp>
      <p:sp>
        <p:nvSpPr>
          <p:cNvPr id="5" name="TextBox 4"/>
          <p:cNvSpPr txBox="1"/>
          <p:nvPr/>
        </p:nvSpPr>
        <p:spPr>
          <a:xfrm>
            <a:off x="822960" y="2880360"/>
            <a:ext cx="10515600" cy="822960"/>
          </a:xfrm>
          <a:prstGeom prst="rect">
            <a:avLst/>
          </a:prstGeom>
          <a:noFill/>
        </p:spPr>
        <p:txBody>
          <a:bodyPr wrap="square" anchor="t" lIns="0" rIns="0" tIns="0" bIns="0">
            <a:spAutoFit/>
          </a:bodyPr>
          <a:lstStyle/>
          <a:p>
            <a:pPr algn="l">
              <a:lnSpc>
                <a:spcPct val="100000"/>
              </a:lnSpc>
            </a:pPr>
            <a:r>
              <a:rPr sz="2200" b="1" i="0">
                <a:solidFill>
                  <a:srgbClr val="DDD6FE"/>
                </a:solidFill>
                <a:latin typeface="Calibri"/>
              </a:rPr>
              <a:t>Recommending What Users May Like Based on Similar Behaviour</a:t>
            </a:r>
          </a:p>
        </p:txBody>
      </p:sp>
      <p:sp>
        <p:nvSpPr>
          <p:cNvPr id="6" name="Rectangle 5"/>
          <p:cNvSpPr/>
          <p:nvPr/>
        </p:nvSpPr>
        <p:spPr>
          <a:xfrm>
            <a:off x="822960" y="3794760"/>
            <a:ext cx="1188720" cy="444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977639"/>
            <a:ext cx="9601200" cy="548640"/>
          </a:xfrm>
          <a:prstGeom prst="rect">
            <a:avLst/>
          </a:prstGeom>
          <a:noFill/>
        </p:spPr>
        <p:txBody>
          <a:bodyPr wrap="square" anchor="t" lIns="0" rIns="0" tIns="0" bIns="0">
            <a:spAutoFit/>
          </a:bodyPr>
          <a:lstStyle/>
          <a:p>
            <a:pPr algn="l">
              <a:lnSpc>
                <a:spcPct val="100000"/>
              </a:lnSpc>
            </a:pPr>
            <a:r>
              <a:rPr sz="1800" b="0" i="1">
                <a:solidFill>
                  <a:srgbClr val="E5E7EB"/>
                </a:solidFill>
                <a:latin typeface="Calibri"/>
              </a:rPr>
              <a:t>Time Series &amp; Recommender Systems</a:t>
            </a:r>
          </a:p>
        </p:txBody>
      </p:sp>
      <p:sp>
        <p:nvSpPr>
          <p:cNvPr id="8" name="Rounded Rectangle 7"/>
          <p:cNvSpPr/>
          <p:nvPr/>
        </p:nvSpPr>
        <p:spPr>
          <a:xfrm>
            <a:off x="822960" y="5166360"/>
            <a:ext cx="2377440" cy="4572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Users</a:t>
            </a:r>
          </a:p>
        </p:txBody>
      </p:sp>
      <p:sp>
        <p:nvSpPr>
          <p:cNvPr id="9" name="Rounded Rectangle 8"/>
          <p:cNvSpPr/>
          <p:nvPr/>
        </p:nvSpPr>
        <p:spPr>
          <a:xfrm>
            <a:off x="3429000" y="5166360"/>
            <a:ext cx="2377440" cy="45720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Preferences</a:t>
            </a:r>
          </a:p>
        </p:txBody>
      </p:sp>
      <p:sp>
        <p:nvSpPr>
          <p:cNvPr id="10" name="Rounded Rectangle 9"/>
          <p:cNvSpPr/>
          <p:nvPr/>
        </p:nvSpPr>
        <p:spPr>
          <a:xfrm>
            <a:off x="6035040" y="5166360"/>
            <a:ext cx="2377440" cy="457200"/>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Patterns</a:t>
            </a:r>
          </a:p>
        </p:txBody>
      </p:sp>
      <p:sp>
        <p:nvSpPr>
          <p:cNvPr id="11" name="Rounded Rectangle 10"/>
          <p:cNvSpPr/>
          <p:nvPr/>
        </p:nvSpPr>
        <p:spPr>
          <a:xfrm>
            <a:off x="8641080" y="5166360"/>
            <a:ext cx="2377440" cy="45720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Recommendations</a:t>
            </a:r>
          </a:p>
        </p:txBody>
      </p:sp>
      <p:sp>
        <p:nvSpPr>
          <p:cNvPr id="12" name="TextBox 11"/>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3" name="TextBox 12"/>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INTRODUCTION</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Learning Objectives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457200"/>
          </a:xfrm>
          <a:prstGeom prst="rect">
            <a:avLst/>
          </a:prstGeom>
          <a:noFill/>
        </p:spPr>
        <p:txBody>
          <a:bodyPr wrap="square" anchor="t" lIns="0" rIns="0" tIns="0" bIns="0">
            <a:spAutoFit/>
          </a:bodyPr>
          <a:lstStyle/>
          <a:p>
            <a:pPr algn="l">
              <a:lnSpc>
                <a:spcPct val="100000"/>
              </a:lnSpc>
            </a:pPr>
            <a:r>
              <a:rPr sz="1600" b="0" i="1">
                <a:solidFill>
                  <a:srgbClr val="6B7280"/>
                </a:solidFill>
                <a:latin typeface="Calibri"/>
              </a:rPr>
              <a:t>By the end of this session, you will be able to:</a:t>
            </a:r>
          </a:p>
        </p:txBody>
      </p:sp>
      <p:sp>
        <p:nvSpPr>
          <p:cNvPr id="8" name="TextBox 7"/>
          <p:cNvSpPr txBox="1"/>
          <p:nvPr/>
        </p:nvSpPr>
        <p:spPr>
          <a:xfrm>
            <a:off x="713232" y="1920240"/>
            <a:ext cx="5074920" cy="4114800"/>
          </a:xfrm>
          <a:prstGeom prst="rect">
            <a:avLst/>
          </a:prstGeom>
          <a:noFill/>
        </p:spPr>
        <p:txBody>
          <a:bodyPr wrap="square" anchor="t" lIns="0" rIns="0" tIns="0" bIns="0">
            <a:spAutoFit/>
          </a:bodyPr>
          <a:lstStyle/>
          <a:p>
            <a:pPr>
              <a:lnSpc>
                <a:spcPct val="112000"/>
              </a:lnSpc>
              <a:spcAft>
                <a:spcPts val="1400"/>
              </a:spcAft>
            </a:pPr>
            <a:r>
              <a:rPr sz="1700" b="0" i="0">
                <a:solidFill>
                  <a:srgbClr val="4B5563"/>
                </a:solidFill>
                <a:latin typeface="Calibri"/>
              </a:rPr>
              <a:t>•  Explain what a recommendation system is.</a:t>
            </a:r>
          </a:p>
          <a:p>
            <a:pPr>
              <a:lnSpc>
                <a:spcPct val="112000"/>
              </a:lnSpc>
              <a:spcAft>
                <a:spcPts val="1400"/>
              </a:spcAft>
            </a:pPr>
            <a:r>
              <a:rPr sz="1700" b="0" i="0">
                <a:solidFill>
                  <a:srgbClr val="4B5563"/>
                </a:solidFill>
                <a:latin typeface="Calibri"/>
              </a:rPr>
              <a:t>•  Understand user-item interactions.</a:t>
            </a:r>
          </a:p>
          <a:p>
            <a:pPr>
              <a:lnSpc>
                <a:spcPct val="112000"/>
              </a:lnSpc>
              <a:spcAft>
                <a:spcPts val="1400"/>
              </a:spcAft>
            </a:pPr>
            <a:r>
              <a:rPr sz="1700" b="0" i="0">
                <a:solidFill>
                  <a:srgbClr val="4B5563"/>
                </a:solidFill>
                <a:latin typeface="Calibri"/>
              </a:rPr>
              <a:t>•  Explain explicit and implicit feedback.</a:t>
            </a:r>
          </a:p>
          <a:p>
            <a:pPr>
              <a:lnSpc>
                <a:spcPct val="112000"/>
              </a:lnSpc>
              <a:spcAft>
                <a:spcPts val="1400"/>
              </a:spcAft>
            </a:pPr>
            <a:r>
              <a:rPr sz="1700" b="0" i="0">
                <a:solidFill>
                  <a:srgbClr val="4B5563"/>
                </a:solidFill>
                <a:latin typeface="Calibri"/>
              </a:rPr>
              <a:t>•  Understand collaborative filtering.</a:t>
            </a:r>
          </a:p>
          <a:p>
            <a:pPr>
              <a:lnSpc>
                <a:spcPct val="112000"/>
              </a:lnSpc>
              <a:spcAft>
                <a:spcPts val="1400"/>
              </a:spcAft>
            </a:pPr>
            <a:r>
              <a:rPr sz="1700" b="0" i="0">
                <a:solidFill>
                  <a:srgbClr val="4B5563"/>
                </a:solidFill>
                <a:latin typeface="Calibri"/>
              </a:rPr>
              <a:t>•  Explain user-based collaborative filtering.</a:t>
            </a:r>
          </a:p>
        </p:txBody>
      </p:sp>
      <p:sp>
        <p:nvSpPr>
          <p:cNvPr id="9" name="TextBox 8"/>
          <p:cNvSpPr txBox="1"/>
          <p:nvPr/>
        </p:nvSpPr>
        <p:spPr>
          <a:xfrm>
            <a:off x="6035040" y="1920240"/>
            <a:ext cx="5486400" cy="4114800"/>
          </a:xfrm>
          <a:prstGeom prst="rect">
            <a:avLst/>
          </a:prstGeom>
          <a:noFill/>
        </p:spPr>
        <p:txBody>
          <a:bodyPr wrap="square" anchor="t" lIns="0" rIns="0" tIns="0" bIns="0">
            <a:spAutoFit/>
          </a:bodyPr>
          <a:lstStyle/>
          <a:p>
            <a:pPr>
              <a:lnSpc>
                <a:spcPct val="112000"/>
              </a:lnSpc>
              <a:spcAft>
                <a:spcPts val="1400"/>
              </a:spcAft>
            </a:pPr>
            <a:r>
              <a:rPr sz="1700" b="0" i="0">
                <a:solidFill>
                  <a:srgbClr val="4B5563"/>
                </a:solidFill>
                <a:latin typeface="Calibri"/>
              </a:rPr>
              <a:t>•  Explain item-based collaborative filtering.</a:t>
            </a:r>
          </a:p>
          <a:p>
            <a:pPr>
              <a:lnSpc>
                <a:spcPct val="112000"/>
              </a:lnSpc>
              <a:spcAft>
                <a:spcPts val="1400"/>
              </a:spcAft>
            </a:pPr>
            <a:r>
              <a:rPr sz="1700" b="0" i="0">
                <a:solidFill>
                  <a:srgbClr val="4B5563"/>
                </a:solidFill>
                <a:latin typeface="Calibri"/>
              </a:rPr>
              <a:t>•  Understand similarity.</a:t>
            </a:r>
          </a:p>
          <a:p>
            <a:pPr>
              <a:lnSpc>
                <a:spcPct val="112000"/>
              </a:lnSpc>
              <a:spcAft>
                <a:spcPts val="1400"/>
              </a:spcAft>
            </a:pPr>
            <a:r>
              <a:rPr sz="1700" b="0" i="0">
                <a:solidFill>
                  <a:srgbClr val="4B5563"/>
                </a:solidFill>
                <a:latin typeface="Calibri"/>
              </a:rPr>
              <a:t>•  Build a simple recommendation engine in Python.</a:t>
            </a:r>
          </a:p>
          <a:p>
            <a:pPr>
              <a:lnSpc>
                <a:spcPct val="112000"/>
              </a:lnSpc>
              <a:spcAft>
                <a:spcPts val="1400"/>
              </a:spcAft>
            </a:pPr>
            <a:r>
              <a:rPr sz="1700" b="0" i="0">
                <a:solidFill>
                  <a:srgbClr val="4B5563"/>
                </a:solidFill>
                <a:latin typeface="Calibri"/>
              </a:rPr>
              <a:t>•  Generate recommendations.</a:t>
            </a:r>
          </a:p>
          <a:p>
            <a:pPr>
              <a:lnSpc>
                <a:spcPct val="112000"/>
              </a:lnSpc>
              <a:spcAft>
                <a:spcPts val="1400"/>
              </a:spcAft>
            </a:pPr>
            <a:r>
              <a:rPr sz="1700" b="0" i="0">
                <a:solidFill>
                  <a:srgbClr val="4B5563"/>
                </a:solidFill>
                <a:latin typeface="Calibri"/>
              </a:rPr>
              <a:t>•  Evaluate basic recommendation results.</a:t>
            </a:r>
          </a:p>
        </p:txBody>
      </p:sp>
      <p:sp>
        <p:nvSpPr>
          <p:cNvPr id="10" name="TextBox 9"/>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1" name="TextBox 10"/>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2 · THE REAL PROBLEM</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Why Do We Need Recommendation Systems?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3383280" cy="548640"/>
          </a:xfrm>
          <a:prstGeom prst="roundRect">
            <a:avLst>
              <a:gd name="adj" fmla="val 50000"/>
            </a:avLst>
          </a:prstGeom>
          <a:solidFill>
            <a:srgbClr val="E9DD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5B21B6"/>
                </a:solidFill>
                <a:latin typeface="Calibri"/>
              </a:rPr>
              <a:t>Netflix recommending movies</a:t>
            </a:r>
          </a:p>
        </p:txBody>
      </p:sp>
      <p:sp>
        <p:nvSpPr>
          <p:cNvPr id="8" name="Rounded Rectangle 7"/>
          <p:cNvSpPr/>
          <p:nvPr/>
        </p:nvSpPr>
        <p:spPr>
          <a:xfrm>
            <a:off x="4325112" y="1737360"/>
            <a:ext cx="3383280" cy="548640"/>
          </a:xfrm>
          <a:prstGeom prst="roundRect">
            <a:avLst>
              <a:gd name="adj" fmla="val 50000"/>
            </a:avLst>
          </a:prstGeom>
          <a:solidFill>
            <a:srgbClr val="E9DD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5B21B6"/>
                </a:solidFill>
                <a:latin typeface="Calibri"/>
              </a:rPr>
              <a:t>Spotify recommending songs</a:t>
            </a:r>
          </a:p>
        </p:txBody>
      </p:sp>
      <p:sp>
        <p:nvSpPr>
          <p:cNvPr id="9" name="Rounded Rectangle 8"/>
          <p:cNvSpPr/>
          <p:nvPr/>
        </p:nvSpPr>
        <p:spPr>
          <a:xfrm>
            <a:off x="7936992" y="1737360"/>
            <a:ext cx="3383280" cy="548640"/>
          </a:xfrm>
          <a:prstGeom prst="roundRect">
            <a:avLst>
              <a:gd name="adj" fmla="val 50000"/>
            </a:avLst>
          </a:prstGeom>
          <a:solidFill>
            <a:srgbClr val="E9DD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5B21B6"/>
                </a:solidFill>
                <a:latin typeface="Calibri"/>
              </a:rPr>
              <a:t>Amazon recommending products</a:t>
            </a:r>
          </a:p>
        </p:txBody>
      </p:sp>
      <p:sp>
        <p:nvSpPr>
          <p:cNvPr id="10" name="Rounded Rectangle 9"/>
          <p:cNvSpPr/>
          <p:nvPr/>
        </p:nvSpPr>
        <p:spPr>
          <a:xfrm>
            <a:off x="713232" y="2514600"/>
            <a:ext cx="3383280" cy="548640"/>
          </a:xfrm>
          <a:prstGeom prst="roundRect">
            <a:avLst>
              <a:gd name="adj" fmla="val 50000"/>
            </a:avLst>
          </a:prstGeom>
          <a:solidFill>
            <a:srgbClr val="E9DD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5B21B6"/>
                </a:solidFill>
                <a:latin typeface="Calibri"/>
              </a:rPr>
              <a:t>YouTube recommending videos</a:t>
            </a:r>
          </a:p>
        </p:txBody>
      </p:sp>
      <p:sp>
        <p:nvSpPr>
          <p:cNvPr id="11" name="Rounded Rectangle 10"/>
          <p:cNvSpPr/>
          <p:nvPr/>
        </p:nvSpPr>
        <p:spPr>
          <a:xfrm>
            <a:off x="4325112" y="2514600"/>
            <a:ext cx="3383280" cy="548640"/>
          </a:xfrm>
          <a:prstGeom prst="roundRect">
            <a:avLst>
              <a:gd name="adj" fmla="val 50000"/>
            </a:avLst>
          </a:prstGeom>
          <a:solidFill>
            <a:srgbClr val="E9DD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5B21B6"/>
                </a:solidFill>
                <a:latin typeface="Calibri"/>
              </a:rPr>
              <a:t>Online stores recommending products</a:t>
            </a:r>
          </a:p>
        </p:txBody>
      </p:sp>
      <p:sp>
        <p:nvSpPr>
          <p:cNvPr id="12" name="TextBox 11"/>
          <p:cNvSpPr txBox="1"/>
          <p:nvPr/>
        </p:nvSpPr>
        <p:spPr>
          <a:xfrm>
            <a:off x="713232" y="3566160"/>
            <a:ext cx="10771632" cy="548640"/>
          </a:xfrm>
          <a:prstGeom prst="rect">
            <a:avLst/>
          </a:prstGeom>
          <a:noFill/>
        </p:spPr>
        <p:txBody>
          <a:bodyPr wrap="square" anchor="t" lIns="0" rIns="0" tIns="0" bIns="0">
            <a:spAutoFit/>
          </a:bodyPr>
          <a:lstStyle/>
          <a:p>
            <a:pPr algn="l">
              <a:lnSpc>
                <a:spcPct val="100000"/>
              </a:lnSpc>
            </a:pPr>
            <a:r>
              <a:rPr sz="2000" b="1" i="0">
                <a:solidFill>
                  <a:srgbClr val="1F2937"/>
                </a:solidFill>
                <a:latin typeface="Calibri"/>
              </a:rPr>
              <a:t>How does Netflix know what movie you may like?</a:t>
            </a:r>
          </a:p>
        </p:txBody>
      </p:sp>
      <p:sp>
        <p:nvSpPr>
          <p:cNvPr id="13" name="TextBox 12"/>
          <p:cNvSpPr txBox="1"/>
          <p:nvPr/>
        </p:nvSpPr>
        <p:spPr>
          <a:xfrm>
            <a:off x="713232" y="4297680"/>
            <a:ext cx="10771632" cy="914400"/>
          </a:xfrm>
          <a:prstGeom prst="rect">
            <a:avLst/>
          </a:prstGeom>
          <a:noFill/>
        </p:spPr>
        <p:txBody>
          <a:bodyPr wrap="square" anchor="t" lIns="0" rIns="0" tIns="0" bIns="0">
            <a:spAutoFit/>
          </a:bodyPr>
          <a:lstStyle/>
          <a:p>
            <a:pPr algn="l">
              <a:lnSpc>
                <a:spcPct val="100000"/>
              </a:lnSpc>
            </a:pPr>
            <a:r>
              <a:rPr sz="1800" b="0" i="1">
                <a:solidFill>
                  <a:srgbClr val="4B5563"/>
                </a:solidFill>
                <a:latin typeface="Calibri"/>
              </a:rPr>
              <a:t>It does not always know exactly. It learns from patterns in user behaviour.</a:t>
            </a:r>
          </a:p>
        </p:txBody>
      </p:sp>
      <p:sp>
        <p:nvSpPr>
          <p:cNvPr id="14" name="TextBox 13"/>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5" name="TextBox 14"/>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2 · THE REAL PROBLEM</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The Movie Streaming Problem</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4</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3429000" cy="155448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2200" b="1" i="0">
                <a:solidFill>
                  <a:srgbClr val="FFFFFF"/>
                </a:solidFill>
                <a:latin typeface="Calibri"/>
              </a:rPr>
              <a:t>1,000,000</a:t>
            </a:r>
          </a:p>
          <a:p>
            <a:pPr algn="ctr"/>
            <a:r>
              <a:rPr sz="2200" b="1" i="0">
                <a:solidFill>
                  <a:srgbClr val="FFFFFF"/>
                </a:solidFill>
                <a:latin typeface="Calibri"/>
              </a:rPr>
              <a:t>users</a:t>
            </a:r>
          </a:p>
        </p:txBody>
      </p:sp>
      <p:sp>
        <p:nvSpPr>
          <p:cNvPr id="8" name="Rounded Rectangle 7"/>
          <p:cNvSpPr/>
          <p:nvPr/>
        </p:nvSpPr>
        <p:spPr>
          <a:xfrm>
            <a:off x="4370832" y="1737360"/>
            <a:ext cx="3429000" cy="1554480"/>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2200" b="1" i="0">
                <a:solidFill>
                  <a:srgbClr val="FFFFFF"/>
                </a:solidFill>
                <a:latin typeface="Calibri"/>
              </a:rPr>
              <a:t>50,000</a:t>
            </a:r>
          </a:p>
          <a:p>
            <a:pPr algn="ctr"/>
            <a:r>
              <a:rPr sz="2200" b="1" i="0">
                <a:solidFill>
                  <a:srgbClr val="FFFFFF"/>
                </a:solidFill>
                <a:latin typeface="Calibri"/>
              </a:rPr>
              <a:t>movies</a:t>
            </a:r>
          </a:p>
        </p:txBody>
      </p:sp>
      <p:sp>
        <p:nvSpPr>
          <p:cNvPr id="9" name="Rounded Rectangle 8"/>
          <p:cNvSpPr/>
          <p:nvPr/>
        </p:nvSpPr>
        <p:spPr>
          <a:xfrm>
            <a:off x="7818120" y="1737360"/>
            <a:ext cx="3657600" cy="1554480"/>
          </a:xfrm>
          <a:prstGeom prst="roundRect">
            <a:avLst>
              <a:gd name="adj" fmla="val 8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2200" b="1" i="0">
                <a:solidFill>
                  <a:srgbClr val="FFFFFF"/>
                </a:solidFill>
                <a:latin typeface="Calibri"/>
              </a:rPr>
              <a:t>Millions of</a:t>
            </a:r>
          </a:p>
          <a:p>
            <a:pPr algn="ctr"/>
            <a:r>
              <a:rPr sz="2200" b="1" i="0">
                <a:solidFill>
                  <a:srgbClr val="FFFFFF"/>
                </a:solidFill>
                <a:latin typeface="Calibri"/>
              </a:rPr>
              <a:t>interactions</a:t>
            </a:r>
          </a:p>
        </p:txBody>
      </p:sp>
      <p:sp>
        <p:nvSpPr>
          <p:cNvPr id="10" name="TextBox 9"/>
          <p:cNvSpPr txBox="1"/>
          <p:nvPr/>
        </p:nvSpPr>
        <p:spPr>
          <a:xfrm>
            <a:off x="713232" y="3749039"/>
            <a:ext cx="10771632" cy="548640"/>
          </a:xfrm>
          <a:prstGeom prst="rect">
            <a:avLst/>
          </a:prstGeom>
          <a:noFill/>
        </p:spPr>
        <p:txBody>
          <a:bodyPr wrap="square" anchor="t" lIns="0" rIns="0" tIns="0" bIns="0">
            <a:spAutoFit/>
          </a:bodyPr>
          <a:lstStyle/>
          <a:p>
            <a:pPr algn="l">
              <a:lnSpc>
                <a:spcPct val="100000"/>
              </a:lnSpc>
            </a:pPr>
            <a:r>
              <a:rPr sz="1900" b="1" i="0">
                <a:solidFill>
                  <a:srgbClr val="1F2937"/>
                </a:solidFill>
                <a:latin typeface="Calibri"/>
              </a:rPr>
              <a:t>How can we decide what movie to recommend to each user?</a:t>
            </a:r>
          </a:p>
        </p:txBody>
      </p:sp>
      <p:sp>
        <p:nvSpPr>
          <p:cNvPr id="11" name="Rounded Rectangle 10"/>
          <p:cNvSpPr/>
          <p:nvPr/>
        </p:nvSpPr>
        <p:spPr>
          <a:xfrm>
            <a:off x="2377440" y="4754880"/>
            <a:ext cx="6949440" cy="594360"/>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50" b="1" i="0">
                <a:solidFill>
                  <a:srgbClr val="FFFFFF"/>
                </a:solidFill>
                <a:latin typeface="Calibri"/>
              </a:rPr>
              <a:t>Showing every movie to every user is not practical</a:t>
            </a:r>
          </a:p>
        </p:txBody>
      </p:sp>
      <p:sp>
        <p:nvSpPr>
          <p:cNvPr id="12" name="TextBox 11"/>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3" name="TextBox 12"/>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3 · WHAT IS A RECOMMENDER?</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What Is a Recommender System?</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5</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737360"/>
            <a:ext cx="10771632" cy="822960"/>
          </a:xfrm>
          <a:prstGeom prst="rect">
            <a:avLst/>
          </a:prstGeom>
          <a:noFill/>
        </p:spPr>
        <p:txBody>
          <a:bodyPr wrap="square" anchor="t" lIns="0" rIns="0" tIns="0" bIns="0">
            <a:spAutoFit/>
          </a:bodyPr>
          <a:lstStyle/>
          <a:p>
            <a:pPr algn="l">
              <a:lnSpc>
                <a:spcPct val="100000"/>
              </a:lnSpc>
            </a:pPr>
            <a:r>
              <a:rPr sz="2200" b="1" i="0">
                <a:solidFill>
                  <a:srgbClr val="1F2937"/>
                </a:solidFill>
                <a:latin typeface="Calibri"/>
              </a:rPr>
              <a:t>“A recommender system helps users discover items</a:t>
            </a:r>
          </a:p>
          <a:p>
            <a:pPr algn="l">
              <a:lnSpc>
                <a:spcPct val="100000"/>
              </a:lnSpc>
            </a:pPr>
            <a:r>
              <a:rPr sz="2200" b="1" i="0">
                <a:solidFill>
                  <a:srgbClr val="1F2937"/>
                </a:solidFill>
                <a:latin typeface="Calibri"/>
              </a:rPr>
              <a:t>they may be interested in.”</a:t>
            </a:r>
          </a:p>
        </p:txBody>
      </p:sp>
      <p:sp>
        <p:nvSpPr>
          <p:cNvPr id="8" name="Rounded Rectangle 7"/>
          <p:cNvSpPr/>
          <p:nvPr/>
        </p:nvSpPr>
        <p:spPr>
          <a:xfrm>
            <a:off x="713232" y="3291840"/>
            <a:ext cx="2514600" cy="50292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Movies</a:t>
            </a:r>
          </a:p>
        </p:txBody>
      </p:sp>
      <p:sp>
        <p:nvSpPr>
          <p:cNvPr id="9" name="Rounded Rectangle 8"/>
          <p:cNvSpPr/>
          <p:nvPr/>
        </p:nvSpPr>
        <p:spPr>
          <a:xfrm>
            <a:off x="3410712" y="3291840"/>
            <a:ext cx="2514600" cy="50292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Songs</a:t>
            </a:r>
          </a:p>
        </p:txBody>
      </p:sp>
      <p:sp>
        <p:nvSpPr>
          <p:cNvPr id="10" name="Rounded Rectangle 9"/>
          <p:cNvSpPr/>
          <p:nvPr/>
        </p:nvSpPr>
        <p:spPr>
          <a:xfrm>
            <a:off x="6108192" y="3291840"/>
            <a:ext cx="2514600" cy="50292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Products</a:t>
            </a:r>
          </a:p>
        </p:txBody>
      </p:sp>
      <p:sp>
        <p:nvSpPr>
          <p:cNvPr id="11" name="Rounded Rectangle 10"/>
          <p:cNvSpPr/>
          <p:nvPr/>
        </p:nvSpPr>
        <p:spPr>
          <a:xfrm>
            <a:off x="8805672" y="3291840"/>
            <a:ext cx="2514600" cy="50292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Books</a:t>
            </a:r>
          </a:p>
        </p:txBody>
      </p:sp>
      <p:sp>
        <p:nvSpPr>
          <p:cNvPr id="12" name="Rounded Rectangle 11"/>
          <p:cNvSpPr/>
          <p:nvPr/>
        </p:nvSpPr>
        <p:spPr>
          <a:xfrm>
            <a:off x="713232" y="3977640"/>
            <a:ext cx="2514600" cy="50292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Courses</a:t>
            </a:r>
          </a:p>
        </p:txBody>
      </p:sp>
      <p:sp>
        <p:nvSpPr>
          <p:cNvPr id="13" name="Rounded Rectangle 12"/>
          <p:cNvSpPr/>
          <p:nvPr/>
        </p:nvSpPr>
        <p:spPr>
          <a:xfrm>
            <a:off x="3410712" y="3977640"/>
            <a:ext cx="2514600" cy="50292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Jobs</a:t>
            </a:r>
          </a:p>
        </p:txBody>
      </p:sp>
      <p:sp>
        <p:nvSpPr>
          <p:cNvPr id="14" name="Rounded Rectangle 13"/>
          <p:cNvSpPr/>
          <p:nvPr/>
        </p:nvSpPr>
        <p:spPr>
          <a:xfrm>
            <a:off x="6108192" y="3977640"/>
            <a:ext cx="2514600" cy="50292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News Articles</a:t>
            </a:r>
          </a:p>
        </p:txBody>
      </p:sp>
      <p:sp>
        <p:nvSpPr>
          <p:cNvPr id="15" name="TextBox 14"/>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6" name="TextBox 15"/>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3 · WHAT IS A RECOMMENDER?</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The Basic Idea</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6</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26967" y="1417320"/>
            <a:ext cx="493776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User</a:t>
            </a:r>
          </a:p>
        </p:txBody>
      </p:sp>
      <p:cxnSp>
        <p:nvCxnSpPr>
          <p:cNvPr id="8" name="Connector 7"/>
          <p:cNvCxnSpPr/>
          <p:nvPr/>
        </p:nvCxnSpPr>
        <p:spPr>
          <a:xfrm>
            <a:off x="6095847" y="2009648"/>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26967" y="2221992"/>
            <a:ext cx="493776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Past Behaviour</a:t>
            </a:r>
          </a:p>
        </p:txBody>
      </p:sp>
      <p:cxnSp>
        <p:nvCxnSpPr>
          <p:cNvPr id="10" name="Connector 9"/>
          <p:cNvCxnSpPr/>
          <p:nvPr/>
        </p:nvCxnSpPr>
        <p:spPr>
          <a:xfrm>
            <a:off x="6095847" y="2814320"/>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26967" y="3026664"/>
            <a:ext cx="493776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Find Patterns</a:t>
            </a:r>
          </a:p>
        </p:txBody>
      </p:sp>
      <p:cxnSp>
        <p:nvCxnSpPr>
          <p:cNvPr id="12" name="Connector 11"/>
          <p:cNvCxnSpPr/>
          <p:nvPr/>
        </p:nvCxnSpPr>
        <p:spPr>
          <a:xfrm>
            <a:off x="6095847" y="3618992"/>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626967" y="3831336"/>
            <a:ext cx="493776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Predict Interest</a:t>
            </a:r>
          </a:p>
        </p:txBody>
      </p:sp>
      <p:cxnSp>
        <p:nvCxnSpPr>
          <p:cNvPr id="14" name="Connector 13"/>
          <p:cNvCxnSpPr/>
          <p:nvPr/>
        </p:nvCxnSpPr>
        <p:spPr>
          <a:xfrm>
            <a:off x="6095847" y="4423664"/>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626967" y="4636008"/>
            <a:ext cx="493776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Recommend Item</a:t>
            </a:r>
          </a:p>
        </p:txBody>
      </p:sp>
      <p:sp>
        <p:nvSpPr>
          <p:cNvPr id="16" name="TextBox 15"/>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7" name="TextBox 16"/>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USER-ITEM INTERACTIONS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Users and Items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7</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5120640" cy="201168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700" b="1" i="0">
                <a:solidFill>
                  <a:srgbClr val="FFFFFF"/>
                </a:solidFill>
                <a:latin typeface="Calibri"/>
              </a:rPr>
              <a:t>USER</a:t>
            </a:r>
          </a:p>
          <a:p>
            <a:pPr algn="ctr"/>
            <a:r>
              <a:rPr sz="1700" b="1" i="0">
                <a:solidFill>
                  <a:srgbClr val="FFFFFF"/>
                </a:solidFill>
                <a:latin typeface="Calibri"/>
              </a:rPr>
              <a:t/>
            </a:r>
          </a:p>
          <a:p>
            <a:pPr algn="ctr"/>
            <a:r>
              <a:rPr sz="1700" b="1" i="0">
                <a:solidFill>
                  <a:srgbClr val="FFFFFF"/>
                </a:solidFill>
                <a:latin typeface="Calibri"/>
              </a:rPr>
              <a:t>A person interacting</a:t>
            </a:r>
          </a:p>
          <a:p>
            <a:pPr algn="ctr"/>
            <a:r>
              <a:rPr sz="1700" b="1" i="0">
                <a:solidFill>
                  <a:srgbClr val="FFFFFF"/>
                </a:solidFill>
                <a:latin typeface="Calibri"/>
              </a:rPr>
              <a:t>with the system.</a:t>
            </a:r>
          </a:p>
          <a:p>
            <a:pPr algn="ctr"/>
            <a:r>
              <a:rPr sz="1700" b="1" i="0">
                <a:solidFill>
                  <a:srgbClr val="FFFFFF"/>
                </a:solidFill>
                <a:latin typeface="Calibri"/>
              </a:rPr>
              <a:t/>
            </a:r>
          </a:p>
          <a:p>
            <a:pPr algn="ctr"/>
            <a:r>
              <a:rPr sz="1700" b="1" i="0">
                <a:solidFill>
                  <a:srgbClr val="FFFFFF"/>
                </a:solidFill>
                <a:latin typeface="Calibri"/>
              </a:rPr>
              <a:t>e.g. John</a:t>
            </a:r>
          </a:p>
        </p:txBody>
      </p:sp>
      <p:sp>
        <p:nvSpPr>
          <p:cNvPr id="8" name="Rounded Rectangle 7"/>
          <p:cNvSpPr/>
          <p:nvPr/>
        </p:nvSpPr>
        <p:spPr>
          <a:xfrm>
            <a:off x="6263640" y="1828800"/>
            <a:ext cx="5120640" cy="2011680"/>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700" b="1" i="0">
                <a:solidFill>
                  <a:srgbClr val="FFFFFF"/>
                </a:solidFill>
                <a:latin typeface="Calibri"/>
              </a:rPr>
              <a:t>ITEM</a:t>
            </a:r>
          </a:p>
          <a:p>
            <a:pPr algn="ctr"/>
            <a:r>
              <a:rPr sz="1700" b="1" i="0">
                <a:solidFill>
                  <a:srgbClr val="FFFFFF"/>
                </a:solidFill>
                <a:latin typeface="Calibri"/>
              </a:rPr>
              <a:t/>
            </a:r>
          </a:p>
          <a:p>
            <a:pPr algn="ctr"/>
            <a:r>
              <a:rPr sz="1700" b="1" i="0">
                <a:solidFill>
                  <a:srgbClr val="FFFFFF"/>
                </a:solidFill>
                <a:latin typeface="Calibri"/>
              </a:rPr>
              <a:t>Something the system</a:t>
            </a:r>
          </a:p>
          <a:p>
            <a:pPr algn="ctr"/>
            <a:r>
              <a:rPr sz="1700" b="1" i="0">
                <a:solidFill>
                  <a:srgbClr val="FFFFFF"/>
                </a:solidFill>
                <a:latin typeface="Calibri"/>
              </a:rPr>
              <a:t>can recommend.</a:t>
            </a:r>
          </a:p>
          <a:p>
            <a:pPr algn="ctr"/>
            <a:r>
              <a:rPr sz="1700" b="1" i="0">
                <a:solidFill>
                  <a:srgbClr val="FFFFFF"/>
                </a:solidFill>
                <a:latin typeface="Calibri"/>
              </a:rPr>
              <a:t/>
            </a:r>
          </a:p>
          <a:p>
            <a:pPr algn="ctr"/>
            <a:r>
              <a:rPr sz="1700" b="1" i="0">
                <a:solidFill>
                  <a:srgbClr val="FFFFFF"/>
                </a:solidFill>
                <a:latin typeface="Calibri"/>
              </a:rPr>
              <a:t>e.g. Movie A, B, C, D</a:t>
            </a:r>
          </a:p>
        </p:txBody>
      </p:sp>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USER-ITEM INTERACTIONS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What Is an Interaction?</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8</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3377184" cy="914400"/>
          </a:xfrm>
          <a:prstGeom prst="roundRect">
            <a:avLst>
              <a:gd name="adj" fmla="val 16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User</a:t>
            </a:r>
          </a:p>
        </p:txBody>
      </p:sp>
      <p:cxnSp>
        <p:nvCxnSpPr>
          <p:cNvPr id="8" name="Connector 7"/>
          <p:cNvCxnSpPr/>
          <p:nvPr/>
        </p:nvCxnSpPr>
        <p:spPr>
          <a:xfrm>
            <a:off x="4115816" y="219456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10456" y="1737360"/>
            <a:ext cx="3377184" cy="914400"/>
          </a:xfrm>
          <a:prstGeom prst="roundRect">
            <a:avLst>
              <a:gd name="adj" fmla="val 16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Interaction</a:t>
            </a:r>
          </a:p>
        </p:txBody>
      </p:sp>
      <p:cxnSp>
        <p:nvCxnSpPr>
          <p:cNvPr id="10" name="Connector 9"/>
          <p:cNvCxnSpPr/>
          <p:nvPr/>
        </p:nvCxnSpPr>
        <p:spPr>
          <a:xfrm>
            <a:off x="7813040" y="219456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107680" y="1737360"/>
            <a:ext cx="3377184" cy="914400"/>
          </a:xfrm>
          <a:prstGeom prst="roundRect">
            <a:avLst>
              <a:gd name="adj" fmla="val 16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Item</a:t>
            </a:r>
          </a:p>
        </p:txBody>
      </p:sp>
      <p:sp>
        <p:nvSpPr>
          <p:cNvPr id="12" name="TextBox 11"/>
          <p:cNvSpPr txBox="1"/>
          <p:nvPr/>
        </p:nvSpPr>
        <p:spPr>
          <a:xfrm>
            <a:off x="713232" y="3017520"/>
            <a:ext cx="10771632" cy="365760"/>
          </a:xfrm>
          <a:prstGeom prst="rect">
            <a:avLst/>
          </a:prstGeom>
          <a:noFill/>
        </p:spPr>
        <p:txBody>
          <a:bodyPr wrap="square" anchor="t" lIns="0" rIns="0" tIns="0" bIns="0">
            <a:spAutoFit/>
          </a:bodyPr>
          <a:lstStyle/>
          <a:p>
            <a:pPr algn="l">
              <a:lnSpc>
                <a:spcPct val="100000"/>
              </a:lnSpc>
            </a:pPr>
            <a:r>
              <a:rPr sz="1500" b="1" i="0">
                <a:solidFill>
                  <a:srgbClr val="6B7280"/>
                </a:solidFill>
                <a:latin typeface="Calibri"/>
              </a:rPr>
              <a:t>Examples of interactions:</a:t>
            </a:r>
          </a:p>
        </p:txBody>
      </p:sp>
      <p:sp>
        <p:nvSpPr>
          <p:cNvPr id="13" name="TextBox 12"/>
          <p:cNvSpPr txBox="1"/>
          <p:nvPr/>
        </p:nvSpPr>
        <p:spPr>
          <a:xfrm>
            <a:off x="713232" y="3429000"/>
            <a:ext cx="10771632" cy="228600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Watching a movie</a:t>
            </a:r>
          </a:p>
          <a:p>
            <a:pPr>
              <a:lnSpc>
                <a:spcPct val="112000"/>
              </a:lnSpc>
              <a:spcAft>
                <a:spcPts val="1000"/>
              </a:spcAft>
            </a:pPr>
            <a:r>
              <a:rPr sz="1650" b="0" i="0">
                <a:solidFill>
                  <a:srgbClr val="4B5563"/>
                </a:solidFill>
                <a:latin typeface="Calibri"/>
              </a:rPr>
              <a:t>•  Rating a movie</a:t>
            </a:r>
          </a:p>
          <a:p>
            <a:pPr>
              <a:lnSpc>
                <a:spcPct val="112000"/>
              </a:lnSpc>
              <a:spcAft>
                <a:spcPts val="1000"/>
              </a:spcAft>
            </a:pPr>
            <a:r>
              <a:rPr sz="1650" b="0" i="0">
                <a:solidFill>
                  <a:srgbClr val="4B5563"/>
                </a:solidFill>
                <a:latin typeface="Calibri"/>
              </a:rPr>
              <a:t>•  Buying a product</a:t>
            </a:r>
          </a:p>
          <a:p>
            <a:pPr>
              <a:lnSpc>
                <a:spcPct val="112000"/>
              </a:lnSpc>
              <a:spcAft>
                <a:spcPts val="1000"/>
              </a:spcAft>
            </a:pPr>
            <a:r>
              <a:rPr sz="1650" b="0" i="0">
                <a:solidFill>
                  <a:srgbClr val="4B5563"/>
                </a:solidFill>
                <a:latin typeface="Calibri"/>
              </a:rPr>
              <a:t>•  Clicking a video</a:t>
            </a:r>
          </a:p>
          <a:p>
            <a:pPr>
              <a:lnSpc>
                <a:spcPct val="112000"/>
              </a:lnSpc>
              <a:spcAft>
                <a:spcPts val="1000"/>
              </a:spcAft>
            </a:pPr>
            <a:r>
              <a:rPr sz="1650" b="0" i="0">
                <a:solidFill>
                  <a:srgbClr val="4B5563"/>
                </a:solidFill>
                <a:latin typeface="Calibri"/>
              </a:rPr>
              <a:t>•  Listening to a song</a:t>
            </a:r>
          </a:p>
          <a:p>
            <a:pPr>
              <a:lnSpc>
                <a:spcPct val="112000"/>
              </a:lnSpc>
              <a:spcAft>
                <a:spcPts val="1000"/>
              </a:spcAft>
            </a:pPr>
            <a:r>
              <a:rPr sz="1650" b="0" i="0">
                <a:solidFill>
                  <a:srgbClr val="4B5563"/>
                </a:solidFill>
                <a:latin typeface="Calibri"/>
              </a:rPr>
              <a:t>•  Adding a product to a cart</a:t>
            </a:r>
          </a:p>
        </p:txBody>
      </p:sp>
      <p:sp>
        <p:nvSpPr>
          <p:cNvPr id="14" name="TextBox 13"/>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5" name="TextBox 14"/>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5 · FEEDBACK TYPES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Explicit Feedback</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9</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737360"/>
            <a:ext cx="10771632" cy="731520"/>
          </a:xfrm>
          <a:prstGeom prst="rect">
            <a:avLst/>
          </a:prstGeom>
          <a:noFill/>
        </p:spPr>
        <p:txBody>
          <a:bodyPr wrap="square" anchor="t" lIns="0" rIns="0" tIns="0" bIns="0">
            <a:spAutoFit/>
          </a:bodyPr>
          <a:lstStyle/>
          <a:p>
            <a:pPr algn="l">
              <a:lnSpc>
                <a:spcPct val="100000"/>
              </a:lnSpc>
            </a:pPr>
            <a:r>
              <a:rPr sz="2000" b="1" i="0">
                <a:solidFill>
                  <a:srgbClr val="1F2937"/>
                </a:solidFill>
                <a:latin typeface="Calibri"/>
              </a:rPr>
              <a:t>“Explicit feedback happens when a user directly</a:t>
            </a:r>
          </a:p>
          <a:p>
            <a:pPr algn="l">
              <a:lnSpc>
                <a:spcPct val="100000"/>
              </a:lnSpc>
            </a:pPr>
            <a:r>
              <a:rPr sz="2000" b="1" i="0">
                <a:solidFill>
                  <a:srgbClr val="1F2937"/>
                </a:solidFill>
                <a:latin typeface="Calibri"/>
              </a:rPr>
              <a:t>tells us what they think.”</a:t>
            </a:r>
          </a:p>
        </p:txBody>
      </p:sp>
      <p:sp>
        <p:nvSpPr>
          <p:cNvPr id="8" name="TextBox 7"/>
          <p:cNvSpPr txBox="1"/>
          <p:nvPr/>
        </p:nvSpPr>
        <p:spPr>
          <a:xfrm>
            <a:off x="713232" y="2926080"/>
            <a:ext cx="10771632" cy="1280160"/>
          </a:xfrm>
          <a:prstGeom prst="rect">
            <a:avLst/>
          </a:prstGeom>
          <a:noFill/>
        </p:spPr>
        <p:txBody>
          <a:bodyPr wrap="square" anchor="t" lIns="0" rIns="0" tIns="0" bIns="0">
            <a:spAutoFit/>
          </a:bodyPr>
          <a:lstStyle/>
          <a:p>
            <a:pPr>
              <a:lnSpc>
                <a:spcPct val="112000"/>
              </a:lnSpc>
              <a:spcAft>
                <a:spcPts val="1000"/>
              </a:spcAft>
            </a:pPr>
            <a:r>
              <a:rPr sz="1700" b="0" i="0">
                <a:solidFill>
                  <a:srgbClr val="4B5563"/>
                </a:solidFill>
                <a:latin typeface="Calibri"/>
              </a:rPr>
              <a:t>•  Movie rating: 5 stars</a:t>
            </a:r>
          </a:p>
          <a:p>
            <a:pPr>
              <a:lnSpc>
                <a:spcPct val="112000"/>
              </a:lnSpc>
              <a:spcAft>
                <a:spcPts val="1000"/>
              </a:spcAft>
            </a:pPr>
            <a:r>
              <a:rPr sz="1700" b="0" i="0">
                <a:solidFill>
                  <a:srgbClr val="4B5563"/>
                </a:solidFill>
                <a:latin typeface="Calibri"/>
              </a:rPr>
              <a:t>•  Product rating: 4 stars</a:t>
            </a:r>
          </a:p>
          <a:p>
            <a:pPr>
              <a:lnSpc>
                <a:spcPct val="112000"/>
              </a:lnSpc>
              <a:spcAft>
                <a:spcPts val="1000"/>
              </a:spcAft>
            </a:pPr>
            <a:r>
              <a:rPr sz="1700" b="0" i="0">
                <a:solidFill>
                  <a:srgbClr val="4B5563"/>
                </a:solidFill>
                <a:latin typeface="Calibri"/>
              </a:rPr>
              <a:t>•  Like / dislike</a:t>
            </a:r>
          </a:p>
        </p:txBody>
      </p:sp>
      <p:sp>
        <p:nvSpPr>
          <p:cNvPr id="9" name="Rounded Rectangle 8"/>
          <p:cNvSpPr/>
          <p:nvPr/>
        </p:nvSpPr>
        <p:spPr>
          <a:xfrm>
            <a:off x="3108960" y="4297680"/>
            <a:ext cx="6309360" cy="822960"/>
          </a:xfrm>
          <a:prstGeom prst="roundRect">
            <a:avLst>
              <a:gd name="adj" fmla="val 12000"/>
            </a:avLst>
          </a:prstGeom>
          <a:solidFill>
            <a:srgbClr val="F7F9F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900" b="1" i="0">
                <a:solidFill>
                  <a:srgbClr val="1F2937"/>
                </a:solidFill>
                <a:latin typeface="Calibri"/>
              </a:rPr>
              <a:t>John  →  Movie A  →  ★★★★★</a:t>
            </a:r>
          </a:p>
        </p:txBody>
      </p:sp>
      <p:sp>
        <p:nvSpPr>
          <p:cNvPr id="10" name="TextBox 9"/>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1" name="TextBox 10"/>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5 · FEEDBACK TYPES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Implicit Feedback</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10</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737360"/>
            <a:ext cx="10771632" cy="548640"/>
          </a:xfrm>
          <a:prstGeom prst="rect">
            <a:avLst/>
          </a:prstGeom>
          <a:noFill/>
        </p:spPr>
        <p:txBody>
          <a:bodyPr wrap="square" anchor="t" lIns="0" rIns="0" tIns="0" bIns="0">
            <a:spAutoFit/>
          </a:bodyPr>
          <a:lstStyle/>
          <a:p>
            <a:pPr algn="l">
              <a:lnSpc>
                <a:spcPct val="100000"/>
              </a:lnSpc>
            </a:pPr>
            <a:r>
              <a:rPr sz="2000" b="1" i="0">
                <a:solidFill>
                  <a:srgbClr val="1F2937"/>
                </a:solidFill>
                <a:latin typeface="Calibri"/>
              </a:rPr>
              <a:t>“Implicit feedback comes from user behaviour.”</a:t>
            </a:r>
          </a:p>
        </p:txBody>
      </p:sp>
      <p:sp>
        <p:nvSpPr>
          <p:cNvPr id="8" name="TextBox 7"/>
          <p:cNvSpPr txBox="1"/>
          <p:nvPr/>
        </p:nvSpPr>
        <p:spPr>
          <a:xfrm>
            <a:off x="713232" y="2514600"/>
            <a:ext cx="10771632" cy="1645920"/>
          </a:xfrm>
          <a:prstGeom prst="rect">
            <a:avLst/>
          </a:prstGeom>
          <a:noFill/>
        </p:spPr>
        <p:txBody>
          <a:bodyPr wrap="square" anchor="t" lIns="0" rIns="0" tIns="0" bIns="0">
            <a:spAutoFit/>
          </a:bodyPr>
          <a:lstStyle/>
          <a:p>
            <a:pPr>
              <a:lnSpc>
                <a:spcPct val="112000"/>
              </a:lnSpc>
              <a:spcAft>
                <a:spcPts val="1000"/>
              </a:spcAft>
            </a:pPr>
            <a:r>
              <a:rPr sz="1600" b="0" i="0">
                <a:solidFill>
                  <a:srgbClr val="4B5563"/>
                </a:solidFill>
                <a:latin typeface="Calibri"/>
              </a:rPr>
              <a:t>•  Clicks</a:t>
            </a:r>
          </a:p>
          <a:p>
            <a:pPr>
              <a:lnSpc>
                <a:spcPct val="112000"/>
              </a:lnSpc>
              <a:spcAft>
                <a:spcPts val="1000"/>
              </a:spcAft>
            </a:pPr>
            <a:r>
              <a:rPr sz="1600" b="0" i="0">
                <a:solidFill>
                  <a:srgbClr val="4B5563"/>
                </a:solidFill>
                <a:latin typeface="Calibri"/>
              </a:rPr>
              <a:t>•  Purchases</a:t>
            </a:r>
          </a:p>
          <a:p>
            <a:pPr>
              <a:lnSpc>
                <a:spcPct val="112000"/>
              </a:lnSpc>
              <a:spcAft>
                <a:spcPts val="1000"/>
              </a:spcAft>
            </a:pPr>
            <a:r>
              <a:rPr sz="1600" b="0" i="0">
                <a:solidFill>
                  <a:srgbClr val="4B5563"/>
                </a:solidFill>
                <a:latin typeface="Calibri"/>
              </a:rPr>
              <a:t>•  Watch history</a:t>
            </a:r>
          </a:p>
          <a:p>
            <a:pPr>
              <a:lnSpc>
                <a:spcPct val="112000"/>
              </a:lnSpc>
              <a:spcAft>
                <a:spcPts val="1000"/>
              </a:spcAft>
            </a:pPr>
            <a:r>
              <a:rPr sz="1600" b="0" i="0">
                <a:solidFill>
                  <a:srgbClr val="4B5563"/>
                </a:solidFill>
                <a:latin typeface="Calibri"/>
              </a:rPr>
              <a:t>•  Listening history</a:t>
            </a:r>
          </a:p>
          <a:p>
            <a:pPr>
              <a:lnSpc>
                <a:spcPct val="112000"/>
              </a:lnSpc>
              <a:spcAft>
                <a:spcPts val="1000"/>
              </a:spcAft>
            </a:pPr>
            <a:r>
              <a:rPr sz="1600" b="0" i="0">
                <a:solidFill>
                  <a:srgbClr val="4B5563"/>
                </a:solidFill>
                <a:latin typeface="Calibri"/>
              </a:rPr>
              <a:t>•  Search history</a:t>
            </a:r>
          </a:p>
          <a:p>
            <a:pPr>
              <a:lnSpc>
                <a:spcPct val="112000"/>
              </a:lnSpc>
              <a:spcAft>
                <a:spcPts val="1000"/>
              </a:spcAft>
            </a:pPr>
            <a:r>
              <a:rPr sz="1600" b="0" i="0">
                <a:solidFill>
                  <a:srgbClr val="4B5563"/>
                </a:solidFill>
                <a:latin typeface="Calibri"/>
              </a:rPr>
              <a:t>•  Time spent on a product</a:t>
            </a:r>
          </a:p>
        </p:txBody>
      </p:sp>
      <p:sp>
        <p:nvSpPr>
          <p:cNvPr id="9" name="Rounded Rectangle 8"/>
          <p:cNvSpPr/>
          <p:nvPr/>
        </p:nvSpPr>
        <p:spPr>
          <a:xfrm>
            <a:off x="3657600" y="4434840"/>
            <a:ext cx="4846320" cy="411480"/>
          </a:xfrm>
          <a:prstGeom prst="roundRect">
            <a:avLst>
              <a:gd name="adj" fmla="val 18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User watched Movie A</a:t>
            </a:r>
          </a:p>
        </p:txBody>
      </p:sp>
      <p:cxnSp>
        <p:nvCxnSpPr>
          <p:cNvPr id="10" name="Connector 9"/>
          <p:cNvCxnSpPr/>
          <p:nvPr/>
        </p:nvCxnSpPr>
        <p:spPr>
          <a:xfrm>
            <a:off x="6080760" y="4871720"/>
            <a:ext cx="0" cy="58928"/>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57600" y="4956048"/>
            <a:ext cx="4846320" cy="411480"/>
          </a:xfrm>
          <a:prstGeom prst="roundRect">
            <a:avLst>
              <a:gd name="adj" fmla="val 18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User watched Movie B</a:t>
            </a:r>
          </a:p>
        </p:txBody>
      </p:sp>
      <p:cxnSp>
        <p:nvCxnSpPr>
          <p:cNvPr id="12" name="Connector 11"/>
          <p:cNvCxnSpPr/>
          <p:nvPr/>
        </p:nvCxnSpPr>
        <p:spPr>
          <a:xfrm>
            <a:off x="6080760" y="5392928"/>
            <a:ext cx="0" cy="58928"/>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657600" y="5477256"/>
            <a:ext cx="4846320" cy="411480"/>
          </a:xfrm>
          <a:prstGeom prst="roundRect">
            <a:avLst>
              <a:gd name="adj" fmla="val 18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User watched Movie C</a:t>
            </a:r>
          </a:p>
        </p:txBody>
      </p:sp>
      <p:sp>
        <p:nvSpPr>
          <p:cNvPr id="14" name="TextBox 13"/>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5" name="TextBox 14"/>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6 · THE USER-ITEM MATRIX</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Turn Behaviour Into Data</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11</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508760"/>
            <a:ext cx="10771632" cy="365760"/>
          </a:xfrm>
          <a:prstGeom prst="rect">
            <a:avLst/>
          </a:prstGeom>
          <a:noFill/>
        </p:spPr>
        <p:txBody>
          <a:bodyPr wrap="square" anchor="t" lIns="0" rIns="0" tIns="0" bIns="0">
            <a:spAutoFit/>
          </a:bodyPr>
          <a:lstStyle/>
          <a:p>
            <a:pPr algn="l">
              <a:lnSpc>
                <a:spcPct val="100000"/>
              </a:lnSpc>
            </a:pPr>
            <a:r>
              <a:rPr sz="1800" b="1" i="0">
                <a:solidFill>
                  <a:srgbClr val="2563EB"/>
                </a:solidFill>
                <a:latin typeface="Calibri"/>
              </a:rPr>
              <a:t>The User-Item Matrix</a:t>
            </a:r>
          </a:p>
        </p:txBody>
      </p:sp>
      <p:graphicFrame>
        <p:nvGraphicFramePr>
          <p:cNvPr id="8" name="Table 7"/>
          <p:cNvGraphicFramePr>
            <a:graphicFrameLocks noGrp="1"/>
          </p:cNvGraphicFramePr>
          <p:nvPr/>
        </p:nvGraphicFramePr>
        <p:xfrm>
          <a:off x="713232" y="1920240"/>
          <a:ext cx="6400800" cy="1920240"/>
        </p:xfrm>
        <a:graphic>
          <a:graphicData uri="http://schemas.openxmlformats.org/drawingml/2006/table">
            <a:tbl>
              <a:tblPr firstRow="1" bandRow="1">
                <a:tableStyleId>{5C22544A-7EE6-4342-B048-85BDC9FD1C3A}</a:tableStyleId>
              </a:tblPr>
              <a:tblGrid>
                <a:gridCol w="1524000"/>
                <a:gridCol w="1219200"/>
                <a:gridCol w="1219200"/>
                <a:gridCol w="1219200"/>
                <a:gridCol w="1219200"/>
              </a:tblGrid>
              <a:tr h="480060">
                <a:tc>
                  <a:txBody>
                    <a:bodyPr/>
                    <a:lstStyle/>
                    <a:p>
                      <a:r>
                        <a:rPr sz="1450" b="1" i="0">
                          <a:solidFill>
                            <a:srgbClr val="FFFFFF"/>
                          </a:solidFill>
                          <a:latin typeface="Calibri"/>
                        </a:rPr>
                        <a:t>User</a:t>
                      </a:r>
                    </a:p>
                  </a:txBody>
                  <a:tcPr anchor="ctr" marL="127000" marR="127000">
                    <a:solidFill>
                      <a:srgbClr val="1F2937"/>
                    </a:solidFill>
                  </a:tcPr>
                </a:tc>
                <a:tc>
                  <a:txBody>
                    <a:bodyPr/>
                    <a:lstStyle/>
                    <a:p>
                      <a:r>
                        <a:rPr sz="1450" b="1" i="0">
                          <a:solidFill>
                            <a:srgbClr val="FFFFFF"/>
                          </a:solidFill>
                          <a:latin typeface="Calibri"/>
                        </a:rPr>
                        <a:t>Movie A</a:t>
                      </a:r>
                    </a:p>
                  </a:txBody>
                  <a:tcPr anchor="ctr" marL="127000" marR="127000">
                    <a:solidFill>
                      <a:srgbClr val="1F2937"/>
                    </a:solidFill>
                  </a:tcPr>
                </a:tc>
                <a:tc>
                  <a:txBody>
                    <a:bodyPr/>
                    <a:lstStyle/>
                    <a:p>
                      <a:r>
                        <a:rPr sz="1450" b="1" i="0">
                          <a:solidFill>
                            <a:srgbClr val="FFFFFF"/>
                          </a:solidFill>
                          <a:latin typeface="Calibri"/>
                        </a:rPr>
                        <a:t>Movie B</a:t>
                      </a:r>
                    </a:p>
                  </a:txBody>
                  <a:tcPr anchor="ctr" marL="127000" marR="127000">
                    <a:solidFill>
                      <a:srgbClr val="1F2937"/>
                    </a:solidFill>
                  </a:tcPr>
                </a:tc>
                <a:tc>
                  <a:txBody>
                    <a:bodyPr/>
                    <a:lstStyle/>
                    <a:p>
                      <a:r>
                        <a:rPr sz="1450" b="1" i="0">
                          <a:solidFill>
                            <a:srgbClr val="FFFFFF"/>
                          </a:solidFill>
                          <a:latin typeface="Calibri"/>
                        </a:rPr>
                        <a:t>Movie C</a:t>
                      </a:r>
                    </a:p>
                  </a:txBody>
                  <a:tcPr anchor="ctr" marL="127000" marR="127000">
                    <a:solidFill>
                      <a:srgbClr val="1F2937"/>
                    </a:solidFill>
                  </a:tcPr>
                </a:tc>
                <a:tc>
                  <a:txBody>
                    <a:bodyPr/>
                    <a:lstStyle/>
                    <a:p>
                      <a:r>
                        <a:rPr sz="1450" b="1" i="0">
                          <a:solidFill>
                            <a:srgbClr val="FFFFFF"/>
                          </a:solidFill>
                          <a:latin typeface="Calibri"/>
                        </a:rPr>
                        <a:t>Movie D</a:t>
                      </a:r>
                    </a:p>
                  </a:txBody>
                  <a:tcPr anchor="ctr" marL="127000" marR="127000">
                    <a:solidFill>
                      <a:srgbClr val="1F2937"/>
                    </a:solidFill>
                  </a:tcPr>
                </a:tc>
              </a:tr>
              <a:tr h="480060">
                <a:tc>
                  <a:txBody>
                    <a:bodyPr/>
                    <a:lstStyle/>
                    <a:p>
                      <a:r>
                        <a:rPr sz="1400" b="1" i="0">
                          <a:solidFill>
                            <a:srgbClr val="1F2937"/>
                          </a:solidFill>
                          <a:latin typeface="Calibri"/>
                        </a:rPr>
                        <a:t>John</a:t>
                      </a:r>
                    </a:p>
                  </a:txBody>
                  <a:tcPr anchor="ctr" marL="127000" marR="127000">
                    <a:solidFill>
                      <a:srgbClr val="FFFFFF"/>
                    </a:solidFill>
                  </a:tcPr>
                </a:tc>
                <a:tc>
                  <a:txBody>
                    <a:bodyPr/>
                    <a:lstStyle/>
                    <a:p>
                      <a:r>
                        <a:rPr sz="1400" b="0" i="0">
                          <a:solidFill>
                            <a:srgbClr val="4B5563"/>
                          </a:solidFill>
                          <a:latin typeface="Calibri"/>
                        </a:rPr>
                        <a:t>5</a:t>
                      </a:r>
                    </a:p>
                  </a:txBody>
                  <a:tcPr anchor="ctr" marL="127000" marR="127000">
                    <a:solidFill>
                      <a:srgbClr val="FFFFFF"/>
                    </a:solidFill>
                  </a:tcPr>
                </a:tc>
                <a:tc>
                  <a:txBody>
                    <a:bodyPr/>
                    <a:lstStyle/>
                    <a:p>
                      <a:r>
                        <a:rPr sz="1400" b="0" i="0">
                          <a:solidFill>
                            <a:srgbClr val="4B5563"/>
                          </a:solidFill>
                          <a:latin typeface="Calibri"/>
                        </a:rPr>
                        <a:t>4</a:t>
                      </a:r>
                    </a:p>
                  </a:txBody>
                  <a:tcPr anchor="ctr" marL="127000" marR="127000">
                    <a:solidFill>
                      <a:srgbClr val="FFFFFF"/>
                    </a:solidFill>
                  </a:tcPr>
                </a:tc>
                <a:tc>
                  <a:txBody>
                    <a:bodyPr/>
                    <a:lstStyle/>
                    <a:p>
                      <a:r>
                        <a:rPr sz="1400" b="0" i="0">
                          <a:solidFill>
                            <a:srgbClr val="4B5563"/>
                          </a:solidFill>
                          <a:latin typeface="Calibri"/>
                        </a:rPr>
                        <a:t>?</a:t>
                      </a:r>
                    </a:p>
                  </a:txBody>
                  <a:tcPr anchor="ctr" marL="127000" marR="127000">
                    <a:solidFill>
                      <a:srgbClr val="FFFFFF"/>
                    </a:solidFill>
                  </a:tcPr>
                </a:tc>
                <a:tc>
                  <a:txBody>
                    <a:bodyPr/>
                    <a:lstStyle/>
                    <a:p>
                      <a:r>
                        <a:rPr sz="1400" b="0" i="0">
                          <a:solidFill>
                            <a:srgbClr val="4B5563"/>
                          </a:solidFill>
                          <a:latin typeface="Calibri"/>
                        </a:rPr>
                        <a:t>2</a:t>
                      </a:r>
                    </a:p>
                  </a:txBody>
                  <a:tcPr anchor="ctr" marL="127000" marR="127000">
                    <a:solidFill>
                      <a:srgbClr val="FFFFFF"/>
                    </a:solidFill>
                  </a:tcPr>
                </a:tc>
              </a:tr>
              <a:tr h="480060">
                <a:tc>
                  <a:txBody>
                    <a:bodyPr/>
                    <a:lstStyle/>
                    <a:p>
                      <a:r>
                        <a:rPr sz="1400" b="1" i="0">
                          <a:solidFill>
                            <a:srgbClr val="1F2937"/>
                          </a:solidFill>
                          <a:latin typeface="Calibri"/>
                        </a:rPr>
                        <a:t>Mary</a:t>
                      </a:r>
                    </a:p>
                  </a:txBody>
                  <a:tcPr anchor="ctr" marL="127000" marR="127000">
                    <a:solidFill>
                      <a:srgbClr val="F7F9FB"/>
                    </a:solidFill>
                  </a:tcPr>
                </a:tc>
                <a:tc>
                  <a:txBody>
                    <a:bodyPr/>
                    <a:lstStyle/>
                    <a:p>
                      <a:r>
                        <a:rPr sz="1400" b="0" i="0">
                          <a:solidFill>
                            <a:srgbClr val="4B5563"/>
                          </a:solidFill>
                          <a:latin typeface="Calibri"/>
                        </a:rPr>
                        <a:t>5</a:t>
                      </a:r>
                    </a:p>
                  </a:txBody>
                  <a:tcPr anchor="ctr" marL="127000" marR="127000">
                    <a:solidFill>
                      <a:srgbClr val="F7F9FB"/>
                    </a:solidFill>
                  </a:tcPr>
                </a:tc>
                <a:tc>
                  <a:txBody>
                    <a:bodyPr/>
                    <a:lstStyle/>
                    <a:p>
                      <a:r>
                        <a:rPr sz="1400" b="0" i="0">
                          <a:solidFill>
                            <a:srgbClr val="4B5563"/>
                          </a:solidFill>
                          <a:latin typeface="Calibri"/>
                        </a:rPr>
                        <a:t>4</a:t>
                      </a:r>
                    </a:p>
                  </a:txBody>
                  <a:tcPr anchor="ctr" marL="127000" marR="127000">
                    <a:solidFill>
                      <a:srgbClr val="F7F9FB"/>
                    </a:solidFill>
                  </a:tcPr>
                </a:tc>
                <a:tc>
                  <a:txBody>
                    <a:bodyPr/>
                    <a:lstStyle/>
                    <a:p>
                      <a:r>
                        <a:rPr sz="1400" b="0" i="0">
                          <a:solidFill>
                            <a:srgbClr val="4B5563"/>
                          </a:solidFill>
                          <a:latin typeface="Calibri"/>
                        </a:rPr>
                        <a:t>5</a:t>
                      </a:r>
                    </a:p>
                  </a:txBody>
                  <a:tcPr anchor="ctr" marL="127000" marR="127000">
                    <a:solidFill>
                      <a:srgbClr val="F7F9FB"/>
                    </a:solidFill>
                  </a:tcPr>
                </a:tc>
                <a:tc>
                  <a:txBody>
                    <a:bodyPr/>
                    <a:lstStyle/>
                    <a:p>
                      <a:r>
                        <a:rPr sz="1400" b="0" i="0">
                          <a:solidFill>
                            <a:srgbClr val="4B5563"/>
                          </a:solidFill>
                          <a:latin typeface="Calibri"/>
                        </a:rPr>
                        <a:t>1</a:t>
                      </a:r>
                    </a:p>
                  </a:txBody>
                  <a:tcPr anchor="ctr" marL="127000" marR="127000">
                    <a:solidFill>
                      <a:srgbClr val="F7F9FB"/>
                    </a:solidFill>
                  </a:tcPr>
                </a:tc>
              </a:tr>
              <a:tr h="480060">
                <a:tc>
                  <a:txBody>
                    <a:bodyPr/>
                    <a:lstStyle/>
                    <a:p>
                      <a:r>
                        <a:rPr sz="1400" b="1" i="0">
                          <a:solidFill>
                            <a:srgbClr val="1F2937"/>
                          </a:solidFill>
                          <a:latin typeface="Calibri"/>
                        </a:rPr>
                        <a:t>David</a:t>
                      </a:r>
                    </a:p>
                  </a:txBody>
                  <a:tcPr anchor="ctr" marL="127000" marR="127000">
                    <a:solidFill>
                      <a:srgbClr val="FFFFFF"/>
                    </a:solidFill>
                  </a:tcPr>
                </a:tc>
                <a:tc>
                  <a:txBody>
                    <a:bodyPr/>
                    <a:lstStyle/>
                    <a:p>
                      <a:r>
                        <a:rPr sz="1400" b="0" i="0">
                          <a:solidFill>
                            <a:srgbClr val="4B5563"/>
                          </a:solidFill>
                          <a:latin typeface="Calibri"/>
                        </a:rPr>
                        <a:t>1</a:t>
                      </a:r>
                    </a:p>
                  </a:txBody>
                  <a:tcPr anchor="ctr" marL="127000" marR="127000">
                    <a:solidFill>
                      <a:srgbClr val="FFFFFF"/>
                    </a:solidFill>
                  </a:tcPr>
                </a:tc>
                <a:tc>
                  <a:txBody>
                    <a:bodyPr/>
                    <a:lstStyle/>
                    <a:p>
                      <a:r>
                        <a:rPr sz="1400" b="0" i="0">
                          <a:solidFill>
                            <a:srgbClr val="4B5563"/>
                          </a:solidFill>
                          <a:latin typeface="Calibri"/>
                        </a:rPr>
                        <a:t>2</a:t>
                      </a:r>
                    </a:p>
                  </a:txBody>
                  <a:tcPr anchor="ctr" marL="127000" marR="127000">
                    <a:solidFill>
                      <a:srgbClr val="FFFFFF"/>
                    </a:solidFill>
                  </a:tcPr>
                </a:tc>
                <a:tc>
                  <a:txBody>
                    <a:bodyPr/>
                    <a:lstStyle/>
                    <a:p>
                      <a:r>
                        <a:rPr sz="1400" b="0" i="0">
                          <a:solidFill>
                            <a:srgbClr val="4B5563"/>
                          </a:solidFill>
                          <a:latin typeface="Calibri"/>
                        </a:rPr>
                        <a:t>4</a:t>
                      </a:r>
                    </a:p>
                  </a:txBody>
                  <a:tcPr anchor="ctr" marL="127000" marR="127000">
                    <a:solidFill>
                      <a:srgbClr val="FFFFFF"/>
                    </a:solidFill>
                  </a:tcPr>
                </a:tc>
                <a:tc>
                  <a:txBody>
                    <a:bodyPr/>
                    <a:lstStyle/>
                    <a:p>
                      <a:r>
                        <a:rPr sz="1400" b="0" i="0">
                          <a:solidFill>
                            <a:srgbClr val="4B5563"/>
                          </a:solidFill>
                          <a:latin typeface="Calibri"/>
                        </a:rPr>
                        <a:t>5</a:t>
                      </a:r>
                    </a:p>
                  </a:txBody>
                  <a:tcPr anchor="ctr" marL="127000" marR="127000">
                    <a:solidFill>
                      <a:srgbClr val="FFFFFF"/>
                    </a:solidFill>
                  </a:tcPr>
                </a:tc>
              </a:tr>
            </a:tbl>
          </a:graphicData>
        </a:graphic>
      </p:graphicFrame>
      <p:sp>
        <p:nvSpPr>
          <p:cNvPr id="9" name="TextBox 8"/>
          <p:cNvSpPr txBox="1"/>
          <p:nvPr/>
        </p:nvSpPr>
        <p:spPr>
          <a:xfrm>
            <a:off x="7498079" y="1965960"/>
            <a:ext cx="3566160" cy="2743200"/>
          </a:xfrm>
          <a:prstGeom prst="rect">
            <a:avLst/>
          </a:prstGeom>
          <a:noFill/>
        </p:spPr>
        <p:txBody>
          <a:bodyPr wrap="square" anchor="t" lIns="0" rIns="0" tIns="0" bIns="0">
            <a:spAutoFit/>
          </a:bodyPr>
          <a:lstStyle/>
          <a:p>
            <a:pPr>
              <a:lnSpc>
                <a:spcPct val="112000"/>
              </a:lnSpc>
              <a:spcAft>
                <a:spcPts val="1000"/>
              </a:spcAft>
            </a:pPr>
            <a:r>
              <a:rPr sz="1450" b="0" i="0">
                <a:solidFill>
                  <a:srgbClr val="4B5563"/>
                </a:solidFill>
                <a:latin typeface="Calibri"/>
              </a:rPr>
              <a:t>•  Rows = Users</a:t>
            </a:r>
          </a:p>
          <a:p>
            <a:pPr>
              <a:lnSpc>
                <a:spcPct val="112000"/>
              </a:lnSpc>
              <a:spcAft>
                <a:spcPts val="1000"/>
              </a:spcAft>
            </a:pPr>
            <a:r>
              <a:rPr sz="1450" b="0" i="0">
                <a:solidFill>
                  <a:srgbClr val="4B5563"/>
                </a:solidFill>
                <a:latin typeface="Calibri"/>
              </a:rPr>
              <a:t>•  Columns = Items</a:t>
            </a:r>
          </a:p>
          <a:p>
            <a:pPr>
              <a:lnSpc>
                <a:spcPct val="112000"/>
              </a:lnSpc>
              <a:spcAft>
                <a:spcPts val="1000"/>
              </a:spcAft>
            </a:pPr>
            <a:r>
              <a:rPr sz="1450" b="0" i="0">
                <a:solidFill>
                  <a:srgbClr val="4B5563"/>
                </a:solidFill>
                <a:latin typeface="Calibri"/>
              </a:rPr>
              <a:t>•  Values = Ratings or interactions</a:t>
            </a:r>
          </a:p>
          <a:p>
            <a:pPr>
              <a:lnSpc>
                <a:spcPct val="112000"/>
              </a:lnSpc>
              <a:spcAft>
                <a:spcPts val="1000"/>
              </a:spcAft>
            </a:pPr>
            <a:r>
              <a:rPr sz="1450" b="0" i="0">
                <a:solidFill>
                  <a:srgbClr val="4B5563"/>
                </a:solidFill>
                <a:latin typeface="Calibri"/>
              </a:rPr>
              <a:t>•  Missing values = Unknown preferences</a:t>
            </a:r>
          </a:p>
        </p:txBody>
      </p:sp>
      <p:sp>
        <p:nvSpPr>
          <p:cNvPr id="10" name="TextBox 9"/>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1" name="TextBox 10"/>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6 · THE USER-ITEM MATRIX</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The Big Question</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12</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920240"/>
            <a:ext cx="10771632" cy="3291840"/>
          </a:xfrm>
          <a:prstGeom prst="roundRect">
            <a:avLst>
              <a:gd name="adj" fmla="val 6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0" rIns="381000"/>
          <a:lstStyle/>
          <a:p>
            <a:pPr algn="ctr"/>
            <a:r>
              <a:rPr sz="3200" b="1" i="0">
                <a:solidFill>
                  <a:srgbClr val="FFFFFF"/>
                </a:solidFill>
                <a:latin typeface="Calibri"/>
              </a:rPr>
              <a:t>“How can we fill in the missing preferences?”</a:t>
            </a:r>
          </a:p>
          <a:p>
            <a:pPr algn="ctr">
              <a:spcBef>
                <a:spcPts val="1400"/>
              </a:spcBef>
            </a:pPr>
            <a:r>
              <a:rPr sz="1700" b="0" i="1">
                <a:solidFill>
                  <a:srgbClr val="C7CED9"/>
                </a:solidFill>
                <a:latin typeface="Calibri"/>
              </a:rPr>
              <a:t>For example: John + Movie C = ?  —  this becomes the recommendation problem.</a:t>
            </a:r>
          </a:p>
        </p:txBody>
      </p:sp>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7 · COLLABORATIVE FILTERING</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The Simple Idea</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13</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00200"/>
            <a:ext cx="10771632" cy="548640"/>
          </a:xfrm>
          <a:prstGeom prst="rect">
            <a:avLst/>
          </a:prstGeom>
          <a:noFill/>
        </p:spPr>
        <p:txBody>
          <a:bodyPr wrap="square" anchor="t" lIns="0" rIns="0" tIns="0" bIns="0">
            <a:spAutoFit/>
          </a:bodyPr>
          <a:lstStyle/>
          <a:p>
            <a:pPr algn="l">
              <a:lnSpc>
                <a:spcPct val="100000"/>
              </a:lnSpc>
            </a:pPr>
            <a:r>
              <a:rPr sz="2000" b="1" i="0">
                <a:solidFill>
                  <a:srgbClr val="1F2937"/>
                </a:solidFill>
                <a:latin typeface="Calibri"/>
              </a:rPr>
              <a:t>“People who behave similarly may like similar things.”</a:t>
            </a:r>
          </a:p>
        </p:txBody>
      </p:sp>
      <p:sp>
        <p:nvSpPr>
          <p:cNvPr id="8" name="Rounded Rectangle 7"/>
          <p:cNvSpPr/>
          <p:nvPr/>
        </p:nvSpPr>
        <p:spPr>
          <a:xfrm>
            <a:off x="713232" y="2606040"/>
            <a:ext cx="5120640" cy="182880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700" b="1" i="0">
                <a:solidFill>
                  <a:srgbClr val="FFFFFF"/>
                </a:solidFill>
                <a:latin typeface="Calibri"/>
              </a:rPr>
              <a:t>John likes:</a:t>
            </a:r>
          </a:p>
          <a:p>
            <a:pPr algn="ctr"/>
            <a:r>
              <a:rPr sz="1700" b="1" i="0">
                <a:solidFill>
                  <a:srgbClr val="FFFFFF"/>
                </a:solidFill>
                <a:latin typeface="Calibri"/>
              </a:rPr>
              <a:t/>
            </a:r>
          </a:p>
          <a:p>
            <a:pPr algn="ctr"/>
            <a:r>
              <a:rPr sz="1700" b="1" i="0">
                <a:solidFill>
                  <a:srgbClr val="FFFFFF"/>
                </a:solidFill>
                <a:latin typeface="Calibri"/>
              </a:rPr>
              <a:t>Movie A</a:t>
            </a:r>
          </a:p>
          <a:p>
            <a:pPr algn="ctr"/>
            <a:r>
              <a:rPr sz="1700" b="1" i="0">
                <a:solidFill>
                  <a:srgbClr val="FFFFFF"/>
                </a:solidFill>
                <a:latin typeface="Calibri"/>
              </a:rPr>
              <a:t>Movie B</a:t>
            </a:r>
          </a:p>
        </p:txBody>
      </p:sp>
      <p:sp>
        <p:nvSpPr>
          <p:cNvPr id="9" name="Rounded Rectangle 8"/>
          <p:cNvSpPr/>
          <p:nvPr/>
        </p:nvSpPr>
        <p:spPr>
          <a:xfrm>
            <a:off x="6263640" y="2606040"/>
            <a:ext cx="5120640" cy="1828800"/>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700" b="1" i="0">
                <a:solidFill>
                  <a:srgbClr val="FFFFFF"/>
                </a:solidFill>
                <a:latin typeface="Calibri"/>
              </a:rPr>
              <a:t>Mary likes:</a:t>
            </a:r>
          </a:p>
          <a:p>
            <a:pPr algn="ctr"/>
            <a:r>
              <a:rPr sz="1700" b="1" i="0">
                <a:solidFill>
                  <a:srgbClr val="FFFFFF"/>
                </a:solidFill>
                <a:latin typeface="Calibri"/>
              </a:rPr>
              <a:t/>
            </a:r>
          </a:p>
          <a:p>
            <a:pPr algn="ctr"/>
            <a:r>
              <a:rPr sz="1700" b="1" i="0">
                <a:solidFill>
                  <a:srgbClr val="FFFFFF"/>
                </a:solidFill>
                <a:latin typeface="Calibri"/>
              </a:rPr>
              <a:t>Movie A</a:t>
            </a:r>
          </a:p>
          <a:p>
            <a:pPr algn="ctr"/>
            <a:r>
              <a:rPr sz="1700" b="1" i="0">
                <a:solidFill>
                  <a:srgbClr val="FFFFFF"/>
                </a:solidFill>
                <a:latin typeface="Calibri"/>
              </a:rPr>
              <a:t>Movie B</a:t>
            </a:r>
          </a:p>
          <a:p>
            <a:pPr algn="ctr"/>
            <a:r>
              <a:rPr sz="1700" b="1" i="0">
                <a:solidFill>
                  <a:srgbClr val="FFFFFF"/>
                </a:solidFill>
                <a:latin typeface="Calibri"/>
              </a:rPr>
              <a:t>Movie C</a:t>
            </a:r>
          </a:p>
        </p:txBody>
      </p:sp>
      <p:sp>
        <p:nvSpPr>
          <p:cNvPr id="10" name="Rounded Rectangle 9"/>
          <p:cNvSpPr/>
          <p:nvPr/>
        </p:nvSpPr>
        <p:spPr>
          <a:xfrm>
            <a:off x="2743200" y="4709160"/>
            <a:ext cx="6675120" cy="59436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600" b="1" i="0">
                <a:solidFill>
                  <a:srgbClr val="1E40AF"/>
                </a:solidFill>
                <a:latin typeface="Calibri"/>
              </a:rPr>
              <a:t>Possible recommendation: Movie C → John</a:t>
            </a:r>
          </a:p>
        </p:txBody>
      </p:sp>
      <p:sp>
        <p:nvSpPr>
          <p:cNvPr id="11" name="TextBox 10"/>
          <p:cNvSpPr txBox="1"/>
          <p:nvPr/>
        </p:nvSpPr>
        <p:spPr>
          <a:xfrm>
            <a:off x="713232" y="5532120"/>
            <a:ext cx="10771632" cy="457200"/>
          </a:xfrm>
          <a:prstGeom prst="rect">
            <a:avLst/>
          </a:prstGeom>
          <a:noFill/>
        </p:spPr>
        <p:txBody>
          <a:bodyPr wrap="square" anchor="t" lIns="0" rIns="0" tIns="0" bIns="0">
            <a:spAutoFit/>
          </a:bodyPr>
          <a:lstStyle/>
          <a:p>
            <a:pPr algn="ctr">
              <a:lnSpc>
                <a:spcPct val="100000"/>
              </a:lnSpc>
            </a:pPr>
            <a:r>
              <a:rPr sz="1600" b="1" i="0">
                <a:solidFill>
                  <a:srgbClr val="6B7280"/>
                </a:solidFill>
                <a:latin typeface="Calibri"/>
              </a:rPr>
              <a:t>This idea is called COLLABORATIVE FILTERING.</a:t>
            </a:r>
          </a:p>
        </p:txBody>
      </p:sp>
      <p:sp>
        <p:nvSpPr>
          <p:cNvPr id="12" name="TextBox 11"/>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3" name="TextBox 12"/>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7 · COLLABORATIVE FILTERING</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Why Is It Called Collaborative?</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14</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737360"/>
            <a:ext cx="10771632" cy="731520"/>
          </a:xfrm>
          <a:prstGeom prst="rect">
            <a:avLst/>
          </a:prstGeom>
          <a:noFill/>
        </p:spPr>
        <p:txBody>
          <a:bodyPr wrap="square" anchor="t" lIns="0" rIns="0" tIns="0" bIns="0">
            <a:spAutoFit/>
          </a:bodyPr>
          <a:lstStyle/>
          <a:p>
            <a:pPr algn="l">
              <a:lnSpc>
                <a:spcPct val="100000"/>
              </a:lnSpc>
            </a:pPr>
            <a:r>
              <a:rPr sz="2000" b="1" i="0">
                <a:solidFill>
                  <a:srgbClr val="1F2937"/>
                </a:solidFill>
                <a:latin typeface="Calibri"/>
              </a:rPr>
              <a:t>“The system learns from the combined behaviour</a:t>
            </a:r>
          </a:p>
          <a:p>
            <a:pPr algn="l">
              <a:lnSpc>
                <a:spcPct val="100000"/>
              </a:lnSpc>
            </a:pPr>
            <a:r>
              <a:rPr sz="2000" b="1" i="0">
                <a:solidFill>
                  <a:srgbClr val="1F2937"/>
                </a:solidFill>
                <a:latin typeface="Calibri"/>
              </a:rPr>
              <a:t>of many users.”</a:t>
            </a:r>
          </a:p>
        </p:txBody>
      </p:sp>
      <p:sp>
        <p:nvSpPr>
          <p:cNvPr id="8" name="TextBox 7"/>
          <p:cNvSpPr txBox="1"/>
          <p:nvPr/>
        </p:nvSpPr>
        <p:spPr>
          <a:xfrm>
            <a:off x="713232" y="2926080"/>
            <a:ext cx="10771632" cy="457200"/>
          </a:xfrm>
          <a:prstGeom prst="rect">
            <a:avLst/>
          </a:prstGeom>
          <a:noFill/>
        </p:spPr>
        <p:txBody>
          <a:bodyPr wrap="square" anchor="t" lIns="0" rIns="0" tIns="0" bIns="0">
            <a:spAutoFit/>
          </a:bodyPr>
          <a:lstStyle/>
          <a:p>
            <a:pPr algn="l">
              <a:lnSpc>
                <a:spcPct val="100000"/>
              </a:lnSpc>
            </a:pPr>
            <a:r>
              <a:rPr sz="1600" b="0" i="0">
                <a:solidFill>
                  <a:srgbClr val="4B5563"/>
                </a:solidFill>
                <a:latin typeface="Calibri"/>
              </a:rPr>
              <a:t>It does not need to understand the movie description first. Instead, it learns from:</a:t>
            </a:r>
          </a:p>
        </p:txBody>
      </p:sp>
      <p:sp>
        <p:nvSpPr>
          <p:cNvPr id="9" name="Rounded Rectangle 8"/>
          <p:cNvSpPr/>
          <p:nvPr/>
        </p:nvSpPr>
        <p:spPr>
          <a:xfrm>
            <a:off x="3657600" y="3657600"/>
            <a:ext cx="4846320" cy="502920"/>
          </a:xfrm>
          <a:prstGeom prst="roundRect">
            <a:avLst>
              <a:gd name="adj" fmla="val 1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User Behaviour</a:t>
            </a:r>
          </a:p>
        </p:txBody>
      </p:sp>
      <p:cxnSp>
        <p:nvCxnSpPr>
          <p:cNvPr id="10" name="Connector 9"/>
          <p:cNvCxnSpPr/>
          <p:nvPr/>
        </p:nvCxnSpPr>
        <p:spPr>
          <a:xfrm>
            <a:off x="6080760" y="4185920"/>
            <a:ext cx="0" cy="113792"/>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57600" y="4325112"/>
            <a:ext cx="4846320" cy="502920"/>
          </a:xfrm>
          <a:prstGeom prst="roundRect">
            <a:avLst>
              <a:gd name="adj" fmla="val 1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a:t>
            </a:r>
          </a:p>
        </p:txBody>
      </p:sp>
      <p:cxnSp>
        <p:nvCxnSpPr>
          <p:cNvPr id="12" name="Connector 11"/>
          <p:cNvCxnSpPr/>
          <p:nvPr/>
        </p:nvCxnSpPr>
        <p:spPr>
          <a:xfrm>
            <a:off x="6080760" y="4853432"/>
            <a:ext cx="0" cy="113792"/>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657600" y="4992624"/>
            <a:ext cx="4846320" cy="502920"/>
          </a:xfrm>
          <a:prstGeom prst="roundRect">
            <a:avLst>
              <a:gd name="adj" fmla="val 1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Other Users' Behaviour</a:t>
            </a:r>
          </a:p>
        </p:txBody>
      </p:sp>
      <p:sp>
        <p:nvSpPr>
          <p:cNvPr id="14" name="TextBox 13"/>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5" name="TextBox 14"/>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8 · USER-BASED FILTERING</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Find Similar Users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15</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45920"/>
            <a:ext cx="10771632" cy="731520"/>
          </a:xfrm>
          <a:prstGeom prst="rect">
            <a:avLst/>
          </a:prstGeom>
          <a:noFill/>
        </p:spPr>
        <p:txBody>
          <a:bodyPr wrap="square" anchor="t" lIns="0" rIns="0" tIns="0" bIns="0">
            <a:spAutoFit/>
          </a:bodyPr>
          <a:lstStyle/>
          <a:p>
            <a:pPr algn="l">
              <a:lnSpc>
                <a:spcPct val="100000"/>
              </a:lnSpc>
            </a:pPr>
            <a:r>
              <a:rPr sz="1700" b="1" i="0">
                <a:solidFill>
                  <a:srgbClr val="1F2937"/>
                </a:solidFill>
                <a:latin typeface="Calibri"/>
              </a:rPr>
              <a:t>If two users have similar preferences, we may use one person's behaviour</a:t>
            </a:r>
          </a:p>
          <a:p>
            <a:pPr algn="l">
              <a:lnSpc>
                <a:spcPct val="100000"/>
              </a:lnSpc>
            </a:pPr>
            <a:r>
              <a:rPr sz="1700" b="1" i="0">
                <a:solidFill>
                  <a:srgbClr val="1F2937"/>
                </a:solidFill>
                <a:latin typeface="Calibri"/>
              </a:rPr>
              <a:t>to recommend items to the other.</a:t>
            </a:r>
          </a:p>
        </p:txBody>
      </p:sp>
      <p:sp>
        <p:nvSpPr>
          <p:cNvPr id="8" name="Rounded Rectangle 7"/>
          <p:cNvSpPr/>
          <p:nvPr/>
        </p:nvSpPr>
        <p:spPr>
          <a:xfrm>
            <a:off x="713232" y="2697480"/>
            <a:ext cx="5120640" cy="192024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700" b="1" i="0">
                <a:solidFill>
                  <a:srgbClr val="FFFFFF"/>
                </a:solidFill>
                <a:latin typeface="Calibri"/>
              </a:rPr>
              <a:t>John</a:t>
            </a:r>
          </a:p>
          <a:p>
            <a:pPr algn="ctr"/>
            <a:r>
              <a:rPr sz="1700" b="1" i="0">
                <a:solidFill>
                  <a:srgbClr val="FFFFFF"/>
                </a:solidFill>
                <a:latin typeface="Calibri"/>
              </a:rPr>
              <a:t/>
            </a:r>
          </a:p>
          <a:p>
            <a:pPr algn="ctr"/>
            <a:r>
              <a:rPr sz="1700" b="1" i="0">
                <a:solidFill>
                  <a:srgbClr val="FFFFFF"/>
                </a:solidFill>
                <a:latin typeface="Calibri"/>
              </a:rPr>
              <a:t>Movie A → ❤️</a:t>
            </a:r>
          </a:p>
          <a:p>
            <a:pPr algn="ctr"/>
            <a:r>
              <a:rPr sz="1700" b="1" i="0">
                <a:solidFill>
                  <a:srgbClr val="FFFFFF"/>
                </a:solidFill>
                <a:latin typeface="Calibri"/>
              </a:rPr>
              <a:t>Movie B → ❤️</a:t>
            </a:r>
          </a:p>
        </p:txBody>
      </p:sp>
      <p:sp>
        <p:nvSpPr>
          <p:cNvPr id="9" name="Rounded Rectangle 8"/>
          <p:cNvSpPr/>
          <p:nvPr/>
        </p:nvSpPr>
        <p:spPr>
          <a:xfrm>
            <a:off x="6263640" y="2697480"/>
            <a:ext cx="5120640" cy="1920240"/>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700" b="1" i="0">
                <a:solidFill>
                  <a:srgbClr val="FFFFFF"/>
                </a:solidFill>
                <a:latin typeface="Calibri"/>
              </a:rPr>
              <a:t>Mary</a:t>
            </a:r>
          </a:p>
          <a:p>
            <a:pPr algn="ctr"/>
            <a:r>
              <a:rPr sz="1700" b="1" i="0">
                <a:solidFill>
                  <a:srgbClr val="FFFFFF"/>
                </a:solidFill>
                <a:latin typeface="Calibri"/>
              </a:rPr>
              <a:t/>
            </a:r>
          </a:p>
          <a:p>
            <a:pPr algn="ctr"/>
            <a:r>
              <a:rPr sz="1700" b="1" i="0">
                <a:solidFill>
                  <a:srgbClr val="FFFFFF"/>
                </a:solidFill>
                <a:latin typeface="Calibri"/>
              </a:rPr>
              <a:t>Movie A → ❤️</a:t>
            </a:r>
          </a:p>
          <a:p>
            <a:pPr algn="ctr"/>
            <a:r>
              <a:rPr sz="1700" b="1" i="0">
                <a:solidFill>
                  <a:srgbClr val="FFFFFF"/>
                </a:solidFill>
                <a:latin typeface="Calibri"/>
              </a:rPr>
              <a:t>Movie B → ❤️</a:t>
            </a:r>
          </a:p>
          <a:p>
            <a:pPr algn="ctr"/>
            <a:r>
              <a:rPr sz="1700" b="1" i="0">
                <a:solidFill>
                  <a:srgbClr val="FFFFFF"/>
                </a:solidFill>
                <a:latin typeface="Calibri"/>
              </a:rPr>
              <a:t>Movie C → ❤️</a:t>
            </a:r>
          </a:p>
        </p:txBody>
      </p:sp>
      <p:sp>
        <p:nvSpPr>
          <p:cNvPr id="10" name="Rounded Rectangle 9"/>
          <p:cNvSpPr/>
          <p:nvPr/>
        </p:nvSpPr>
        <p:spPr>
          <a:xfrm>
            <a:off x="3931920" y="4892040"/>
            <a:ext cx="4297680" cy="59436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50" b="1" i="0">
                <a:solidFill>
                  <a:srgbClr val="1E40AF"/>
                </a:solidFill>
                <a:latin typeface="Calibri"/>
              </a:rPr>
              <a:t>Recommendation: Movie C → John</a:t>
            </a:r>
          </a:p>
        </p:txBody>
      </p:sp>
      <p:sp>
        <p:nvSpPr>
          <p:cNvPr id="11" name="TextBox 10"/>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2" name="TextBox 11"/>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8 · USER-BASED FILTERING</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User-Based Filtering Workflow</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16</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52647" y="1417320"/>
            <a:ext cx="548640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User</a:t>
            </a:r>
          </a:p>
        </p:txBody>
      </p:sp>
      <p:cxnSp>
        <p:nvCxnSpPr>
          <p:cNvPr id="8" name="Connector 7"/>
          <p:cNvCxnSpPr/>
          <p:nvPr/>
        </p:nvCxnSpPr>
        <p:spPr>
          <a:xfrm>
            <a:off x="6095847" y="2009648"/>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52647" y="2221992"/>
            <a:ext cx="548640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Find Similar Users</a:t>
            </a:r>
          </a:p>
        </p:txBody>
      </p:sp>
      <p:cxnSp>
        <p:nvCxnSpPr>
          <p:cNvPr id="10" name="Connector 9"/>
          <p:cNvCxnSpPr/>
          <p:nvPr/>
        </p:nvCxnSpPr>
        <p:spPr>
          <a:xfrm>
            <a:off x="6095847" y="2814320"/>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52647" y="3026664"/>
            <a:ext cx="548640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Look at What They Like</a:t>
            </a:r>
          </a:p>
        </p:txBody>
      </p:sp>
      <p:cxnSp>
        <p:nvCxnSpPr>
          <p:cNvPr id="12" name="Connector 11"/>
          <p:cNvCxnSpPr/>
          <p:nvPr/>
        </p:nvCxnSpPr>
        <p:spPr>
          <a:xfrm>
            <a:off x="6095847" y="3618992"/>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52647" y="3831336"/>
            <a:ext cx="548640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Find Items the User Has Not Seen</a:t>
            </a:r>
          </a:p>
        </p:txBody>
      </p:sp>
      <p:cxnSp>
        <p:nvCxnSpPr>
          <p:cNvPr id="14" name="Connector 13"/>
          <p:cNvCxnSpPr/>
          <p:nvPr/>
        </p:nvCxnSpPr>
        <p:spPr>
          <a:xfrm>
            <a:off x="6095847" y="4423664"/>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2647" y="4636008"/>
            <a:ext cx="548640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Make Recommendations</a:t>
            </a:r>
          </a:p>
        </p:txBody>
      </p:sp>
      <p:sp>
        <p:nvSpPr>
          <p:cNvPr id="16" name="TextBox 15"/>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7" name="TextBox 16"/>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9 · ITEM-BASED FILTERING</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Find Similar Items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17</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45920"/>
            <a:ext cx="10771632" cy="914400"/>
          </a:xfrm>
          <a:prstGeom prst="rect">
            <a:avLst/>
          </a:prstGeom>
          <a:noFill/>
        </p:spPr>
        <p:txBody>
          <a:bodyPr wrap="square" anchor="t" lIns="0" rIns="0" tIns="0" bIns="0">
            <a:spAutoFit/>
          </a:bodyPr>
          <a:lstStyle/>
          <a:p>
            <a:pPr algn="l">
              <a:lnSpc>
                <a:spcPct val="100000"/>
              </a:lnSpc>
            </a:pPr>
            <a:r>
              <a:rPr sz="1750" b="1" i="0">
                <a:solidFill>
                  <a:srgbClr val="1F2937"/>
                </a:solidFill>
                <a:latin typeface="Calibri"/>
              </a:rPr>
              <a:t>Instead of asking “Which users are similar?” we can ask:</a:t>
            </a:r>
          </a:p>
          <a:p>
            <a:pPr algn="l">
              <a:lnSpc>
                <a:spcPct val="100000"/>
              </a:lnSpc>
            </a:pPr>
            <a:r>
              <a:rPr sz="1750" b="1" i="0">
                <a:solidFill>
                  <a:srgbClr val="1F2937"/>
                </a:solidFill>
                <a:latin typeface="Calibri"/>
              </a:rPr>
              <a:t>“Which items are similar based on user behaviour?”</a:t>
            </a:r>
          </a:p>
        </p:txBody>
      </p:sp>
      <p:sp>
        <p:nvSpPr>
          <p:cNvPr id="8" name="TextBox 7"/>
          <p:cNvSpPr txBox="1"/>
          <p:nvPr/>
        </p:nvSpPr>
        <p:spPr>
          <a:xfrm>
            <a:off x="713232" y="3017520"/>
            <a:ext cx="10771632" cy="457200"/>
          </a:xfrm>
          <a:prstGeom prst="rect">
            <a:avLst/>
          </a:prstGeom>
          <a:noFill/>
        </p:spPr>
        <p:txBody>
          <a:bodyPr wrap="square" anchor="t" lIns="0" rIns="0" tIns="0" bIns="0">
            <a:spAutoFit/>
          </a:bodyPr>
          <a:lstStyle/>
          <a:p>
            <a:pPr algn="l">
              <a:lnSpc>
                <a:spcPct val="100000"/>
              </a:lnSpc>
            </a:pPr>
            <a:r>
              <a:rPr sz="1650" b="0" i="0">
                <a:solidFill>
                  <a:srgbClr val="4B5563"/>
                </a:solidFill>
                <a:latin typeface="Calibri"/>
              </a:rPr>
              <a:t>Users who like Movie A also frequently like Movie B.</a:t>
            </a:r>
          </a:p>
        </p:txBody>
      </p:sp>
      <p:sp>
        <p:nvSpPr>
          <p:cNvPr id="9" name="Rounded Rectangle 8"/>
          <p:cNvSpPr/>
          <p:nvPr/>
        </p:nvSpPr>
        <p:spPr>
          <a:xfrm>
            <a:off x="3566160" y="3840480"/>
            <a:ext cx="2354580" cy="822960"/>
          </a:xfrm>
          <a:prstGeom prst="roundRect">
            <a:avLst>
              <a:gd name="adj" fmla="val 16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Movie A</a:t>
            </a:r>
          </a:p>
        </p:txBody>
      </p:sp>
      <p:cxnSp>
        <p:nvCxnSpPr>
          <p:cNvPr id="10" name="Connector 9"/>
          <p:cNvCxnSpPr/>
          <p:nvPr/>
        </p:nvCxnSpPr>
        <p:spPr>
          <a:xfrm>
            <a:off x="5946140" y="425196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40780" y="3840480"/>
            <a:ext cx="2354580" cy="822960"/>
          </a:xfrm>
          <a:prstGeom prst="roundRect">
            <a:avLst>
              <a:gd name="adj" fmla="val 16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Movie B</a:t>
            </a:r>
          </a:p>
        </p:txBody>
      </p:sp>
      <p:sp>
        <p:nvSpPr>
          <p:cNvPr id="12" name="TextBox 11"/>
          <p:cNvSpPr txBox="1"/>
          <p:nvPr/>
        </p:nvSpPr>
        <p:spPr>
          <a:xfrm>
            <a:off x="713232" y="5029200"/>
            <a:ext cx="10771632" cy="457200"/>
          </a:xfrm>
          <a:prstGeom prst="rect">
            <a:avLst/>
          </a:prstGeom>
          <a:noFill/>
        </p:spPr>
        <p:txBody>
          <a:bodyPr wrap="square" anchor="t" lIns="0" rIns="0" tIns="0" bIns="0">
            <a:spAutoFit/>
          </a:bodyPr>
          <a:lstStyle/>
          <a:p>
            <a:pPr algn="ctr">
              <a:lnSpc>
                <a:spcPct val="100000"/>
              </a:lnSpc>
            </a:pPr>
            <a:r>
              <a:rPr sz="1600" b="0" i="1">
                <a:solidFill>
                  <a:srgbClr val="6B7280"/>
                </a:solidFill>
                <a:latin typeface="Calibri"/>
              </a:rPr>
              <a:t>...may be considered similar.</a:t>
            </a:r>
          </a:p>
        </p:txBody>
      </p:sp>
      <p:sp>
        <p:nvSpPr>
          <p:cNvPr id="13" name="TextBox 12"/>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4" name="TextBox 13"/>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9 · ITEM-BASED FILTERING</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Item-Based Filtering Workflow</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18</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52647" y="1417320"/>
            <a:ext cx="548640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Item</a:t>
            </a:r>
          </a:p>
        </p:txBody>
      </p:sp>
      <p:cxnSp>
        <p:nvCxnSpPr>
          <p:cNvPr id="8" name="Connector 7"/>
          <p:cNvCxnSpPr/>
          <p:nvPr/>
        </p:nvCxnSpPr>
        <p:spPr>
          <a:xfrm>
            <a:off x="6095847" y="2009648"/>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52647" y="2221992"/>
            <a:ext cx="548640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Find Similar Items</a:t>
            </a:r>
          </a:p>
        </p:txBody>
      </p:sp>
      <p:cxnSp>
        <p:nvCxnSpPr>
          <p:cNvPr id="10" name="Connector 9"/>
          <p:cNvCxnSpPr/>
          <p:nvPr/>
        </p:nvCxnSpPr>
        <p:spPr>
          <a:xfrm>
            <a:off x="6095847" y="2814320"/>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52647" y="3026664"/>
            <a:ext cx="548640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Look at User History</a:t>
            </a:r>
          </a:p>
        </p:txBody>
      </p:sp>
      <p:cxnSp>
        <p:nvCxnSpPr>
          <p:cNvPr id="12" name="Connector 11"/>
          <p:cNvCxnSpPr/>
          <p:nvPr/>
        </p:nvCxnSpPr>
        <p:spPr>
          <a:xfrm>
            <a:off x="6095847" y="3618992"/>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52647" y="3831336"/>
            <a:ext cx="548640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Find Items Matching User History</a:t>
            </a:r>
          </a:p>
        </p:txBody>
      </p:sp>
      <p:cxnSp>
        <p:nvCxnSpPr>
          <p:cNvPr id="14" name="Connector 13"/>
          <p:cNvCxnSpPr/>
          <p:nvPr/>
        </p:nvCxnSpPr>
        <p:spPr>
          <a:xfrm>
            <a:off x="6095847" y="4423664"/>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2647" y="4636008"/>
            <a:ext cx="548640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Make Recommendation</a:t>
            </a:r>
          </a:p>
        </p:txBody>
      </p:sp>
      <p:sp>
        <p:nvSpPr>
          <p:cNvPr id="16" name="TextBox 15"/>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7" name="TextBox 16"/>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10 · USER VS. ITEM</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User-Based vs. Item-Based</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19</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13232" y="1417320"/>
          <a:ext cx="10771632" cy="2377440"/>
        </p:xfrm>
        <a:graphic>
          <a:graphicData uri="http://schemas.openxmlformats.org/drawingml/2006/table">
            <a:tbl>
              <a:tblPr firstRow="1" bandRow="1">
                <a:tableStyleId>{5C22544A-7EE6-4342-B048-85BDC9FD1C3A}</a:tableStyleId>
              </a:tblPr>
              <a:tblGrid>
                <a:gridCol w="5385816"/>
                <a:gridCol w="5385816"/>
              </a:tblGrid>
              <a:tr h="594360">
                <a:tc>
                  <a:txBody>
                    <a:bodyPr/>
                    <a:lstStyle/>
                    <a:p>
                      <a:r>
                        <a:rPr sz="1450" b="1" i="0">
                          <a:solidFill>
                            <a:srgbClr val="FFFFFF"/>
                          </a:solidFill>
                          <a:latin typeface="Calibri"/>
                        </a:rPr>
                        <a:t>User-Based</a:t>
                      </a:r>
                    </a:p>
                  </a:txBody>
                  <a:tcPr anchor="ctr" marL="127000" marR="127000">
                    <a:solidFill>
                      <a:srgbClr val="1F2937"/>
                    </a:solidFill>
                  </a:tcPr>
                </a:tc>
                <a:tc>
                  <a:txBody>
                    <a:bodyPr/>
                    <a:lstStyle/>
                    <a:p>
                      <a:r>
                        <a:rPr sz="1450" b="1" i="0">
                          <a:solidFill>
                            <a:srgbClr val="FFFFFF"/>
                          </a:solidFill>
                          <a:latin typeface="Calibri"/>
                        </a:rPr>
                        <a:t>Item-Based</a:t>
                      </a:r>
                    </a:p>
                  </a:txBody>
                  <a:tcPr anchor="ctr" marL="127000" marR="127000">
                    <a:solidFill>
                      <a:srgbClr val="1F2937"/>
                    </a:solidFill>
                  </a:tcPr>
                </a:tc>
              </a:tr>
              <a:tr h="594360">
                <a:tc>
                  <a:txBody>
                    <a:bodyPr/>
                    <a:lstStyle/>
                    <a:p>
                      <a:r>
                        <a:rPr sz="1400" b="1" i="0">
                          <a:solidFill>
                            <a:srgbClr val="1F2937"/>
                          </a:solidFill>
                          <a:latin typeface="Calibri"/>
                        </a:rPr>
                        <a:t>Finds similar users</a:t>
                      </a:r>
                    </a:p>
                  </a:txBody>
                  <a:tcPr anchor="ctr" marL="127000" marR="127000">
                    <a:solidFill>
                      <a:srgbClr val="FFFFFF"/>
                    </a:solidFill>
                  </a:tcPr>
                </a:tc>
                <a:tc>
                  <a:txBody>
                    <a:bodyPr/>
                    <a:lstStyle/>
                    <a:p>
                      <a:r>
                        <a:rPr sz="1400" b="0" i="0">
                          <a:solidFill>
                            <a:srgbClr val="4B5563"/>
                          </a:solidFill>
                          <a:latin typeface="Calibri"/>
                        </a:rPr>
                        <a:t>Finds similar items</a:t>
                      </a:r>
                    </a:p>
                  </a:txBody>
                  <a:tcPr anchor="ctr" marL="127000" marR="127000">
                    <a:solidFill>
                      <a:srgbClr val="FFFFFF"/>
                    </a:solidFill>
                  </a:tcPr>
                </a:tc>
              </a:tr>
              <a:tr h="594360">
                <a:tc>
                  <a:txBody>
                    <a:bodyPr/>
                    <a:lstStyle/>
                    <a:p>
                      <a:r>
                        <a:rPr sz="1400" b="1" i="0">
                          <a:solidFill>
                            <a:srgbClr val="1F2937"/>
                          </a:solidFill>
                          <a:latin typeface="Calibri"/>
                        </a:rPr>
                        <a:t>Uses user behaviour</a:t>
                      </a:r>
                    </a:p>
                  </a:txBody>
                  <a:tcPr anchor="ctr" marL="127000" marR="127000">
                    <a:solidFill>
                      <a:srgbClr val="F7F9FB"/>
                    </a:solidFill>
                  </a:tcPr>
                </a:tc>
                <a:tc>
                  <a:txBody>
                    <a:bodyPr/>
                    <a:lstStyle/>
                    <a:p>
                      <a:r>
                        <a:rPr sz="1400" b="0" i="0">
                          <a:solidFill>
                            <a:srgbClr val="4B5563"/>
                          </a:solidFill>
                          <a:latin typeface="Calibri"/>
                        </a:rPr>
                        <a:t>Uses item relationships</a:t>
                      </a:r>
                    </a:p>
                  </a:txBody>
                  <a:tcPr anchor="ctr" marL="127000" marR="127000">
                    <a:solidFill>
                      <a:srgbClr val="F7F9FB"/>
                    </a:solidFill>
                  </a:tcPr>
                </a:tc>
              </a:tr>
              <a:tr h="594360">
                <a:tc>
                  <a:txBody>
                    <a:bodyPr/>
                    <a:lstStyle/>
                    <a:p>
                      <a:r>
                        <a:rPr sz="1400" b="1" i="0">
                          <a:solidFill>
                            <a:srgbClr val="1F2937"/>
                          </a:solidFill>
                          <a:latin typeface="Calibri"/>
                        </a:rPr>
                        <a:t>“People like you...”</a:t>
                      </a:r>
                    </a:p>
                  </a:txBody>
                  <a:tcPr anchor="ctr" marL="127000" marR="127000">
                    <a:solidFill>
                      <a:srgbClr val="FFFFFF"/>
                    </a:solidFill>
                  </a:tcPr>
                </a:tc>
                <a:tc>
                  <a:txBody>
                    <a:bodyPr/>
                    <a:lstStyle/>
                    <a:p>
                      <a:r>
                        <a:rPr sz="1400" b="0" i="0">
                          <a:solidFill>
                            <a:srgbClr val="4B5563"/>
                          </a:solidFill>
                          <a:latin typeface="Calibri"/>
                        </a:rPr>
                        <a:t>“People who liked this...”</a:t>
                      </a:r>
                    </a:p>
                  </a:txBody>
                  <a:tcPr anchor="ctr" marL="127000" marR="127000">
                    <a:solidFill>
                      <a:srgbClr val="FFFFFF"/>
                    </a:solidFill>
                  </a:tcPr>
                </a:tc>
              </a:tr>
            </a:tbl>
          </a:graphicData>
        </a:graphic>
      </p:graphicFrame>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11 · SIMILARITY</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What Does Similarity Mean?</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20</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737360"/>
            <a:ext cx="10771632" cy="548640"/>
          </a:xfrm>
          <a:prstGeom prst="rect">
            <a:avLst/>
          </a:prstGeom>
          <a:noFill/>
        </p:spPr>
        <p:txBody>
          <a:bodyPr wrap="square" anchor="t" lIns="0" rIns="0" tIns="0" bIns="0">
            <a:spAutoFit/>
          </a:bodyPr>
          <a:lstStyle/>
          <a:p>
            <a:pPr algn="l">
              <a:lnSpc>
                <a:spcPct val="100000"/>
              </a:lnSpc>
            </a:pPr>
            <a:r>
              <a:rPr sz="1900" b="1" i="0">
                <a:solidFill>
                  <a:srgbClr val="1F2937"/>
                </a:solidFill>
                <a:latin typeface="Calibri"/>
              </a:rPr>
              <a:t>“Similarity measures how closely two users or two items behave.”</a:t>
            </a:r>
          </a:p>
        </p:txBody>
      </p:sp>
      <p:sp>
        <p:nvSpPr>
          <p:cNvPr id="8" name="Rounded Rectangle 7"/>
          <p:cNvSpPr/>
          <p:nvPr/>
        </p:nvSpPr>
        <p:spPr>
          <a:xfrm>
            <a:off x="2651760" y="2834640"/>
            <a:ext cx="6858000" cy="219456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800" b="1" i="0">
                <a:solidFill>
                  <a:srgbClr val="FFFFFF"/>
                </a:solidFill>
                <a:latin typeface="Calibri"/>
              </a:rPr>
              <a:t>John and Mary</a:t>
            </a:r>
          </a:p>
          <a:p>
            <a:pPr algn="ctr"/>
            <a:r>
              <a:rPr sz="1800" b="1" i="0">
                <a:solidFill>
                  <a:srgbClr val="FFFFFF"/>
                </a:solidFill>
                <a:latin typeface="Calibri"/>
              </a:rPr>
              <a:t/>
            </a:r>
          </a:p>
          <a:p>
            <a:pPr algn="ctr"/>
            <a:r>
              <a:rPr sz="1800" b="1" i="0">
                <a:solidFill>
                  <a:srgbClr val="FFFFFF"/>
                </a:solidFill>
                <a:latin typeface="Calibri"/>
              </a:rPr>
              <a:t>Both like:</a:t>
            </a:r>
          </a:p>
          <a:p>
            <a:pPr algn="ctr"/>
            <a:r>
              <a:rPr sz="1800" b="1" i="0">
                <a:solidFill>
                  <a:srgbClr val="FFFFFF"/>
                </a:solidFill>
                <a:latin typeface="Calibri"/>
              </a:rPr>
              <a:t>Movie A, Movie B</a:t>
            </a:r>
          </a:p>
          <a:p>
            <a:pPr algn="ctr"/>
            <a:r>
              <a:rPr sz="1800" b="1" i="0">
                <a:solidFill>
                  <a:srgbClr val="FFFFFF"/>
                </a:solidFill>
                <a:latin typeface="Calibri"/>
              </a:rPr>
              <a:t/>
            </a:r>
          </a:p>
          <a:p>
            <a:pPr algn="ctr"/>
            <a:r>
              <a:rPr sz="1800" b="1" i="0">
                <a:solidFill>
                  <a:srgbClr val="FFFFFF"/>
                </a:solidFill>
                <a:latin typeface="Calibri"/>
              </a:rPr>
              <a:t>Similarity = High</a:t>
            </a:r>
          </a:p>
        </p:txBody>
      </p:sp>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11 · SIMILARITY</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Cosine Similarity</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21</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5074920" cy="489204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Imagine each user's preferences as a DIRECTION.</a:t>
            </a:r>
          </a:p>
          <a:p>
            <a:pPr>
              <a:lnSpc>
                <a:spcPct val="112000"/>
              </a:lnSpc>
              <a:spcAft>
                <a:spcPts val="1000"/>
              </a:spcAft>
            </a:pPr>
            <a:r>
              <a:rPr sz="1650" b="0" i="0">
                <a:solidFill>
                  <a:srgbClr val="4B5563"/>
                </a:solidFill>
                <a:latin typeface="Calibri"/>
              </a:rPr>
              <a:t>•  If the directions point roughly the same way → HIGH similarity.</a:t>
            </a:r>
          </a:p>
          <a:p>
            <a:pPr>
              <a:lnSpc>
                <a:spcPct val="112000"/>
              </a:lnSpc>
              <a:spcAft>
                <a:spcPts val="1000"/>
              </a:spcAft>
            </a:pPr>
            <a:r>
              <a:rPr sz="1650" b="0" i="0">
                <a:solidFill>
                  <a:srgbClr val="4B5563"/>
                </a:solidFill>
                <a:latin typeface="Calibri"/>
              </a:rPr>
              <a:t>•  If the directions point very differently → LOW similarity.</a:t>
            </a:r>
          </a:p>
          <a:p>
            <a:pPr>
              <a:lnSpc>
                <a:spcPct val="112000"/>
              </a:lnSpc>
              <a:spcAft>
                <a:spcPts val="1000"/>
              </a:spcAft>
            </a:pPr>
            <a:r>
              <a:rPr sz="1650" b="0" i="0">
                <a:solidFill>
                  <a:srgbClr val="4B5563"/>
                </a:solidFill>
                <a:latin typeface="Calibri"/>
              </a:rPr>
              <a:t>•  We won't dwell on the formula — the intuition is what matters. (For the curious: cosine similarity is the cosine of the angle between two preference vectors.)</a:t>
            </a:r>
          </a:p>
        </p:txBody>
      </p:sp>
      <p:pic>
        <p:nvPicPr>
          <p:cNvPr id="8" name="Picture 7" descr="06_cosine_similarity_intuition.png"/>
          <p:cNvPicPr>
            <a:picLocks noChangeAspect="1"/>
          </p:cNvPicPr>
          <p:nvPr/>
        </p:nvPicPr>
        <p:blipFill>
          <a:blip r:embed="rId2"/>
          <a:stretch>
            <a:fillRect/>
          </a:stretch>
        </p:blipFill>
        <p:spPr>
          <a:xfrm>
            <a:off x="6035040" y="1691640"/>
            <a:ext cx="4846320" cy="4717134"/>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12 · BUILDING THE ENGINE</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The Recommendation Pipeline</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22</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52647" y="1417320"/>
            <a:ext cx="5486400" cy="45720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User Data</a:t>
            </a:r>
          </a:p>
        </p:txBody>
      </p:sp>
      <p:cxnSp>
        <p:nvCxnSpPr>
          <p:cNvPr id="8" name="Connector 7"/>
          <p:cNvCxnSpPr/>
          <p:nvPr/>
        </p:nvCxnSpPr>
        <p:spPr>
          <a:xfrm>
            <a:off x="6095847" y="1899920"/>
            <a:ext cx="0" cy="9550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52647" y="2020824"/>
            <a:ext cx="5486400" cy="45720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User-Item Interactions</a:t>
            </a:r>
          </a:p>
        </p:txBody>
      </p:sp>
      <p:cxnSp>
        <p:nvCxnSpPr>
          <p:cNvPr id="10" name="Connector 9"/>
          <p:cNvCxnSpPr/>
          <p:nvPr/>
        </p:nvCxnSpPr>
        <p:spPr>
          <a:xfrm>
            <a:off x="6095847" y="2503424"/>
            <a:ext cx="0" cy="9550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52647" y="2624328"/>
            <a:ext cx="5486400" cy="45720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User-Item Matrix</a:t>
            </a:r>
          </a:p>
        </p:txBody>
      </p:sp>
      <p:cxnSp>
        <p:nvCxnSpPr>
          <p:cNvPr id="12" name="Connector 11"/>
          <p:cNvCxnSpPr/>
          <p:nvPr/>
        </p:nvCxnSpPr>
        <p:spPr>
          <a:xfrm>
            <a:off x="6095847" y="3106928"/>
            <a:ext cx="0" cy="9550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52647" y="3227832"/>
            <a:ext cx="5486400" cy="45720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Calculate Similarity</a:t>
            </a:r>
          </a:p>
        </p:txBody>
      </p:sp>
      <p:cxnSp>
        <p:nvCxnSpPr>
          <p:cNvPr id="14" name="Connector 13"/>
          <p:cNvCxnSpPr/>
          <p:nvPr/>
        </p:nvCxnSpPr>
        <p:spPr>
          <a:xfrm>
            <a:off x="6095847" y="3710432"/>
            <a:ext cx="0" cy="9550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2647" y="3831336"/>
            <a:ext cx="5486400" cy="45720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Find Similar Users or Items</a:t>
            </a:r>
          </a:p>
        </p:txBody>
      </p:sp>
      <p:cxnSp>
        <p:nvCxnSpPr>
          <p:cNvPr id="16" name="Connector 15"/>
          <p:cNvCxnSpPr/>
          <p:nvPr/>
        </p:nvCxnSpPr>
        <p:spPr>
          <a:xfrm>
            <a:off x="6095847" y="4313936"/>
            <a:ext cx="0" cy="9550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352647" y="4434840"/>
            <a:ext cx="5486400" cy="45720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Generate Scores</a:t>
            </a:r>
          </a:p>
        </p:txBody>
      </p:sp>
      <p:cxnSp>
        <p:nvCxnSpPr>
          <p:cNvPr id="18" name="Connector 17"/>
          <p:cNvCxnSpPr/>
          <p:nvPr/>
        </p:nvCxnSpPr>
        <p:spPr>
          <a:xfrm>
            <a:off x="6095847" y="4917440"/>
            <a:ext cx="0" cy="9550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352647" y="5038344"/>
            <a:ext cx="5486400" cy="45720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Rank Items</a:t>
            </a:r>
          </a:p>
        </p:txBody>
      </p:sp>
      <p:cxnSp>
        <p:nvCxnSpPr>
          <p:cNvPr id="20" name="Connector 19"/>
          <p:cNvCxnSpPr/>
          <p:nvPr/>
        </p:nvCxnSpPr>
        <p:spPr>
          <a:xfrm>
            <a:off x="6095847" y="5520944"/>
            <a:ext cx="0" cy="9550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352647" y="5641848"/>
            <a:ext cx="5486400" cy="45720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Recommend Top Items</a:t>
            </a:r>
          </a:p>
        </p:txBody>
      </p:sp>
      <p:sp>
        <p:nvSpPr>
          <p:cNvPr id="22" name="TextBox 21"/>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23" name="TextBox 22"/>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13 · MAKING RECOMMENDATIONS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Making a Recommendation — Example</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23</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91640"/>
            <a:ext cx="10771632" cy="1645920"/>
          </a:xfrm>
          <a:prstGeom prst="rect">
            <a:avLst/>
          </a:prstGeom>
          <a:noFill/>
        </p:spPr>
        <p:txBody>
          <a:bodyPr wrap="square" anchor="t" lIns="0" rIns="0" tIns="0" bIns="0">
            <a:spAutoFit/>
          </a:bodyPr>
          <a:lstStyle/>
          <a:p>
            <a:pPr>
              <a:lnSpc>
                <a:spcPct val="112000"/>
              </a:lnSpc>
              <a:spcAft>
                <a:spcPts val="1000"/>
              </a:spcAft>
            </a:pPr>
            <a:r>
              <a:rPr sz="1800" b="0" i="0">
                <a:solidFill>
                  <a:srgbClr val="4B5563"/>
                </a:solidFill>
                <a:latin typeface="Calibri"/>
              </a:rPr>
              <a:t>•  John has watched: Movie A, Movie B</a:t>
            </a:r>
          </a:p>
          <a:p>
            <a:pPr>
              <a:lnSpc>
                <a:spcPct val="112000"/>
              </a:lnSpc>
              <a:spcAft>
                <a:spcPts val="1000"/>
              </a:spcAft>
            </a:pPr>
            <a:r>
              <a:rPr sz="1800" b="0" i="0">
                <a:solidFill>
                  <a:srgbClr val="4B5563"/>
                </a:solidFill>
                <a:latin typeface="Calibri"/>
              </a:rPr>
              <a:t>•  Users similar to John also watched: Movie C, Movie D</a:t>
            </a:r>
          </a:p>
        </p:txBody>
      </p:sp>
      <p:sp>
        <p:nvSpPr>
          <p:cNvPr id="8" name="Rounded Rectangle 7"/>
          <p:cNvSpPr/>
          <p:nvPr/>
        </p:nvSpPr>
        <p:spPr>
          <a:xfrm>
            <a:off x="3108960" y="3291840"/>
            <a:ext cx="6309360" cy="146304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2000" b="1" i="0">
                <a:solidFill>
                  <a:srgbClr val="FFFFFF"/>
                </a:solidFill>
                <a:latin typeface="Calibri"/>
              </a:rPr>
              <a:t>1. Movie C</a:t>
            </a:r>
          </a:p>
          <a:p>
            <a:pPr algn="ctr"/>
            <a:r>
              <a:rPr sz="2000" b="1" i="0">
                <a:solidFill>
                  <a:srgbClr val="FFFFFF"/>
                </a:solidFill>
                <a:latin typeface="Calibri"/>
              </a:rPr>
              <a:t>2. Movie D</a:t>
            </a:r>
          </a:p>
        </p:txBody>
      </p:sp>
      <p:sp>
        <p:nvSpPr>
          <p:cNvPr id="9" name="TextBox 8"/>
          <p:cNvSpPr txBox="1"/>
          <p:nvPr/>
        </p:nvSpPr>
        <p:spPr>
          <a:xfrm>
            <a:off x="713232" y="5029200"/>
            <a:ext cx="10771632" cy="822960"/>
          </a:xfrm>
          <a:prstGeom prst="rect">
            <a:avLst/>
          </a:prstGeom>
          <a:noFill/>
        </p:spPr>
        <p:txBody>
          <a:bodyPr wrap="square" anchor="t" lIns="0" rIns="0" tIns="0" bIns="0">
            <a:spAutoFit/>
          </a:bodyPr>
          <a:lstStyle/>
          <a:p>
            <a:pPr algn="l">
              <a:lnSpc>
                <a:spcPct val="100000"/>
              </a:lnSpc>
            </a:pPr>
            <a:r>
              <a:rPr sz="1600" b="0" i="1">
                <a:solidFill>
                  <a:srgbClr val="4B5563"/>
                </a:solidFill>
                <a:latin typeface="Calibri"/>
              </a:rPr>
              <a:t>We usually recommend the highest-ranked items that the user has NOT already interacted with.</a:t>
            </a:r>
          </a:p>
        </p:txBody>
      </p:sp>
      <p:sp>
        <p:nvSpPr>
          <p:cNvPr id="10" name="TextBox 9"/>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1" name="TextBox 10"/>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14 · EVALUATION</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How Do We Know Our Recommendations Are Good?</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24</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120640" cy="210312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700" b="1" i="0">
                <a:solidFill>
                  <a:srgbClr val="FFFFFF"/>
                </a:solidFill>
                <a:latin typeface="Calibri"/>
              </a:rPr>
              <a:t>PRECISION</a:t>
            </a:r>
          </a:p>
          <a:p>
            <a:pPr algn="ctr"/>
            <a:r>
              <a:rPr sz="1700" b="1" i="0">
                <a:solidFill>
                  <a:srgbClr val="FFFFFF"/>
                </a:solidFill>
                <a:latin typeface="Calibri"/>
              </a:rPr>
              <a:t/>
            </a:r>
          </a:p>
          <a:p>
            <a:pPr algn="ctr"/>
            <a:r>
              <a:rPr sz="1700" b="1" i="0">
                <a:solidFill>
                  <a:srgbClr val="FFFFFF"/>
                </a:solidFill>
                <a:latin typeface="Calibri"/>
              </a:rPr>
              <a:t>“Out of the items we</a:t>
            </a:r>
          </a:p>
          <a:p>
            <a:pPr algn="ctr"/>
            <a:r>
              <a:rPr sz="1700" b="1" i="0">
                <a:solidFill>
                  <a:srgbClr val="FFFFFF"/>
                </a:solidFill>
                <a:latin typeface="Calibri"/>
              </a:rPr>
              <a:t>recommended, how many</a:t>
            </a:r>
          </a:p>
          <a:p>
            <a:pPr algn="ctr"/>
            <a:r>
              <a:rPr sz="1700" b="1" i="0">
                <a:solidFill>
                  <a:srgbClr val="FFFFFF"/>
                </a:solidFill>
                <a:latin typeface="Calibri"/>
              </a:rPr>
              <a:t>were relevant?”</a:t>
            </a:r>
          </a:p>
        </p:txBody>
      </p:sp>
      <p:sp>
        <p:nvSpPr>
          <p:cNvPr id="8" name="Rounded Rectangle 7"/>
          <p:cNvSpPr/>
          <p:nvPr/>
        </p:nvSpPr>
        <p:spPr>
          <a:xfrm>
            <a:off x="6263640" y="1737360"/>
            <a:ext cx="5120640" cy="2103120"/>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700" b="1" i="0">
                <a:solidFill>
                  <a:srgbClr val="FFFFFF"/>
                </a:solidFill>
                <a:latin typeface="Calibri"/>
              </a:rPr>
              <a:t>RECALL</a:t>
            </a:r>
          </a:p>
          <a:p>
            <a:pPr algn="ctr"/>
            <a:r>
              <a:rPr sz="1700" b="1" i="0">
                <a:solidFill>
                  <a:srgbClr val="FFFFFF"/>
                </a:solidFill>
                <a:latin typeface="Calibri"/>
              </a:rPr>
              <a:t/>
            </a:r>
          </a:p>
          <a:p>
            <a:pPr algn="ctr"/>
            <a:r>
              <a:rPr sz="1700" b="1" i="0">
                <a:solidFill>
                  <a:srgbClr val="FFFFFF"/>
                </a:solidFill>
                <a:latin typeface="Calibri"/>
              </a:rPr>
              <a:t>“Out of the relevant items,</a:t>
            </a:r>
          </a:p>
          <a:p>
            <a:pPr algn="ctr"/>
            <a:r>
              <a:rPr sz="1700" b="1" i="0">
                <a:solidFill>
                  <a:srgbClr val="FFFFFF"/>
                </a:solidFill>
                <a:latin typeface="Calibri"/>
              </a:rPr>
              <a:t>how many did we</a:t>
            </a:r>
          </a:p>
          <a:p>
            <a:pPr algn="ctr"/>
            <a:r>
              <a:rPr sz="1700" b="1" i="0">
                <a:solidFill>
                  <a:srgbClr val="FFFFFF"/>
                </a:solidFill>
                <a:latin typeface="Calibri"/>
              </a:rPr>
              <a:t>successfully recommend?”</a:t>
            </a:r>
          </a:p>
        </p:txBody>
      </p:sp>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14 · EVALUATION</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Top-K Recommendations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25</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5074920" cy="489204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In practice, we only show a TOP-K list (e.g. the top 5 recommendations), not every possible item.</a:t>
            </a:r>
          </a:p>
          <a:p>
            <a:pPr>
              <a:lnSpc>
                <a:spcPct val="112000"/>
              </a:lnSpc>
              <a:spcAft>
                <a:spcPts val="1000"/>
              </a:spcAft>
            </a:pPr>
            <a:r>
              <a:rPr sz="1650" b="0" i="0">
                <a:solidFill>
                  <a:srgbClr val="4B5563"/>
                </a:solidFill>
                <a:latin typeface="Calibri"/>
              </a:rPr>
              <a:t>•  Precision@5 = of the 5 items we recommended, how many were relevant?</a:t>
            </a:r>
          </a:p>
          <a:p>
            <a:pPr>
              <a:lnSpc>
                <a:spcPct val="112000"/>
              </a:lnSpc>
              <a:spcAft>
                <a:spcPts val="1000"/>
              </a:spcAft>
            </a:pPr>
            <a:r>
              <a:rPr sz="1650" b="0" i="0">
                <a:solidFill>
                  <a:srgbClr val="4B5563"/>
                </a:solidFill>
                <a:latin typeface="Calibri"/>
              </a:rPr>
              <a:t>•  Recall@5 = of all the relevant items, how many appeared in our top 5?</a:t>
            </a:r>
          </a:p>
          <a:p>
            <a:pPr>
              <a:lnSpc>
                <a:spcPct val="112000"/>
              </a:lnSpc>
              <a:spcAft>
                <a:spcPts val="1000"/>
              </a:spcAft>
            </a:pPr>
            <a:r>
              <a:rPr sz="1650" b="0" i="0">
                <a:solidFill>
                  <a:srgbClr val="4B5563"/>
                </a:solidFill>
                <a:latin typeface="Calibri"/>
              </a:rPr>
              <a:t>•  In this example: 3 of 5 recommended items were relevant, so Precision@5 = 0.6.</a:t>
            </a:r>
          </a:p>
        </p:txBody>
      </p:sp>
      <p:pic>
        <p:nvPicPr>
          <p:cNvPr id="8" name="Picture 7" descr="09_precision_at_k.png"/>
          <p:cNvPicPr>
            <a:picLocks noChangeAspect="1"/>
          </p:cNvPicPr>
          <p:nvPr/>
        </p:nvPicPr>
        <p:blipFill>
          <a:blip r:embed="rId2"/>
          <a:stretch>
            <a:fillRect/>
          </a:stretch>
        </p:blipFill>
        <p:spPr>
          <a:xfrm>
            <a:off x="6035040" y="1691640"/>
            <a:ext cx="5349240" cy="2920276"/>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15 · REAL-WORLD CHALLENGES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Challenges With Collaborative Filtering</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26</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691640"/>
            <a:ext cx="3429000" cy="2103120"/>
          </a:xfrm>
          <a:prstGeom prst="roundRect">
            <a:avLst>
              <a:gd name="adj" fmla="val 8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50" b="1" i="0">
                <a:solidFill>
                  <a:srgbClr val="FFFFFF"/>
                </a:solidFill>
                <a:latin typeface="Calibri"/>
              </a:rPr>
              <a:t>COLD START</a:t>
            </a:r>
          </a:p>
          <a:p>
            <a:pPr algn="ctr"/>
            <a:r>
              <a:rPr sz="1550" b="1" i="0">
                <a:solidFill>
                  <a:srgbClr val="FFFFFF"/>
                </a:solidFill>
                <a:latin typeface="Calibri"/>
              </a:rPr>
              <a:t/>
            </a:r>
          </a:p>
          <a:p>
            <a:pPr algn="ctr"/>
            <a:r>
              <a:rPr sz="1550" b="1" i="0">
                <a:solidFill>
                  <a:srgbClr val="FFFFFF"/>
                </a:solidFill>
                <a:latin typeface="Calibri"/>
              </a:rPr>
              <a:t>New users or items</a:t>
            </a:r>
          </a:p>
          <a:p>
            <a:pPr algn="ctr"/>
            <a:r>
              <a:rPr sz="1550" b="1" i="0">
                <a:solidFill>
                  <a:srgbClr val="FFFFFF"/>
                </a:solidFill>
                <a:latin typeface="Calibri"/>
              </a:rPr>
              <a:t>have little or</a:t>
            </a:r>
          </a:p>
          <a:p>
            <a:pPr algn="ctr"/>
            <a:r>
              <a:rPr sz="1550" b="1" i="0">
                <a:solidFill>
                  <a:srgbClr val="FFFFFF"/>
                </a:solidFill>
                <a:latin typeface="Calibri"/>
              </a:rPr>
              <a:t>no history.</a:t>
            </a:r>
          </a:p>
        </p:txBody>
      </p:sp>
      <p:sp>
        <p:nvSpPr>
          <p:cNvPr id="8" name="Rounded Rectangle 7"/>
          <p:cNvSpPr/>
          <p:nvPr/>
        </p:nvSpPr>
        <p:spPr>
          <a:xfrm>
            <a:off x="4370832" y="1691640"/>
            <a:ext cx="3429000" cy="2103120"/>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50" b="1" i="0">
                <a:solidFill>
                  <a:srgbClr val="FFFFFF"/>
                </a:solidFill>
                <a:latin typeface="Calibri"/>
              </a:rPr>
              <a:t>SPARSE DATA</a:t>
            </a:r>
          </a:p>
          <a:p>
            <a:pPr algn="ctr"/>
            <a:r>
              <a:rPr sz="1550" b="1" i="0">
                <a:solidFill>
                  <a:srgbClr val="FFFFFF"/>
                </a:solidFill>
                <a:latin typeface="Calibri"/>
              </a:rPr>
              <a:t/>
            </a:r>
          </a:p>
          <a:p>
            <a:pPr algn="ctr"/>
            <a:r>
              <a:rPr sz="1550" b="1" i="0">
                <a:solidFill>
                  <a:srgbClr val="FFFFFF"/>
                </a:solidFill>
                <a:latin typeface="Calibri"/>
              </a:rPr>
              <a:t>Most users interact</a:t>
            </a:r>
          </a:p>
          <a:p>
            <a:pPr algn="ctr"/>
            <a:r>
              <a:rPr sz="1550" b="1" i="0">
                <a:solidFill>
                  <a:srgbClr val="FFFFFF"/>
                </a:solidFill>
                <a:latin typeface="Calibri"/>
              </a:rPr>
              <a:t>with only a small</a:t>
            </a:r>
          </a:p>
          <a:p>
            <a:pPr algn="ctr"/>
            <a:r>
              <a:rPr sz="1550" b="1" i="0">
                <a:solidFill>
                  <a:srgbClr val="FFFFFF"/>
                </a:solidFill>
                <a:latin typeface="Calibri"/>
              </a:rPr>
              <a:t>number of items.</a:t>
            </a:r>
          </a:p>
        </p:txBody>
      </p:sp>
      <p:sp>
        <p:nvSpPr>
          <p:cNvPr id="9" name="Rounded Rectangle 8"/>
          <p:cNvSpPr/>
          <p:nvPr/>
        </p:nvSpPr>
        <p:spPr>
          <a:xfrm>
            <a:off x="7818120" y="1691640"/>
            <a:ext cx="3657600" cy="210312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50" b="1" i="0">
                <a:solidFill>
                  <a:srgbClr val="FFFFFF"/>
                </a:solidFill>
                <a:latin typeface="Calibri"/>
              </a:rPr>
              <a:t>SCALABILITY</a:t>
            </a:r>
          </a:p>
          <a:p>
            <a:pPr algn="ctr"/>
            <a:r>
              <a:rPr sz="1550" b="1" i="0">
                <a:solidFill>
                  <a:srgbClr val="FFFFFF"/>
                </a:solidFill>
                <a:latin typeface="Calibri"/>
              </a:rPr>
              <a:t/>
            </a:r>
          </a:p>
          <a:p>
            <a:pPr algn="ctr"/>
            <a:r>
              <a:rPr sz="1550" b="1" i="0">
                <a:solidFill>
                  <a:srgbClr val="FFFFFF"/>
                </a:solidFill>
                <a:latin typeface="Calibri"/>
              </a:rPr>
              <a:t>Large platforms have</a:t>
            </a:r>
          </a:p>
          <a:p>
            <a:pPr algn="ctr"/>
            <a:r>
              <a:rPr sz="1550" b="1" i="0">
                <a:solidFill>
                  <a:srgbClr val="FFFFFF"/>
                </a:solidFill>
                <a:latin typeface="Calibri"/>
              </a:rPr>
              <a:t>millions of users</a:t>
            </a:r>
          </a:p>
          <a:p>
            <a:pPr algn="ctr"/>
            <a:r>
              <a:rPr sz="1550" b="1" i="0">
                <a:solidFill>
                  <a:srgbClr val="FFFFFF"/>
                </a:solidFill>
                <a:latin typeface="Calibri"/>
              </a:rPr>
              <a:t>and items.</a:t>
            </a:r>
          </a:p>
        </p:txBody>
      </p:sp>
      <p:pic>
        <p:nvPicPr>
          <p:cNvPr id="10" name="Picture 9" descr="05_full_sparsity_heatmap.png"/>
          <p:cNvPicPr>
            <a:picLocks noChangeAspect="1"/>
          </p:cNvPicPr>
          <p:nvPr/>
        </p:nvPicPr>
        <p:blipFill>
          <a:blip r:embed="rId2"/>
          <a:stretch>
            <a:fillRect/>
          </a:stretch>
        </p:blipFill>
        <p:spPr>
          <a:xfrm>
            <a:off x="4251960" y="3977639"/>
            <a:ext cx="3657600" cy="2411978"/>
          </a:xfrm>
          <a:prstGeom prst="rect">
            <a:avLst/>
          </a:prstGeom>
          <a:ln w="12700">
            <a:solidFill>
              <a:srgbClr val="E5E7EB"/>
            </a:solidFill>
          </a:ln>
        </p:spPr>
      </p:pic>
      <p:sp>
        <p:nvSpPr>
          <p:cNvPr id="11" name="TextBox 10"/>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2" name="TextBox 11"/>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16 · MISCONCEPTIONS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Common Mistakes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27</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4937760"/>
          </a:xfrm>
          <a:prstGeom prst="rect">
            <a:avLst/>
          </a:prstGeom>
          <a:noFill/>
        </p:spPr>
        <p:txBody>
          <a:bodyPr wrap="square" anchor="t" lIns="0" rIns="0" tIns="0" bIns="0">
            <a:spAutoFit/>
          </a:bodyPr>
          <a:lstStyle/>
          <a:p>
            <a:pPr>
              <a:lnSpc>
                <a:spcPct val="112000"/>
              </a:lnSpc>
              <a:spcAft>
                <a:spcPts val="1000"/>
              </a:spcAft>
            </a:pPr>
            <a:r>
              <a:rPr sz="1800" b="0" i="0">
                <a:solidFill>
                  <a:srgbClr val="4B5563"/>
                </a:solidFill>
                <a:latin typeface="Calibri"/>
              </a:rPr>
              <a:t>•  Similar users are not always identical.</a:t>
            </a:r>
          </a:p>
          <a:p>
            <a:pPr>
              <a:lnSpc>
                <a:spcPct val="112000"/>
              </a:lnSpc>
              <a:spcAft>
                <a:spcPts val="1000"/>
              </a:spcAft>
            </a:pPr>
            <a:r>
              <a:rPr sz="1800" b="0" i="0">
                <a:solidFill>
                  <a:srgbClr val="4B5563"/>
                </a:solidFill>
                <a:latin typeface="Calibri"/>
              </a:rPr>
              <a:t>•  Recommendations are predictions, not guarantees.</a:t>
            </a:r>
          </a:p>
          <a:p>
            <a:pPr>
              <a:lnSpc>
                <a:spcPct val="112000"/>
              </a:lnSpc>
              <a:spcAft>
                <a:spcPts val="1000"/>
              </a:spcAft>
            </a:pPr>
            <a:r>
              <a:rPr sz="1800" b="0" i="0">
                <a:solidFill>
                  <a:srgbClr val="4B5563"/>
                </a:solidFill>
                <a:latin typeface="Calibri"/>
              </a:rPr>
              <a:t>•  A recommendation does not mean the user will definitely like the item.</a:t>
            </a:r>
          </a:p>
          <a:p>
            <a:pPr>
              <a:lnSpc>
                <a:spcPct val="112000"/>
              </a:lnSpc>
              <a:spcAft>
                <a:spcPts val="1000"/>
              </a:spcAft>
            </a:pPr>
            <a:r>
              <a:rPr sz="1800" b="0" i="0">
                <a:solidFill>
                  <a:srgbClr val="4B5563"/>
                </a:solidFill>
                <a:latin typeface="Calibri"/>
              </a:rPr>
              <a:t>•  More complex models are not always better.</a:t>
            </a:r>
          </a:p>
          <a:p>
            <a:pPr>
              <a:lnSpc>
                <a:spcPct val="112000"/>
              </a:lnSpc>
              <a:spcAft>
                <a:spcPts val="1000"/>
              </a:spcAft>
            </a:pPr>
            <a:r>
              <a:rPr sz="1800" b="0" i="0">
                <a:solidFill>
                  <a:srgbClr val="4B5563"/>
                </a:solidFill>
                <a:latin typeface="Calibri"/>
              </a:rPr>
              <a:t>•  User behaviour can change over time.</a:t>
            </a:r>
          </a:p>
        </p:txBody>
      </p:sp>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17 · BUSINESS VALUE</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Why Do Businesses Use Recommendation Systems?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28</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91640"/>
            <a:ext cx="5074920" cy="3108960"/>
          </a:xfrm>
          <a:prstGeom prst="rect">
            <a:avLst/>
          </a:prstGeom>
          <a:noFill/>
        </p:spPr>
        <p:txBody>
          <a:bodyPr wrap="square" anchor="t" lIns="0" rIns="0" tIns="0" bIns="0">
            <a:spAutoFit/>
          </a:bodyPr>
          <a:lstStyle/>
          <a:p>
            <a:pPr>
              <a:lnSpc>
                <a:spcPct val="112000"/>
              </a:lnSpc>
              <a:spcAft>
                <a:spcPts val="1000"/>
              </a:spcAft>
            </a:pPr>
            <a:r>
              <a:rPr sz="1700" b="0" i="0">
                <a:solidFill>
                  <a:srgbClr val="4B5563"/>
                </a:solidFill>
                <a:latin typeface="Calibri"/>
              </a:rPr>
              <a:t>•  Better user experience</a:t>
            </a:r>
          </a:p>
          <a:p>
            <a:pPr>
              <a:lnSpc>
                <a:spcPct val="112000"/>
              </a:lnSpc>
              <a:spcAft>
                <a:spcPts val="1000"/>
              </a:spcAft>
            </a:pPr>
            <a:r>
              <a:rPr sz="1700" b="0" i="0">
                <a:solidFill>
                  <a:srgbClr val="4B5563"/>
                </a:solidFill>
                <a:latin typeface="Calibri"/>
              </a:rPr>
              <a:t>•  Personalization</a:t>
            </a:r>
          </a:p>
          <a:p>
            <a:pPr>
              <a:lnSpc>
                <a:spcPct val="112000"/>
              </a:lnSpc>
              <a:spcAft>
                <a:spcPts val="1000"/>
              </a:spcAft>
            </a:pPr>
            <a:r>
              <a:rPr sz="1700" b="0" i="0">
                <a:solidFill>
                  <a:srgbClr val="4B5563"/>
                </a:solidFill>
                <a:latin typeface="Calibri"/>
              </a:rPr>
              <a:t>•  Product discovery</a:t>
            </a:r>
          </a:p>
          <a:p>
            <a:pPr>
              <a:lnSpc>
                <a:spcPct val="112000"/>
              </a:lnSpc>
              <a:spcAft>
                <a:spcPts val="1000"/>
              </a:spcAft>
            </a:pPr>
            <a:r>
              <a:rPr sz="1700" b="0" i="0">
                <a:solidFill>
                  <a:srgbClr val="4B5563"/>
                </a:solidFill>
                <a:latin typeface="Calibri"/>
              </a:rPr>
              <a:t>•  Increased engagement</a:t>
            </a:r>
          </a:p>
          <a:p>
            <a:pPr>
              <a:lnSpc>
                <a:spcPct val="112000"/>
              </a:lnSpc>
              <a:spcAft>
                <a:spcPts val="1000"/>
              </a:spcAft>
            </a:pPr>
            <a:r>
              <a:rPr sz="1700" b="0" i="0">
                <a:solidFill>
                  <a:srgbClr val="4B5563"/>
                </a:solidFill>
                <a:latin typeface="Calibri"/>
              </a:rPr>
              <a:t>•  Increased sales</a:t>
            </a:r>
          </a:p>
          <a:p>
            <a:pPr>
              <a:lnSpc>
                <a:spcPct val="112000"/>
              </a:lnSpc>
              <a:spcAft>
                <a:spcPts val="1000"/>
              </a:spcAft>
            </a:pPr>
            <a:r>
              <a:rPr sz="1700" b="0" i="0">
                <a:solidFill>
                  <a:srgbClr val="4B5563"/>
                </a:solidFill>
                <a:latin typeface="Calibri"/>
              </a:rPr>
              <a:t>•  Customer retention</a:t>
            </a:r>
          </a:p>
        </p:txBody>
      </p:sp>
      <p:sp>
        <p:nvSpPr>
          <p:cNvPr id="8" name="TextBox 7"/>
          <p:cNvSpPr txBox="1"/>
          <p:nvPr/>
        </p:nvSpPr>
        <p:spPr>
          <a:xfrm>
            <a:off x="6035040" y="1691640"/>
            <a:ext cx="5486400" cy="365760"/>
          </a:xfrm>
          <a:prstGeom prst="rect">
            <a:avLst/>
          </a:prstGeom>
          <a:noFill/>
        </p:spPr>
        <p:txBody>
          <a:bodyPr wrap="square" anchor="t" lIns="0" rIns="0" tIns="0" bIns="0">
            <a:spAutoFit/>
          </a:bodyPr>
          <a:lstStyle/>
          <a:p>
            <a:pPr algn="l">
              <a:lnSpc>
                <a:spcPct val="100000"/>
              </a:lnSpc>
            </a:pPr>
            <a:r>
              <a:rPr sz="1500" b="1" i="0">
                <a:solidFill>
                  <a:srgbClr val="6B7280"/>
                </a:solidFill>
                <a:latin typeface="Calibri"/>
              </a:rPr>
              <a:t>Used across industries:</a:t>
            </a:r>
          </a:p>
        </p:txBody>
      </p:sp>
      <p:sp>
        <p:nvSpPr>
          <p:cNvPr id="9" name="Rounded Rectangle 8"/>
          <p:cNvSpPr/>
          <p:nvPr/>
        </p:nvSpPr>
        <p:spPr>
          <a:xfrm>
            <a:off x="6035040" y="2103120"/>
            <a:ext cx="3840480" cy="457200"/>
          </a:xfrm>
          <a:prstGeom prst="roundRect">
            <a:avLst>
              <a:gd name="adj" fmla="val 50000"/>
            </a:avLst>
          </a:prstGeom>
          <a:solidFill>
            <a:srgbClr val="CCEC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0F5C54"/>
                </a:solidFill>
                <a:latin typeface="Calibri"/>
              </a:rPr>
              <a:t>Streaming</a:t>
            </a:r>
          </a:p>
        </p:txBody>
      </p:sp>
      <p:sp>
        <p:nvSpPr>
          <p:cNvPr id="10" name="Rounded Rectangle 9"/>
          <p:cNvSpPr/>
          <p:nvPr/>
        </p:nvSpPr>
        <p:spPr>
          <a:xfrm>
            <a:off x="6035040" y="2697479"/>
            <a:ext cx="3840480" cy="457200"/>
          </a:xfrm>
          <a:prstGeom prst="roundRect">
            <a:avLst>
              <a:gd name="adj" fmla="val 50000"/>
            </a:avLst>
          </a:prstGeom>
          <a:solidFill>
            <a:srgbClr val="CCEC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0F5C54"/>
                </a:solidFill>
                <a:latin typeface="Calibri"/>
              </a:rPr>
              <a:t>E-commerce</a:t>
            </a:r>
          </a:p>
        </p:txBody>
      </p:sp>
      <p:sp>
        <p:nvSpPr>
          <p:cNvPr id="11" name="Rounded Rectangle 10"/>
          <p:cNvSpPr/>
          <p:nvPr/>
        </p:nvSpPr>
        <p:spPr>
          <a:xfrm>
            <a:off x="6035040" y="3291839"/>
            <a:ext cx="3840480" cy="457200"/>
          </a:xfrm>
          <a:prstGeom prst="roundRect">
            <a:avLst>
              <a:gd name="adj" fmla="val 50000"/>
            </a:avLst>
          </a:prstGeom>
          <a:solidFill>
            <a:srgbClr val="CCEC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0F5C54"/>
                </a:solidFill>
                <a:latin typeface="Calibri"/>
              </a:rPr>
              <a:t>Music</a:t>
            </a:r>
          </a:p>
        </p:txBody>
      </p:sp>
      <p:sp>
        <p:nvSpPr>
          <p:cNvPr id="12" name="Rounded Rectangle 11"/>
          <p:cNvSpPr/>
          <p:nvPr/>
        </p:nvSpPr>
        <p:spPr>
          <a:xfrm>
            <a:off x="6035040" y="3886200"/>
            <a:ext cx="3840480" cy="457200"/>
          </a:xfrm>
          <a:prstGeom prst="roundRect">
            <a:avLst>
              <a:gd name="adj" fmla="val 50000"/>
            </a:avLst>
          </a:prstGeom>
          <a:solidFill>
            <a:srgbClr val="CCEC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0F5C54"/>
                </a:solidFill>
                <a:latin typeface="Calibri"/>
              </a:rPr>
              <a:t>Education</a:t>
            </a:r>
          </a:p>
        </p:txBody>
      </p:sp>
      <p:sp>
        <p:nvSpPr>
          <p:cNvPr id="13" name="Rounded Rectangle 12"/>
          <p:cNvSpPr/>
          <p:nvPr/>
        </p:nvSpPr>
        <p:spPr>
          <a:xfrm>
            <a:off x="6035040" y="4480560"/>
            <a:ext cx="3840480" cy="457200"/>
          </a:xfrm>
          <a:prstGeom prst="roundRect">
            <a:avLst>
              <a:gd name="adj" fmla="val 50000"/>
            </a:avLst>
          </a:prstGeom>
          <a:solidFill>
            <a:srgbClr val="CCEC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0F5C54"/>
                </a:solidFill>
                <a:latin typeface="Calibri"/>
              </a:rPr>
              <a:t>Banking</a:t>
            </a:r>
          </a:p>
        </p:txBody>
      </p:sp>
      <p:sp>
        <p:nvSpPr>
          <p:cNvPr id="14" name="TextBox 13"/>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5" name="TextBox 14"/>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18 · RECAP</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The Complete Mental Model</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29</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600200"/>
            <a:ext cx="5225796" cy="685800"/>
          </a:xfrm>
          <a:prstGeom prst="roundRect">
            <a:avLst>
              <a:gd name="adj" fmla="val 16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Users + Items</a:t>
            </a:r>
          </a:p>
        </p:txBody>
      </p:sp>
      <p:cxnSp>
        <p:nvCxnSpPr>
          <p:cNvPr id="8" name="Connector 7"/>
          <p:cNvCxnSpPr/>
          <p:nvPr/>
        </p:nvCxnSpPr>
        <p:spPr>
          <a:xfrm>
            <a:off x="5964428" y="194310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259068" y="1600200"/>
            <a:ext cx="5225796" cy="685800"/>
          </a:xfrm>
          <a:prstGeom prst="roundRect">
            <a:avLst>
              <a:gd name="adj" fmla="val 16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Interactions</a:t>
            </a:r>
          </a:p>
        </p:txBody>
      </p:sp>
      <p:sp>
        <p:nvSpPr>
          <p:cNvPr id="10" name="Rounded Rectangle 9"/>
          <p:cNvSpPr/>
          <p:nvPr/>
        </p:nvSpPr>
        <p:spPr>
          <a:xfrm>
            <a:off x="3489807" y="2606040"/>
            <a:ext cx="5212080" cy="420624"/>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User-Item Matrix</a:t>
            </a:r>
          </a:p>
        </p:txBody>
      </p:sp>
      <p:cxnSp>
        <p:nvCxnSpPr>
          <p:cNvPr id="11" name="Connector 10"/>
          <p:cNvCxnSpPr/>
          <p:nvPr/>
        </p:nvCxnSpPr>
        <p:spPr>
          <a:xfrm>
            <a:off x="6095847" y="3052064"/>
            <a:ext cx="0" cy="4064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89807" y="3118104"/>
            <a:ext cx="5212080" cy="420624"/>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Find Similarity</a:t>
            </a:r>
          </a:p>
        </p:txBody>
      </p:sp>
      <p:cxnSp>
        <p:nvCxnSpPr>
          <p:cNvPr id="13" name="Connector 12"/>
          <p:cNvCxnSpPr/>
          <p:nvPr/>
        </p:nvCxnSpPr>
        <p:spPr>
          <a:xfrm>
            <a:off x="6095847" y="3564128"/>
            <a:ext cx="0" cy="4064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489807" y="3630168"/>
            <a:ext cx="5212080" cy="420624"/>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User-Based or Item-Based</a:t>
            </a:r>
          </a:p>
        </p:txBody>
      </p:sp>
      <p:cxnSp>
        <p:nvCxnSpPr>
          <p:cNvPr id="15" name="Connector 14"/>
          <p:cNvCxnSpPr/>
          <p:nvPr/>
        </p:nvCxnSpPr>
        <p:spPr>
          <a:xfrm>
            <a:off x="6095847" y="4076192"/>
            <a:ext cx="0" cy="4064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89807" y="4142232"/>
            <a:ext cx="5212080" cy="420624"/>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Predict Interest</a:t>
            </a:r>
          </a:p>
        </p:txBody>
      </p:sp>
      <p:cxnSp>
        <p:nvCxnSpPr>
          <p:cNvPr id="17" name="Connector 16"/>
          <p:cNvCxnSpPr/>
          <p:nvPr/>
        </p:nvCxnSpPr>
        <p:spPr>
          <a:xfrm>
            <a:off x="6095847" y="4588256"/>
            <a:ext cx="0" cy="4064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489807" y="4654296"/>
            <a:ext cx="5212080" cy="420624"/>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Rank Items</a:t>
            </a:r>
          </a:p>
        </p:txBody>
      </p:sp>
      <p:cxnSp>
        <p:nvCxnSpPr>
          <p:cNvPr id="19" name="Connector 18"/>
          <p:cNvCxnSpPr/>
          <p:nvPr/>
        </p:nvCxnSpPr>
        <p:spPr>
          <a:xfrm>
            <a:off x="6095847" y="5100320"/>
            <a:ext cx="0" cy="4064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489807" y="5166360"/>
            <a:ext cx="5212080" cy="420624"/>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Top Recommendations</a:t>
            </a:r>
          </a:p>
        </p:txBody>
      </p:sp>
      <p:sp>
        <p:nvSpPr>
          <p:cNvPr id="21" name="TextBox 20"/>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22" name="TextBox 21"/>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18 · RECAP</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Transition to Coding</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30</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920240"/>
            <a:ext cx="10771632" cy="3291840"/>
          </a:xfrm>
          <a:prstGeom prst="roundRect">
            <a:avLst>
              <a:gd name="adj" fmla="val 6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0" rIns="381000"/>
          <a:lstStyle/>
          <a:p>
            <a:pPr algn="ctr"/>
            <a:r>
              <a:rPr sz="3200" b="1" i="0">
                <a:solidFill>
                  <a:srgbClr val="FFFFFF"/>
                </a:solidFill>
                <a:latin typeface="Calibri"/>
              </a:rPr>
              <a:t>“Now that we understand how collaborative filtering works,
how do we build a simple recommendation engine in Python?”</a:t>
            </a:r>
          </a:p>
          <a:p>
            <a:pPr algn="ctr">
              <a:spcBef>
                <a:spcPts val="1400"/>
              </a:spcBef>
            </a:pPr>
            <a:r>
              <a:rPr sz="1700" b="0" i="1">
                <a:solidFill>
                  <a:srgbClr val="C7CED9"/>
                </a:solidFill>
                <a:latin typeface="Calibri"/>
              </a:rPr>
              <a:t>Let's open the notebooks.</a:t>
            </a:r>
          </a:p>
        </p:txBody>
      </p:sp>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INSTRUCTOR REFERENCE</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Important Distinctions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31</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13232" y="1417320"/>
          <a:ext cx="10771631" cy="4389120"/>
        </p:xfrm>
        <a:graphic>
          <a:graphicData uri="http://schemas.openxmlformats.org/drawingml/2006/table">
            <a:tbl>
              <a:tblPr firstRow="1" bandRow="1">
                <a:tableStyleId>{5C22544A-7EE6-4342-B048-85BDC9FD1C3A}</a:tableStyleId>
              </a:tblPr>
              <a:tblGrid>
                <a:gridCol w="4308652"/>
                <a:gridCol w="6462979"/>
              </a:tblGrid>
              <a:tr h="731520">
                <a:tc>
                  <a:txBody>
                    <a:bodyPr/>
                    <a:lstStyle/>
                    <a:p>
                      <a:r>
                        <a:rPr sz="1450" b="1" i="0">
                          <a:solidFill>
                            <a:srgbClr val="FFFFFF"/>
                          </a:solidFill>
                          <a:latin typeface="Calibri"/>
                        </a:rPr>
                        <a:t>Myth</a:t>
                      </a:r>
                    </a:p>
                  </a:txBody>
                  <a:tcPr anchor="ctr" marL="127000" marR="127000">
                    <a:solidFill>
                      <a:srgbClr val="1F2937"/>
                    </a:solidFill>
                  </a:tcPr>
                </a:tc>
                <a:tc>
                  <a:txBody>
                    <a:bodyPr/>
                    <a:lstStyle/>
                    <a:p>
                      <a:r>
                        <a:rPr sz="1450" b="1" i="0">
                          <a:solidFill>
                            <a:srgbClr val="FFFFFF"/>
                          </a:solidFill>
                          <a:latin typeface="Calibri"/>
                        </a:rPr>
                        <a:t>Reality</a:t>
                      </a:r>
                    </a:p>
                  </a:txBody>
                  <a:tcPr anchor="ctr" marL="127000" marR="127000">
                    <a:solidFill>
                      <a:srgbClr val="1F2937"/>
                    </a:solidFill>
                  </a:tcPr>
                </a:tc>
              </a:tr>
              <a:tr h="731520">
                <a:tc>
                  <a:txBody>
                    <a:bodyPr/>
                    <a:lstStyle/>
                    <a:p>
                      <a:r>
                        <a:rPr sz="1400" b="1" i="0">
                          <a:solidFill>
                            <a:srgbClr val="1F2937"/>
                          </a:solidFill>
                          <a:latin typeface="Calibri"/>
                        </a:rPr>
                        <a:t>A recommendation system knows exactly what users want.</a:t>
                      </a:r>
                    </a:p>
                  </a:txBody>
                  <a:tcPr anchor="ctr" marL="127000" marR="127000">
                    <a:solidFill>
                      <a:srgbClr val="FFFFFF"/>
                    </a:solidFill>
                  </a:tcPr>
                </a:tc>
                <a:tc>
                  <a:txBody>
                    <a:bodyPr/>
                    <a:lstStyle/>
                    <a:p>
                      <a:r>
                        <a:rPr sz="1400" b="0" i="0">
                          <a:solidFill>
                            <a:srgbClr val="4B5563"/>
                          </a:solidFill>
                          <a:latin typeface="Calibri"/>
                        </a:rPr>
                        <a:t>It PREDICTS what users may be interested in — it does not know for certain.</a:t>
                      </a:r>
                    </a:p>
                  </a:txBody>
                  <a:tcPr anchor="ctr" marL="127000" marR="127000">
                    <a:solidFill>
                      <a:srgbClr val="FFFFFF"/>
                    </a:solidFill>
                  </a:tcPr>
                </a:tc>
              </a:tr>
              <a:tr h="731520">
                <a:tc>
                  <a:txBody>
                    <a:bodyPr/>
                    <a:lstStyle/>
                    <a:p>
                      <a:r>
                        <a:rPr sz="1400" b="1" i="0">
                          <a:solidFill>
                            <a:srgbClr val="1F2937"/>
                          </a:solidFill>
                          <a:latin typeface="Calibri"/>
                        </a:rPr>
                        <a:t>Similar users are exactly the same.</a:t>
                      </a:r>
                    </a:p>
                  </a:txBody>
                  <a:tcPr anchor="ctr" marL="127000" marR="127000">
                    <a:solidFill>
                      <a:srgbClr val="F7F9FB"/>
                    </a:solidFill>
                  </a:tcPr>
                </a:tc>
                <a:tc>
                  <a:txBody>
                    <a:bodyPr/>
                    <a:lstStyle/>
                    <a:p>
                      <a:r>
                        <a:rPr sz="1400" b="0" i="0">
                          <a:solidFill>
                            <a:srgbClr val="4B5563"/>
                          </a:solidFill>
                          <a:latin typeface="Calibri"/>
                        </a:rPr>
                        <a:t>Similarity means users have SOME patterns in common, not identical taste.</a:t>
                      </a:r>
                    </a:p>
                  </a:txBody>
                  <a:tcPr anchor="ctr" marL="127000" marR="127000">
                    <a:solidFill>
                      <a:srgbClr val="F7F9FB"/>
                    </a:solidFill>
                  </a:tcPr>
                </a:tc>
              </a:tr>
              <a:tr h="731520">
                <a:tc>
                  <a:txBody>
                    <a:bodyPr/>
                    <a:lstStyle/>
                    <a:p>
                      <a:r>
                        <a:rPr sz="1400" b="1" i="0">
                          <a:solidFill>
                            <a:srgbClr val="1F2937"/>
                          </a:solidFill>
                          <a:latin typeface="Calibri"/>
                        </a:rPr>
                        <a:t>A recommendation guarantees the user will like something.</a:t>
                      </a:r>
                    </a:p>
                  </a:txBody>
                  <a:tcPr anchor="ctr" marL="127000" marR="127000">
                    <a:solidFill>
                      <a:srgbClr val="FFFFFF"/>
                    </a:solidFill>
                  </a:tcPr>
                </a:tc>
                <a:tc>
                  <a:txBody>
                    <a:bodyPr/>
                    <a:lstStyle/>
                    <a:p>
                      <a:r>
                        <a:rPr sz="1400" b="0" i="0">
                          <a:solidFill>
                            <a:srgbClr val="4B5563"/>
                          </a:solidFill>
                          <a:latin typeface="Calibri"/>
                        </a:rPr>
                        <a:t>Recommendations are predictions, with uncertainty.</a:t>
                      </a:r>
                    </a:p>
                  </a:txBody>
                  <a:tcPr anchor="ctr" marL="127000" marR="127000">
                    <a:solidFill>
                      <a:srgbClr val="FFFFFF"/>
                    </a:solidFill>
                  </a:tcPr>
                </a:tc>
              </a:tr>
              <a:tr h="731520">
                <a:tc>
                  <a:txBody>
                    <a:bodyPr/>
                    <a:lstStyle/>
                    <a:p>
                      <a:r>
                        <a:rPr sz="1400" b="1" i="0">
                          <a:solidFill>
                            <a:srgbClr val="1F2937"/>
                          </a:solidFill>
                          <a:latin typeface="Calibri"/>
                        </a:rPr>
                        <a:t>Missing ratings mean the user dislikes the item.</a:t>
                      </a:r>
                    </a:p>
                  </a:txBody>
                  <a:tcPr anchor="ctr" marL="127000" marR="127000">
                    <a:solidFill>
                      <a:srgbClr val="F7F9FB"/>
                    </a:solidFill>
                  </a:tcPr>
                </a:tc>
                <a:tc>
                  <a:txBody>
                    <a:bodyPr/>
                    <a:lstStyle/>
                    <a:p>
                      <a:r>
                        <a:rPr sz="1400" b="0" i="0">
                          <a:solidFill>
                            <a:srgbClr val="4B5563"/>
                          </a:solidFill>
                          <a:latin typeface="Calibri"/>
                        </a:rPr>
                        <a:t>Missing information usually just means the user has not interacted with that item yet.</a:t>
                      </a:r>
                    </a:p>
                  </a:txBody>
                  <a:tcPr anchor="ctr" marL="127000" marR="127000">
                    <a:solidFill>
                      <a:srgbClr val="F7F9FB"/>
                    </a:solidFill>
                  </a:tcPr>
                </a:tc>
              </a:tr>
              <a:tr h="731520">
                <a:tc>
                  <a:txBody>
                    <a:bodyPr/>
                    <a:lstStyle/>
                    <a:p>
                      <a:r>
                        <a:rPr sz="1400" b="1" i="0">
                          <a:solidFill>
                            <a:srgbClr val="1F2937"/>
                          </a:solidFill>
                          <a:latin typeface="Calibri"/>
                        </a:rPr>
                        <a:t>More data automatically solves the cold-start problem.</a:t>
                      </a:r>
                    </a:p>
                  </a:txBody>
                  <a:tcPr anchor="ctr" marL="127000" marR="127000">
                    <a:solidFill>
                      <a:srgbClr val="FFFFFF"/>
                    </a:solidFill>
                  </a:tcPr>
                </a:tc>
                <a:tc>
                  <a:txBody>
                    <a:bodyPr/>
                    <a:lstStyle/>
                    <a:p>
                      <a:r>
                        <a:rPr sz="1400" b="0" i="0">
                          <a:solidFill>
                            <a:srgbClr val="4B5563"/>
                          </a:solidFill>
                          <a:latin typeface="Calibri"/>
                        </a:rPr>
                        <a:t>A brand-new user can still have zero history, no matter how much data exists for OTHER users.</a:t>
                      </a:r>
                    </a:p>
                  </a:txBody>
                  <a:tcPr anchor="ctr" marL="127000" marR="127000">
                    <a:solidFill>
                      <a:srgbClr val="FFFFFF"/>
                    </a:solidFill>
                  </a:tcPr>
                </a:tc>
              </a:tr>
            </a:tbl>
          </a:graphicData>
        </a:graphic>
      </p:graphicFrame>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KNOWLEDGE CHECK</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Quick Quiz</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32</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5074920" cy="4846320"/>
          </a:xfrm>
          <a:prstGeom prst="rect">
            <a:avLst/>
          </a:prstGeom>
          <a:noFill/>
        </p:spPr>
        <p:txBody>
          <a:bodyPr wrap="square" anchor="t" lIns="0" rIns="0" tIns="0" bIns="0">
            <a:spAutoFit/>
          </a:bodyPr>
          <a:lstStyle/>
          <a:p>
            <a:pPr>
              <a:lnSpc>
                <a:spcPct val="112000"/>
              </a:lnSpc>
              <a:spcAft>
                <a:spcPts val="1800"/>
              </a:spcAft>
            </a:pPr>
            <a:r>
              <a:rPr sz="1600" b="0" i="0">
                <a:solidFill>
                  <a:srgbClr val="4B5563"/>
                </a:solidFill>
                <a:latin typeface="Calibri"/>
              </a:rPr>
              <a:t>1. What is a recommender system?</a:t>
            </a:r>
          </a:p>
          <a:p>
            <a:pPr>
              <a:lnSpc>
                <a:spcPct val="112000"/>
              </a:lnSpc>
              <a:spcAft>
                <a:spcPts val="1800"/>
              </a:spcAft>
            </a:pPr>
            <a:r>
              <a:rPr sz="1600" b="0" i="0">
                <a:solidFill>
                  <a:srgbClr val="4B5563"/>
                </a:solidFill>
                <a:latin typeface="Calibri"/>
              </a:rPr>
              <a:t>2. What is the difference between explicit and implicit feedback?</a:t>
            </a:r>
          </a:p>
          <a:p>
            <a:pPr>
              <a:lnSpc>
                <a:spcPct val="112000"/>
              </a:lnSpc>
              <a:spcAft>
                <a:spcPts val="1800"/>
              </a:spcAft>
            </a:pPr>
            <a:r>
              <a:rPr sz="1600" b="0" i="0">
                <a:solidFill>
                  <a:srgbClr val="4B5563"/>
                </a:solidFill>
                <a:latin typeface="Calibri"/>
              </a:rPr>
              <a:t>3. What is a user-item matrix?</a:t>
            </a:r>
          </a:p>
          <a:p>
            <a:pPr>
              <a:lnSpc>
                <a:spcPct val="112000"/>
              </a:lnSpc>
              <a:spcAft>
                <a:spcPts val="1800"/>
              </a:spcAft>
            </a:pPr>
            <a:r>
              <a:rPr sz="1600" b="0" i="0">
                <a:solidFill>
                  <a:srgbClr val="4B5563"/>
                </a:solidFill>
                <a:latin typeface="Calibri"/>
              </a:rPr>
              <a:t>4. What is collaborative filtering?</a:t>
            </a:r>
          </a:p>
        </p:txBody>
      </p:sp>
      <p:sp>
        <p:nvSpPr>
          <p:cNvPr id="8" name="TextBox 7"/>
          <p:cNvSpPr txBox="1"/>
          <p:nvPr/>
        </p:nvSpPr>
        <p:spPr>
          <a:xfrm>
            <a:off x="6035040" y="1417320"/>
            <a:ext cx="5486400" cy="4846320"/>
          </a:xfrm>
          <a:prstGeom prst="rect">
            <a:avLst/>
          </a:prstGeom>
          <a:noFill/>
        </p:spPr>
        <p:txBody>
          <a:bodyPr wrap="square" anchor="t" lIns="0" rIns="0" tIns="0" bIns="0">
            <a:spAutoFit/>
          </a:bodyPr>
          <a:lstStyle/>
          <a:p>
            <a:pPr>
              <a:lnSpc>
                <a:spcPct val="112000"/>
              </a:lnSpc>
              <a:spcAft>
                <a:spcPts val="1800"/>
              </a:spcAft>
            </a:pPr>
            <a:r>
              <a:rPr sz="1600" b="0" i="0">
                <a:solidFill>
                  <a:srgbClr val="4B5563"/>
                </a:solidFill>
                <a:latin typeface="Calibri"/>
              </a:rPr>
              <a:t>5. What is user-based collaborative filtering?</a:t>
            </a:r>
          </a:p>
          <a:p>
            <a:pPr>
              <a:lnSpc>
                <a:spcPct val="112000"/>
              </a:lnSpc>
              <a:spcAft>
                <a:spcPts val="1800"/>
              </a:spcAft>
            </a:pPr>
            <a:r>
              <a:rPr sz="1600" b="0" i="0">
                <a:solidFill>
                  <a:srgbClr val="4B5563"/>
                </a:solidFill>
                <a:latin typeface="Calibri"/>
              </a:rPr>
              <a:t>6. What is item-based collaborative filtering?</a:t>
            </a:r>
          </a:p>
          <a:p>
            <a:pPr>
              <a:lnSpc>
                <a:spcPct val="112000"/>
              </a:lnSpc>
              <a:spcAft>
                <a:spcPts val="1800"/>
              </a:spcAft>
            </a:pPr>
            <a:r>
              <a:rPr sz="1600" b="0" i="0">
                <a:solidFill>
                  <a:srgbClr val="4B5563"/>
                </a:solidFill>
                <a:latin typeface="Calibri"/>
              </a:rPr>
              <a:t>7. What is the cold-start problem?</a:t>
            </a:r>
          </a:p>
          <a:p>
            <a:pPr>
              <a:lnSpc>
                <a:spcPct val="112000"/>
              </a:lnSpc>
              <a:spcAft>
                <a:spcPts val="1800"/>
              </a:spcAft>
            </a:pPr>
            <a:r>
              <a:rPr sz="1600" b="0" i="0">
                <a:solidFill>
                  <a:srgbClr val="4B5563"/>
                </a:solidFill>
                <a:latin typeface="Calibri"/>
              </a:rPr>
              <a:t>8. Does a recommendation guarantee that a user will like an item?</a:t>
            </a:r>
          </a:p>
        </p:txBody>
      </p:sp>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APPENDIX</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References / Sources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33</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292608"/>
          </a:xfrm>
          <a:prstGeom prst="rect">
            <a:avLst/>
          </a:prstGeom>
          <a:noFill/>
        </p:spPr>
        <p:txBody>
          <a:bodyPr wrap="square" anchor="t" lIns="0" rIns="0" tIns="0" bIns="0">
            <a:spAutoFit/>
          </a:bodyPr>
          <a:lstStyle/>
          <a:p>
            <a:pPr algn="l">
              <a:lnSpc>
                <a:spcPct val="100000"/>
              </a:lnSpc>
            </a:pPr>
            <a:r>
              <a:rPr sz="1400" b="1" i="0">
                <a:solidFill>
                  <a:srgbClr val="6B7280"/>
                </a:solidFill>
                <a:latin typeface="Calibri"/>
              </a:rPr>
              <a:t>Textbook</a:t>
            </a:r>
          </a:p>
        </p:txBody>
      </p:sp>
      <p:sp>
        <p:nvSpPr>
          <p:cNvPr id="8" name="TextBox 7"/>
          <p:cNvSpPr txBox="1"/>
          <p:nvPr/>
        </p:nvSpPr>
        <p:spPr>
          <a:xfrm>
            <a:off x="713232" y="1755648"/>
            <a:ext cx="10771632" cy="1097280"/>
          </a:xfrm>
          <a:prstGeom prst="rect">
            <a:avLst/>
          </a:prstGeom>
          <a:noFill/>
        </p:spPr>
        <p:txBody>
          <a:bodyPr wrap="square" anchor="t" lIns="0" rIns="0" tIns="0" bIns="0">
            <a:spAutoFit/>
          </a:bodyPr>
          <a:lstStyle/>
          <a:p>
            <a:pPr>
              <a:lnSpc>
                <a:spcPct val="112000"/>
              </a:lnSpc>
              <a:spcAft>
                <a:spcPts val="600"/>
              </a:spcAft>
            </a:pPr>
            <a:r>
              <a:rPr sz="1400" b="0" i="0">
                <a:solidFill>
                  <a:srgbClr val="4B5563"/>
                </a:solidFill>
                <a:latin typeface="Calibri"/>
              </a:rPr>
              <a:t>•  Aggarwal, C. C. (2015). Data Mining: The Textbook. Springer. — Section 18.5, “Recommender Systems” (utility matrices, neighborhood-based user-based and item-based collaborative filtering).</a:t>
            </a:r>
          </a:p>
        </p:txBody>
      </p:sp>
      <p:sp>
        <p:nvSpPr>
          <p:cNvPr id="9" name="TextBox 8"/>
          <p:cNvSpPr txBox="1"/>
          <p:nvPr/>
        </p:nvSpPr>
        <p:spPr>
          <a:xfrm>
            <a:off x="713232" y="2834640"/>
            <a:ext cx="10771632" cy="292608"/>
          </a:xfrm>
          <a:prstGeom prst="rect">
            <a:avLst/>
          </a:prstGeom>
          <a:noFill/>
        </p:spPr>
        <p:txBody>
          <a:bodyPr wrap="square" anchor="t" lIns="0" rIns="0" tIns="0" bIns="0">
            <a:spAutoFit/>
          </a:bodyPr>
          <a:lstStyle/>
          <a:p>
            <a:pPr algn="l">
              <a:lnSpc>
                <a:spcPct val="100000"/>
              </a:lnSpc>
            </a:pPr>
            <a:r>
              <a:rPr sz="1400" b="1" i="0">
                <a:solidFill>
                  <a:srgbClr val="6B7280"/>
                </a:solidFill>
                <a:latin typeface="Calibri"/>
              </a:rPr>
              <a:t>Official Documentation (verified for current syntax)</a:t>
            </a:r>
          </a:p>
        </p:txBody>
      </p:sp>
      <p:sp>
        <p:nvSpPr>
          <p:cNvPr id="10" name="TextBox 9"/>
          <p:cNvSpPr txBox="1"/>
          <p:nvPr/>
        </p:nvSpPr>
        <p:spPr>
          <a:xfrm>
            <a:off x="713232" y="3172968"/>
            <a:ext cx="10771632" cy="1554480"/>
          </a:xfrm>
          <a:prstGeom prst="rect">
            <a:avLst/>
          </a:prstGeom>
          <a:noFill/>
        </p:spPr>
        <p:txBody>
          <a:bodyPr wrap="square" anchor="t" lIns="0" rIns="0" tIns="0" bIns="0">
            <a:spAutoFit/>
          </a:bodyPr>
          <a:lstStyle/>
          <a:p>
            <a:pPr>
              <a:lnSpc>
                <a:spcPct val="112000"/>
              </a:lnSpc>
              <a:spcAft>
                <a:spcPts val="600"/>
              </a:spcAft>
            </a:pPr>
            <a:r>
              <a:rPr sz="1300" b="0" i="0">
                <a:solidFill>
                  <a:srgbClr val="4B5563"/>
                </a:solidFill>
                <a:latin typeface="Calibri"/>
              </a:rPr>
              <a:t>•  scikit-learn: sklearn.metrics.pairwise.cosine_similarity (scikit-learn.org/stable/modules/generated/ ...)</a:t>
            </a:r>
          </a:p>
          <a:p>
            <a:pPr>
              <a:lnSpc>
                <a:spcPct val="112000"/>
              </a:lnSpc>
              <a:spcAft>
                <a:spcPts val="600"/>
              </a:spcAft>
            </a:pPr>
            <a:r>
              <a:rPr sz="1300" b="0" i="0">
                <a:solidFill>
                  <a:srgbClr val="4B5563"/>
                </a:solidFill>
                <a:latin typeface="Calibri"/>
              </a:rPr>
              <a:t>•  pandas API Reference: DataFrame.pivot_table() (pandas.pydata.org/docs/reference/ ...)</a:t>
            </a:r>
          </a:p>
          <a:p>
            <a:pPr>
              <a:lnSpc>
                <a:spcPct val="112000"/>
              </a:lnSpc>
              <a:spcAft>
                <a:spcPts val="600"/>
              </a:spcAft>
            </a:pPr>
            <a:r>
              <a:rPr sz="1300" b="0" i="0">
                <a:solidFill>
                  <a:srgbClr val="4B5563"/>
                </a:solidFill>
                <a:latin typeface="Calibri"/>
              </a:rPr>
              <a:t>•  Every code snippet in this deck and the notebooks was checked against these pages during development.</a:t>
            </a:r>
          </a:p>
        </p:txBody>
      </p:sp>
      <p:sp>
        <p:nvSpPr>
          <p:cNvPr id="11" name="TextBox 10"/>
          <p:cNvSpPr txBox="1"/>
          <p:nvPr/>
        </p:nvSpPr>
        <p:spPr>
          <a:xfrm>
            <a:off x="713232" y="4892040"/>
            <a:ext cx="10771632" cy="292608"/>
          </a:xfrm>
          <a:prstGeom prst="rect">
            <a:avLst/>
          </a:prstGeom>
          <a:noFill/>
        </p:spPr>
        <p:txBody>
          <a:bodyPr wrap="square" anchor="t" lIns="0" rIns="0" tIns="0" bIns="0">
            <a:spAutoFit/>
          </a:bodyPr>
          <a:lstStyle/>
          <a:p>
            <a:pPr algn="l">
              <a:lnSpc>
                <a:spcPct val="100000"/>
              </a:lnSpc>
            </a:pPr>
            <a:r>
              <a:rPr sz="1400" b="1" i="0">
                <a:solidFill>
                  <a:srgbClr val="6B7280"/>
                </a:solidFill>
                <a:latin typeface="Calibri"/>
              </a:rPr>
              <a:t>Evaluation Concepts</a:t>
            </a:r>
          </a:p>
        </p:txBody>
      </p:sp>
      <p:sp>
        <p:nvSpPr>
          <p:cNvPr id="12" name="TextBox 11"/>
          <p:cNvSpPr txBox="1"/>
          <p:nvPr/>
        </p:nvSpPr>
        <p:spPr>
          <a:xfrm>
            <a:off x="713232" y="5230368"/>
            <a:ext cx="10771632" cy="822960"/>
          </a:xfrm>
          <a:prstGeom prst="rect">
            <a:avLst/>
          </a:prstGeom>
          <a:noFill/>
        </p:spPr>
        <p:txBody>
          <a:bodyPr wrap="square" anchor="t" lIns="0" rIns="0" tIns="0" bIns="0">
            <a:spAutoFit/>
          </a:bodyPr>
          <a:lstStyle/>
          <a:p>
            <a:pPr>
              <a:lnSpc>
                <a:spcPct val="112000"/>
              </a:lnSpc>
              <a:spcAft>
                <a:spcPts val="600"/>
              </a:spcAft>
            </a:pPr>
            <a:r>
              <a:rPr sz="1300" b="0" i="0">
                <a:solidFill>
                  <a:srgbClr val="4B5563"/>
                </a:solidFill>
                <a:latin typeface="Calibri"/>
              </a:rPr>
              <a:t>•  Precision@K and Recall@K definitions cross-checked against standard recommender-systems evaluation references (not covered explicitly in the primary textbook).</a:t>
            </a:r>
          </a:p>
        </p:txBody>
      </p:sp>
      <p:sp>
        <p:nvSpPr>
          <p:cNvPr id="13" name="TextBox 12"/>
          <p:cNvSpPr txBox="1"/>
          <p:nvPr/>
        </p:nvSpPr>
        <p:spPr>
          <a:xfrm>
            <a:off x="713232" y="6126480"/>
            <a:ext cx="10771632" cy="292608"/>
          </a:xfrm>
          <a:prstGeom prst="rect">
            <a:avLst/>
          </a:prstGeom>
          <a:noFill/>
        </p:spPr>
        <p:txBody>
          <a:bodyPr wrap="square" anchor="t" lIns="0" rIns="0" tIns="0" bIns="0">
            <a:spAutoFit/>
          </a:bodyPr>
          <a:lstStyle/>
          <a:p>
            <a:pPr algn="l">
              <a:lnSpc>
                <a:spcPct val="100000"/>
              </a:lnSpc>
            </a:pPr>
            <a:r>
              <a:rPr sz="1400" b="1" i="0">
                <a:solidFill>
                  <a:srgbClr val="6B7280"/>
                </a:solidFill>
                <a:latin typeface="Calibri"/>
              </a:rPr>
              <a:t>Data</a:t>
            </a:r>
          </a:p>
        </p:txBody>
      </p:sp>
      <p:sp>
        <p:nvSpPr>
          <p:cNvPr id="14" name="TextBox 13"/>
          <p:cNvSpPr txBox="1"/>
          <p:nvPr/>
        </p:nvSpPr>
        <p:spPr>
          <a:xfrm>
            <a:off x="713232" y="6419088"/>
            <a:ext cx="10771632" cy="365760"/>
          </a:xfrm>
          <a:prstGeom prst="rect">
            <a:avLst/>
          </a:prstGeom>
          <a:noFill/>
        </p:spPr>
        <p:txBody>
          <a:bodyPr wrap="square" anchor="t" lIns="0" rIns="0" tIns="0" bIns="0">
            <a:spAutoFit/>
          </a:bodyPr>
          <a:lstStyle/>
          <a:p>
            <a:pPr>
              <a:lnSpc>
                <a:spcPct val="112000"/>
              </a:lnSpc>
              <a:spcAft>
                <a:spcPts val="400"/>
              </a:spcAft>
            </a:pPr>
            <a:r>
              <a:rPr sz="1150" b="0" i="0">
                <a:solidFill>
                  <a:srgbClr val="4B5563"/>
                </a:solidFill>
                <a:latin typeface="Calibri"/>
              </a:rPr>
              <a:t>•  All ratings data used in this course is SYNTHETIC (data/generate_data.py). Movie titles are entirely invented.</a:t>
            </a:r>
          </a:p>
        </p:txBody>
      </p:sp>
      <p:sp>
        <p:nvSpPr>
          <p:cNvPr id="15" name="TextBox 14"/>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Collaborative Filtering Engines</a:t>
            </a:r>
          </a:p>
        </p:txBody>
      </p:sp>
      <p:sp>
        <p:nvSpPr>
          <p:cNvPr id="16" name="TextBox 15"/>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