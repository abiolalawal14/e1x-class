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class. This is a 2-hour session: Hour 1 is concepts (this deck), Hour 2 is hands-on Python. Frame it as building ONE forecasting system together for a bank's daily cash withdrawals, not a tour of separate techniques. Ask: has anyone ever tried to guess tomorrow's weather, traffic, or a store's busy period based on what usually happens? That everyday instinct — using the past to guess the future — is exactly what we're formalizing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list quickly — this is a map, not a lesson. Mention explicitly that we are deliberately NOT covering ARIMA mathematics, SARIMA, Prophet, or deep learning today — those are later-course territory. Today is entirely about building solid intuition and one working, simple forecasting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running example for the ENTIRE course — a bank forecasting daily cash demand. Let the class react to the jump on Friday before explaining anything. Ask: 'if you were the bank's cash operations manager, why would knowing tomorrow's number matter?' (Answer, if needed: too little cash = angry customers and reputational damage; too much idle cash = wasted opportunity cost and security risk.)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contrast is worth slowing down for — it's the single strongest concept in the whole course. In a normal supervised ML dataset, shuffling rows changes nothing about what the model can learn. In a time series, shuffling destroys the very information (the sequence) we're trying to use. Say the word TIME MATTERS out loud, more than once.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learners to shout out their own example before you reveal these. Almost anything measured repeatedly over time qualifies — that's the point. The bank's ATM withdrawal series is just one instance of a pattern that shows up across virtually every industry, which the next slide makes explicit.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same forecasting PRINCIPLES apply across every one of these rows — trend, seasonality, lag, train/test split, evaluation. Once you've learned to forecast bank cash demand, you have 80% of what you need to forecast hospital patient visits or electricity consumption too.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splits our own ATM series into its three layers: a smooth Trend, a repeating weekly Seasonality (zoomed in so the wiggle is visible), and leftover Noise. Don't explain the math behind this decomposition — just use it to preview the next four slides, which cover Trend, Seasonality, Cycles, and Noise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red 30-day trend line riding on top of the noisy daily data — that's exactly what a trend represents: the slow-moving signal underneath the day-to-day noise. Ask: 'is this trend obvious from the raw daily line alone, or does it help to smooth it first?' (Preview of moving averages, coming in Section 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average withdrawal BY day of week, across the entire 2-year dataset — the pattern is remarkably consistent. Follow up with the zoomed-in 6-week chart (next few slides in the notebook) if you want to show the SAME shape repeating visually over real dates, not just an average.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simple, as instructed — cycles are a beginner-relevant concept but not a slide worth dwelling on. Example: an economic recession affecting bank withdrawals might last 18 months one time and 3 years the next — unlike seasonality, you can't set your watch by it. Our own dataset does not contain a strong cycle (2 years is too short to show one) — flag that honestly if asked.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shows a real public holiday (Oct 1) in our dataset — withdrawals spike the day BEFORE (people stocking up on cash) and drop sharply ON the holiday itself (most branches closed). A model that doesn't know about holidays will treat this as pure noise; one important lesson for later is that some 'noise' can actually be explained with the right feature (a holiday indicator, which our dataset includes).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this genuinely memorable — some instructors have learners repeat it back. This is not just good practice, it's a direct segue into the hands-on notebook, where Step 1 after loading data is always 'plot it and look at it' before any modeling begins.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learners call out what they see BEFORE you explain it — most will spot the upward drift and the regular spiky rhythm without prompting, and a few will notice the taller spikes (holidays) scattered through the series. Do not reveal the trend/seasonality explanation yet if you haven't already — let this be a genuine 'what do YOU see' moment.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concrete: a 'lag' is just a fancy word for 'a value from some point in the past, lined up next to today's row.' We'll turn this into actual code (`.shift()`) in the next hour. Preview: Lag_1 = yesterday, Lag_7 = same day last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shows real values from our dataset next to their own Lag_1 (yesterday's value) — notice they're often close, but not identical. That gap between 'today' and 'yesterday' is exactly the kind of thing a forecasting model tries to learn from.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directly at the chart: the grey line is the noisy original, the blue line is its 7-day moving average — visibly calmer, and the underlying rhythm (including the gentle upward trend) is much easier to see.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last bullet matters — a common beginner mistake is thinking 'compute a moving average' IS the forecasting model. It's a descriptive/exploration tool first; we'll see in Hour 2 that it can also become a FEATURE inside a real forecasting model, which is a more sophisticated use of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deliberately bare-bones slide — the definition is the whole point. Everything from here forward in the course builds toward actually producing that '???' box with real numbers, using Python, in Hour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practical habits in the entire course: always build the dumbest possible baseline FIRST. On our dataset, the naive forecast (today = tomorrow) has an MAE of about ₦8.2 million; we'll use that number directly in Hour 2 to judge whether our real model is actually worth the extra complexity.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master workflow slide — everything else in the course maps onto one of these nine boxes. Consider returning to a simplified version of this diagram at the very end (Slide 29) so learners see the full circle.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attacks Misconception 1 head-on — some learners' instinct from ordinary ML is to randomly shuffle before train/test splitting (`train_test_split(shuffle=True)` is even the scikit-learn DEFAULT!). Say explicitly: for time series, that default is WRONG, and we'll show exactly how to split correctly in the next slide and in code.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beginner concepts in the whole course — call that out explicitly. Point at the vertical dashed line: everything to the left trains the model, everything to the right is held out to test it, and the split point respects time — no test-period information leaks backward into training.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formulas off this slide entirely, as instructed — the plain-language framing IS the lesson. If asked for the formula: MAE = average of |actual - predicted|; RMSE = square root of the average of (actual - predicted)² (penalizes big misses more); MAPE = average of |actual - predicted| / actual, expressed as a percentage.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numbers computed on our own held-out test period in Hour 2 — not idealized textbook figures. Point out honestly where the dashed forecast line lags behind sharp actual spikes (holidays, unexplained events) — a good instructor moment to reinforce that 'noise' by definition can't be perfectly predicted.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progression is deliberately capped at step 4 for today — step 5 (ARIMA, SARIMA, Prophet, LSTM) is explicitly out of scope, as stated on Slide 2. Reassure learners: steps 1-4 alone are genuinely useful and are what most real forecasting work actually starts with.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 'aha' moment for learners with an existing ML background: forecasting doesn't require an entirely new toolkit. Once you've built lag and calendar features, you can hand the problem to a completely ordinary regression model — which is exactly what we do in Notebook 03.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slide — the forecast only matters once it changes what the bank actually DOES. Ask: 'what's the cost of under-forecasting cash demand? What's the cost of over-forecasting it?' (Under: angry customers, reputational damage. Over: idle cash, opportunity cost, security risk.) Both errors are real costs — a good forecast helps balance them.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extra time on data leakage — it's the single most damaging and most common beginner mistake in time series work, and it can make a model look GREAT in testing while being useless in production. Simple example: accidentally including 'this month's total sales' as a feature to predict 'today's sales' — at prediction time, in the real world, you would NOT yet know the month's total (it includes days that haven't happened yet).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single-slide summary of the ENTIRE conceptual hour — consider lingering here for questions before the coding break. Every slide in Hour 1 maps to one box in this chain.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energetic transition slide. Take a 2-3 minute break here if the room needs it before diving into Hour 2's hands-on notebooks.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running this as a rapid true/false check with the class before the quiz — these six distinctions are the ones beginners misstate most often in follow-up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(for instructor use):</a:t>
            </a:r>
          </a:p>
          <a:p>
            <a:r>
              <a:t>1. A sequence of observations recorded over time, where the order of observations matters.</a:t>
            </a:r>
          </a:p>
          <a:p>
            <a:r>
              <a:t>2. Because it destroys the time dependency in the data — training and testing must respect the natural order (train on the past, test on the future), otherwise the model could 'see' future information during training that would not be available at real prediction time.</a:t>
            </a:r>
          </a:p>
          <a:p>
            <a:r>
              <a:t>3. The general direction of the data over a long period of time (upward, downward, or none).</a:t>
            </a:r>
          </a:p>
          <a:p>
            <a:r>
              <a:t>4. A pattern that repeats at regular intervals (e.g. every week, every month, every year).</a:t>
            </a:r>
          </a:p>
          <a:p>
            <a:r>
              <a:t>5. A previous value of a variable (e.g. Lag_1 = yesterday's value, Lag_7 = the value from 7 days ago).</a:t>
            </a:r>
          </a:p>
          <a:p>
            <a:r>
              <a:t>6. So we have something simple to compare a more advanced model against — if the advanced model can't beat the baseline, its extra complexity isn't paying off.</a:t>
            </a:r>
          </a:p>
          <a:p>
            <a:r>
              <a:t>7. Mean Absolute Error — on average, how far away were our predictions from the actual values.</a:t>
            </a:r>
          </a:p>
          <a:p>
            <a:r>
              <a:t>8. Using information that would not actually have been available at the time of prediction as a feature — this makes a model look artificially accurate during testing but fail in the real world.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pandas and scikit-learn syntax in this deck (rolling, shift, LinearRegression, the three regression metrics) was checked against the official documentation during course development to ensure it reflects current, non-deprecated APIs — including root_mean_squared_error, added in scikit-learn 1.4 as the modern replacement for mean_squared_error(squared=False).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5486400" cy="365760"/>
          </a:xfrm>
          <a:prstGeom prst="rect">
            <a:avLst/>
          </a:prstGeom>
          <a:noFill/>
        </p:spPr>
        <p:txBody>
          <a:bodyPr wrap="square" anchor="t" lIns="0" rIns="0" tIns="0" bIns="0">
            <a:spAutoFit/>
          </a:bodyPr>
          <a:lstStyle/>
          <a:p>
            <a:pPr algn="l">
              <a:lnSpc>
                <a:spcPct val="100000"/>
              </a:lnSpc>
            </a:pPr>
            <a:r>
              <a:rPr sz="1400" b="1" i="0">
                <a:solidFill>
                  <a:srgbClr val="99F6E4"/>
                </a:solidFill>
                <a:latin typeface="Calibri"/>
              </a:rPr>
              <a:t>BEGINNER DATA SCIENCE COURSE</a:t>
            </a:r>
          </a:p>
        </p:txBody>
      </p:sp>
      <p:sp>
        <p:nvSpPr>
          <p:cNvPr id="4" name="TextBox 3"/>
          <p:cNvSpPr txBox="1"/>
          <p:nvPr/>
        </p:nvSpPr>
        <p:spPr>
          <a:xfrm>
            <a:off x="822960" y="2103120"/>
            <a:ext cx="10515600" cy="1188720"/>
          </a:xfrm>
          <a:prstGeom prst="rect">
            <a:avLst/>
          </a:prstGeom>
          <a:noFill/>
        </p:spPr>
        <p:txBody>
          <a:bodyPr wrap="square" anchor="t" lIns="0" rIns="0" tIns="0" bIns="0">
            <a:spAutoFit/>
          </a:bodyPr>
          <a:lstStyle/>
          <a:p>
            <a:pPr algn="l">
              <a:lnSpc>
                <a:spcPct val="100000"/>
              </a:lnSpc>
            </a:pPr>
            <a:r>
              <a:rPr sz="4600" b="1" i="0">
                <a:solidFill>
                  <a:srgbClr val="FFFFFF"/>
                </a:solidFill>
                <a:latin typeface="Calibri"/>
              </a:rPr>
              <a:t>Time Series Forecasting</a:t>
            </a:r>
          </a:p>
        </p:txBody>
      </p:sp>
      <p:sp>
        <p:nvSpPr>
          <p:cNvPr id="5" name="TextBox 4"/>
          <p:cNvSpPr txBox="1"/>
          <p:nvPr/>
        </p:nvSpPr>
        <p:spPr>
          <a:xfrm>
            <a:off x="822960" y="2971800"/>
            <a:ext cx="10515600" cy="1005840"/>
          </a:xfrm>
          <a:prstGeom prst="rect">
            <a:avLst/>
          </a:prstGeom>
          <a:noFill/>
        </p:spPr>
        <p:txBody>
          <a:bodyPr wrap="square" anchor="t" lIns="0" rIns="0" tIns="0" bIns="0">
            <a:spAutoFit/>
          </a:bodyPr>
          <a:lstStyle/>
          <a:p>
            <a:pPr algn="l">
              <a:lnSpc>
                <a:spcPct val="100000"/>
              </a:lnSpc>
            </a:pPr>
            <a:r>
              <a:rPr sz="2800" b="1" i="0">
                <a:solidFill>
                  <a:srgbClr val="99F6E4"/>
                </a:solidFill>
                <a:latin typeface="Calibri"/>
              </a:rPr>
              <a:t>Predicting the Future Using Historical Data</a:t>
            </a:r>
          </a:p>
        </p:txBody>
      </p:sp>
      <p:sp>
        <p:nvSpPr>
          <p:cNvPr id="6" name="Rectangle 5"/>
          <p:cNvSpPr/>
          <p:nvPr/>
        </p:nvSpPr>
        <p:spPr>
          <a:xfrm>
            <a:off x="822960" y="4114800"/>
            <a:ext cx="1188720" cy="444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297680"/>
            <a:ext cx="9601200" cy="548640"/>
          </a:xfrm>
          <a:prstGeom prst="rect">
            <a:avLst/>
          </a:prstGeom>
          <a:noFill/>
        </p:spPr>
        <p:txBody>
          <a:bodyPr wrap="square" anchor="t" lIns="0" rIns="0" tIns="0" bIns="0">
            <a:spAutoFit/>
          </a:bodyPr>
          <a:lstStyle/>
          <a:p>
            <a:pPr algn="l">
              <a:lnSpc>
                <a:spcPct val="100000"/>
              </a:lnSpc>
            </a:pPr>
            <a:r>
              <a:rPr sz="1900" b="0" i="1">
                <a:solidFill>
                  <a:srgbClr val="E5E7EB"/>
                </a:solidFill>
                <a:latin typeface="Calibri"/>
              </a:rPr>
              <a:t>Understanding Time Series Data, Patterns, and Forecasting</a:t>
            </a:r>
          </a:p>
        </p:txBody>
      </p:sp>
      <p:sp>
        <p:nvSpPr>
          <p:cNvPr id="8" name="Rounded Rectangle 7"/>
          <p:cNvSpPr/>
          <p:nvPr/>
        </p:nvSpPr>
        <p:spPr>
          <a:xfrm>
            <a:off x="822960" y="5577840"/>
            <a:ext cx="2148840" cy="457200"/>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Past Data</a:t>
            </a:r>
          </a:p>
        </p:txBody>
      </p:sp>
      <p:sp>
        <p:nvSpPr>
          <p:cNvPr id="9" name="Rounded Rectangle 8"/>
          <p:cNvSpPr/>
          <p:nvPr/>
        </p:nvSpPr>
        <p:spPr>
          <a:xfrm>
            <a:off x="3154679" y="5577840"/>
            <a:ext cx="2148840" cy="4572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Find Patterns</a:t>
            </a:r>
          </a:p>
        </p:txBody>
      </p:sp>
      <p:sp>
        <p:nvSpPr>
          <p:cNvPr id="10" name="Rounded Rectangle 9"/>
          <p:cNvSpPr/>
          <p:nvPr/>
        </p:nvSpPr>
        <p:spPr>
          <a:xfrm>
            <a:off x="5486400" y="5577840"/>
            <a:ext cx="2148840" cy="45720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Forecast Forward</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INTRODUCTION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Will We Learn?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46320"/>
          </a:xfrm>
          <a:prstGeom prst="rect">
            <a:avLst/>
          </a:prstGeom>
          <a:noFill/>
        </p:spPr>
        <p:txBody>
          <a:bodyPr wrap="square" anchor="t" lIns="0" rIns="0" tIns="0" bIns="0">
            <a:spAutoFit/>
          </a:bodyPr>
          <a:lstStyle/>
          <a:p>
            <a:pPr>
              <a:lnSpc>
                <a:spcPct val="112000"/>
              </a:lnSpc>
              <a:spcAft>
                <a:spcPts val="1100"/>
              </a:spcAft>
            </a:pPr>
            <a:r>
              <a:rPr sz="1650" b="0" i="0">
                <a:solidFill>
                  <a:srgbClr val="4B5563"/>
                </a:solidFill>
                <a:latin typeface="Calibri"/>
              </a:rPr>
              <a:t>•  What Time Series data is</a:t>
            </a:r>
          </a:p>
          <a:p>
            <a:pPr>
              <a:lnSpc>
                <a:spcPct val="112000"/>
              </a:lnSpc>
              <a:spcAft>
                <a:spcPts val="1100"/>
              </a:spcAft>
            </a:pPr>
            <a:r>
              <a:rPr sz="1650" b="0" i="0">
                <a:solidFill>
                  <a:srgbClr val="4B5563"/>
                </a:solidFill>
                <a:latin typeface="Calibri"/>
              </a:rPr>
              <a:t>•  Why time order matters</a:t>
            </a:r>
          </a:p>
          <a:p>
            <a:pPr>
              <a:lnSpc>
                <a:spcPct val="112000"/>
              </a:lnSpc>
              <a:spcAft>
                <a:spcPts val="1100"/>
              </a:spcAft>
            </a:pPr>
            <a:r>
              <a:rPr sz="1650" b="0" i="0">
                <a:solidFill>
                  <a:srgbClr val="4B5563"/>
                </a:solidFill>
                <a:latin typeface="Calibri"/>
              </a:rPr>
              <a:t>•  Trend</a:t>
            </a:r>
          </a:p>
          <a:p>
            <a:pPr>
              <a:lnSpc>
                <a:spcPct val="112000"/>
              </a:lnSpc>
              <a:spcAft>
                <a:spcPts val="1100"/>
              </a:spcAft>
            </a:pPr>
            <a:r>
              <a:rPr sz="1650" b="0" i="0">
                <a:solidFill>
                  <a:srgbClr val="4B5563"/>
                </a:solidFill>
                <a:latin typeface="Calibri"/>
              </a:rPr>
              <a:t>•  Seasonality</a:t>
            </a:r>
          </a:p>
          <a:p>
            <a:pPr>
              <a:lnSpc>
                <a:spcPct val="112000"/>
              </a:lnSpc>
              <a:spcAft>
                <a:spcPts val="1100"/>
              </a:spcAft>
            </a:pPr>
            <a:r>
              <a:rPr sz="1650" b="0" i="0">
                <a:solidFill>
                  <a:srgbClr val="4B5563"/>
                </a:solidFill>
                <a:latin typeface="Calibri"/>
              </a:rPr>
              <a:t>•  Cycles</a:t>
            </a:r>
          </a:p>
          <a:p>
            <a:pPr>
              <a:lnSpc>
                <a:spcPct val="112000"/>
              </a:lnSpc>
              <a:spcAft>
                <a:spcPts val="1100"/>
              </a:spcAft>
            </a:pPr>
            <a:r>
              <a:rPr sz="1650" b="0" i="0">
                <a:solidFill>
                  <a:srgbClr val="4B5563"/>
                </a:solidFill>
                <a:latin typeface="Calibri"/>
              </a:rPr>
              <a:t>•  Noise</a:t>
            </a:r>
          </a:p>
          <a:p>
            <a:pPr>
              <a:lnSpc>
                <a:spcPct val="112000"/>
              </a:lnSpc>
              <a:spcAft>
                <a:spcPts val="1100"/>
              </a:spcAft>
            </a:pPr>
            <a:r>
              <a:rPr sz="1650" b="0" i="0">
                <a:solidFill>
                  <a:srgbClr val="4B5563"/>
                </a:solidFill>
                <a:latin typeface="Calibri"/>
              </a:rPr>
              <a:t>•  Lag</a:t>
            </a:r>
          </a:p>
          <a:p>
            <a:pPr>
              <a:lnSpc>
                <a:spcPct val="112000"/>
              </a:lnSpc>
              <a:spcAft>
                <a:spcPts val="1100"/>
              </a:spcAft>
            </a:pPr>
            <a:r>
              <a:rPr sz="1650" b="0" i="0">
                <a:solidFill>
                  <a:srgbClr val="4B5563"/>
                </a:solidFill>
                <a:latin typeface="Calibri"/>
              </a:rPr>
              <a:t>•  Moving averages</a:t>
            </a:r>
          </a:p>
        </p:txBody>
      </p:sp>
      <p:sp>
        <p:nvSpPr>
          <p:cNvPr id="8" name="TextBox 7"/>
          <p:cNvSpPr txBox="1"/>
          <p:nvPr/>
        </p:nvSpPr>
        <p:spPr>
          <a:xfrm>
            <a:off x="6035040" y="1417320"/>
            <a:ext cx="5486400" cy="4846320"/>
          </a:xfrm>
          <a:prstGeom prst="rect">
            <a:avLst/>
          </a:prstGeom>
          <a:noFill/>
        </p:spPr>
        <p:txBody>
          <a:bodyPr wrap="square" anchor="t" lIns="0" rIns="0" tIns="0" bIns="0">
            <a:spAutoFit/>
          </a:bodyPr>
          <a:lstStyle/>
          <a:p>
            <a:pPr>
              <a:lnSpc>
                <a:spcPct val="112000"/>
              </a:lnSpc>
              <a:spcAft>
                <a:spcPts val="1100"/>
              </a:spcAft>
            </a:pPr>
            <a:r>
              <a:rPr sz="1550" b="0" i="0">
                <a:solidFill>
                  <a:srgbClr val="4B5563"/>
                </a:solidFill>
                <a:latin typeface="Calibri"/>
              </a:rPr>
              <a:t>•  Forecasting</a:t>
            </a:r>
          </a:p>
          <a:p>
            <a:pPr>
              <a:lnSpc>
                <a:spcPct val="112000"/>
              </a:lnSpc>
              <a:spcAft>
                <a:spcPts val="1100"/>
              </a:spcAft>
            </a:pPr>
            <a:r>
              <a:rPr sz="1550" b="0" i="0">
                <a:solidFill>
                  <a:srgbClr val="4B5563"/>
                </a:solidFill>
                <a:latin typeface="Calibri"/>
              </a:rPr>
              <a:t>•  Time-based train/test split</a:t>
            </a:r>
          </a:p>
          <a:p>
            <a:pPr>
              <a:lnSpc>
                <a:spcPct val="112000"/>
              </a:lnSpc>
              <a:spcAft>
                <a:spcPts val="1100"/>
              </a:spcAft>
            </a:pPr>
            <a:r>
              <a:rPr sz="1550" b="0" i="0">
                <a:solidFill>
                  <a:srgbClr val="4B5563"/>
                </a:solidFill>
                <a:latin typeface="Calibri"/>
              </a:rPr>
              <a:t>•  Baseline forecasting</a:t>
            </a:r>
          </a:p>
          <a:p>
            <a:pPr>
              <a:lnSpc>
                <a:spcPct val="112000"/>
              </a:lnSpc>
              <a:spcAft>
                <a:spcPts val="1100"/>
              </a:spcAft>
            </a:pPr>
            <a:r>
              <a:rPr sz="1550" b="0" i="0">
                <a:solidFill>
                  <a:srgbClr val="4B5563"/>
                </a:solidFill>
                <a:latin typeface="Calibri"/>
              </a:rPr>
              <a:t>•  A simple forecasting model</a:t>
            </a:r>
          </a:p>
          <a:p>
            <a:pPr>
              <a:lnSpc>
                <a:spcPct val="112000"/>
              </a:lnSpc>
              <a:spcAft>
                <a:spcPts val="1100"/>
              </a:spcAft>
            </a:pPr>
            <a:r>
              <a:rPr sz="1550" b="0" i="0">
                <a:solidFill>
                  <a:srgbClr val="4B5563"/>
                </a:solidFill>
                <a:latin typeface="Calibri"/>
              </a:rPr>
              <a:t>•  Forecast evaluation (MAE, RMSE, MAPE)</a:t>
            </a:r>
          </a:p>
          <a:p>
            <a:pPr>
              <a:lnSpc>
                <a:spcPct val="112000"/>
              </a:lnSpc>
              <a:spcAft>
                <a:spcPts val="1100"/>
              </a:spcAft>
            </a:pPr>
            <a:r>
              <a:rPr sz="1550" b="0" i="0">
                <a:solidFill>
                  <a:srgbClr val="4B5563"/>
                </a:solidFill>
                <a:latin typeface="Calibri"/>
              </a:rPr>
              <a:t>•  Building a forecast in Python</a:t>
            </a:r>
          </a:p>
          <a:p>
            <a:pPr>
              <a:lnSpc>
                <a:spcPct val="112000"/>
              </a:lnSpc>
              <a:spcAft>
                <a:spcPts val="1100"/>
              </a:spcAft>
            </a:pPr>
            <a:r>
              <a:rPr sz="1550" b="0" i="0">
                <a:solidFill>
                  <a:srgbClr val="4B5563"/>
                </a:solidFill>
                <a:latin typeface="Calibri"/>
              </a:rPr>
              <a:t>•  Data leakage</a:t>
            </a:r>
          </a:p>
          <a:p>
            <a:pPr>
              <a:lnSpc>
                <a:spcPct val="112000"/>
              </a:lnSpc>
              <a:spcAft>
                <a:spcPts val="1100"/>
              </a:spcAft>
            </a:pPr>
            <a:r>
              <a:rPr sz="1550" b="0" i="0">
                <a:solidFill>
                  <a:srgbClr val="4B5563"/>
                </a:solidFill>
                <a:latin typeface="Calibri"/>
              </a:rPr>
              <a:t>•  Turning a forecast into a business decision</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THE REAL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Start With a Real Business Question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600200"/>
          <a:ext cx="6583680" cy="2194560"/>
        </p:xfrm>
        <a:graphic>
          <a:graphicData uri="http://schemas.openxmlformats.org/drawingml/2006/table">
            <a:tbl>
              <a:tblPr firstRow="1" bandRow="1">
                <a:tableStyleId>{5C22544A-7EE6-4342-B048-85BDC9FD1C3A}</a:tableStyleId>
              </a:tblPr>
              <a:tblGrid>
                <a:gridCol w="3291840"/>
                <a:gridCol w="3291840"/>
              </a:tblGrid>
              <a:tr h="365760">
                <a:tc>
                  <a:txBody>
                    <a:bodyPr/>
                    <a:lstStyle/>
                    <a:p>
                      <a:r>
                        <a:rPr sz="1450" b="1" i="0">
                          <a:solidFill>
                            <a:srgbClr val="FFFFFF"/>
                          </a:solidFill>
                          <a:latin typeface="Calibri"/>
                        </a:rPr>
                        <a:t>Date</a:t>
                      </a:r>
                    </a:p>
                  </a:txBody>
                  <a:tcPr anchor="ctr" marL="127000" marR="127000">
                    <a:solidFill>
                      <a:srgbClr val="1F2937"/>
                    </a:solidFill>
                  </a:tcPr>
                </a:tc>
                <a:tc>
                  <a:txBody>
                    <a:bodyPr/>
                    <a:lstStyle/>
                    <a:p>
                      <a:r>
                        <a:rPr sz="1450" b="1" i="0">
                          <a:solidFill>
                            <a:srgbClr val="FFFFFF"/>
                          </a:solidFill>
                          <a:latin typeface="Calibri"/>
                        </a:rPr>
                        <a:t>Withdrawal Amount</a:t>
                      </a:r>
                    </a:p>
                  </a:txBody>
                  <a:tcPr anchor="ctr" marL="127000" marR="127000">
                    <a:solidFill>
                      <a:srgbClr val="1F2937"/>
                    </a:solidFill>
                  </a:tcPr>
                </a:tc>
              </a:tr>
              <a:tr h="365760">
                <a:tc>
                  <a:txBody>
                    <a:bodyPr/>
                    <a:lstStyle/>
                    <a:p>
                      <a:r>
                        <a:rPr sz="1400" b="1" i="0">
                          <a:solidFill>
                            <a:srgbClr val="1F2937"/>
                          </a:solidFill>
                          <a:latin typeface="Calibri"/>
                        </a:rPr>
                        <a:t>Monday</a:t>
                      </a:r>
                    </a:p>
                  </a:txBody>
                  <a:tcPr anchor="ctr" marL="127000" marR="127000">
                    <a:solidFill>
                      <a:srgbClr val="FFFFFF"/>
                    </a:solidFill>
                  </a:tcPr>
                </a:tc>
                <a:tc>
                  <a:txBody>
                    <a:bodyPr/>
                    <a:lstStyle/>
                    <a:p>
                      <a:r>
                        <a:rPr sz="1400" b="0" i="0">
                          <a:solidFill>
                            <a:srgbClr val="4B5563"/>
                          </a:solidFill>
                          <a:latin typeface="Calibri"/>
                        </a:rPr>
                        <a:t>₦25,000,000</a:t>
                      </a:r>
                    </a:p>
                  </a:txBody>
                  <a:tcPr anchor="ctr" marL="127000" marR="127000">
                    <a:solidFill>
                      <a:srgbClr val="FFFFFF"/>
                    </a:solidFill>
                  </a:tcPr>
                </a:tc>
              </a:tr>
              <a:tr h="365760">
                <a:tc>
                  <a:txBody>
                    <a:bodyPr/>
                    <a:lstStyle/>
                    <a:p>
                      <a:r>
                        <a:rPr sz="1400" b="1" i="0">
                          <a:solidFill>
                            <a:srgbClr val="1F2937"/>
                          </a:solidFill>
                          <a:latin typeface="Calibri"/>
                        </a:rPr>
                        <a:t>Tuesday</a:t>
                      </a:r>
                    </a:p>
                  </a:txBody>
                  <a:tcPr anchor="ctr" marL="127000" marR="127000">
                    <a:solidFill>
                      <a:srgbClr val="F7F9FB"/>
                    </a:solidFill>
                  </a:tcPr>
                </a:tc>
                <a:tc>
                  <a:txBody>
                    <a:bodyPr/>
                    <a:lstStyle/>
                    <a:p>
                      <a:r>
                        <a:rPr sz="1400" b="0" i="0">
                          <a:solidFill>
                            <a:srgbClr val="4B5563"/>
                          </a:solidFill>
                          <a:latin typeface="Calibri"/>
                        </a:rPr>
                        <a:t>₦28,000,000</a:t>
                      </a:r>
                    </a:p>
                  </a:txBody>
                  <a:tcPr anchor="ctr" marL="127000" marR="127000">
                    <a:solidFill>
                      <a:srgbClr val="F7F9FB"/>
                    </a:solidFill>
                  </a:tcPr>
                </a:tc>
              </a:tr>
              <a:tr h="365760">
                <a:tc>
                  <a:txBody>
                    <a:bodyPr/>
                    <a:lstStyle/>
                    <a:p>
                      <a:r>
                        <a:rPr sz="1400" b="1" i="0">
                          <a:solidFill>
                            <a:srgbClr val="1F2937"/>
                          </a:solidFill>
                          <a:latin typeface="Calibri"/>
                        </a:rPr>
                        <a:t>Wednesday</a:t>
                      </a:r>
                    </a:p>
                  </a:txBody>
                  <a:tcPr anchor="ctr" marL="127000" marR="127000">
                    <a:solidFill>
                      <a:srgbClr val="FFFFFF"/>
                    </a:solidFill>
                  </a:tcPr>
                </a:tc>
                <a:tc>
                  <a:txBody>
                    <a:bodyPr/>
                    <a:lstStyle/>
                    <a:p>
                      <a:r>
                        <a:rPr sz="1400" b="0" i="0">
                          <a:solidFill>
                            <a:srgbClr val="4B5563"/>
                          </a:solidFill>
                          <a:latin typeface="Calibri"/>
                        </a:rPr>
                        <a:t>₦30,000,000</a:t>
                      </a:r>
                    </a:p>
                  </a:txBody>
                  <a:tcPr anchor="ctr" marL="127000" marR="127000">
                    <a:solidFill>
                      <a:srgbClr val="FFFFFF"/>
                    </a:solidFill>
                  </a:tcPr>
                </a:tc>
              </a:tr>
              <a:tr h="365760">
                <a:tc>
                  <a:txBody>
                    <a:bodyPr/>
                    <a:lstStyle/>
                    <a:p>
                      <a:r>
                        <a:rPr sz="1400" b="1" i="0">
                          <a:solidFill>
                            <a:srgbClr val="1F2937"/>
                          </a:solidFill>
                          <a:latin typeface="Calibri"/>
                        </a:rPr>
                        <a:t>Thursday</a:t>
                      </a:r>
                    </a:p>
                  </a:txBody>
                  <a:tcPr anchor="ctr" marL="127000" marR="127000">
                    <a:solidFill>
                      <a:srgbClr val="F7F9FB"/>
                    </a:solidFill>
                  </a:tcPr>
                </a:tc>
                <a:tc>
                  <a:txBody>
                    <a:bodyPr/>
                    <a:lstStyle/>
                    <a:p>
                      <a:r>
                        <a:rPr sz="1400" b="0" i="0">
                          <a:solidFill>
                            <a:srgbClr val="4B5563"/>
                          </a:solidFill>
                          <a:latin typeface="Calibri"/>
                        </a:rPr>
                        <a:t>₦27,000,000</a:t>
                      </a:r>
                    </a:p>
                  </a:txBody>
                  <a:tcPr anchor="ctr" marL="127000" marR="127000">
                    <a:solidFill>
                      <a:srgbClr val="F7F9FB"/>
                    </a:solidFill>
                  </a:tcPr>
                </a:tc>
              </a:tr>
              <a:tr h="365760">
                <a:tc>
                  <a:txBody>
                    <a:bodyPr/>
                    <a:lstStyle/>
                    <a:p>
                      <a:r>
                        <a:rPr sz="1400" b="1" i="0">
                          <a:solidFill>
                            <a:srgbClr val="1F2937"/>
                          </a:solidFill>
                          <a:latin typeface="Calibri"/>
                        </a:rPr>
                        <a:t>Friday</a:t>
                      </a:r>
                    </a:p>
                  </a:txBody>
                  <a:tcPr anchor="ctr" marL="127000" marR="127000">
                    <a:solidFill>
                      <a:srgbClr val="FFFFFF"/>
                    </a:solidFill>
                  </a:tcPr>
                </a:tc>
                <a:tc>
                  <a:txBody>
                    <a:bodyPr/>
                    <a:lstStyle/>
                    <a:p>
                      <a:r>
                        <a:rPr sz="1400" b="0" i="0">
                          <a:solidFill>
                            <a:srgbClr val="4B5563"/>
                          </a:solidFill>
                          <a:latin typeface="Calibri"/>
                        </a:rPr>
                        <a:t>₦45,000,000</a:t>
                      </a:r>
                    </a:p>
                  </a:txBody>
                  <a:tcPr anchor="ctr" marL="127000" marR="127000">
                    <a:solidFill>
                      <a:srgbClr val="FFFFFF"/>
                    </a:solidFill>
                  </a:tcPr>
                </a:tc>
              </a:tr>
            </a:tbl>
          </a:graphicData>
        </a:graphic>
      </p:graphicFrame>
      <p:sp>
        <p:nvSpPr>
          <p:cNvPr id="8" name="TextBox 7"/>
          <p:cNvSpPr txBox="1"/>
          <p:nvPr/>
        </p:nvSpPr>
        <p:spPr>
          <a:xfrm>
            <a:off x="7589520" y="1828800"/>
            <a:ext cx="3291840" cy="2743200"/>
          </a:xfrm>
          <a:prstGeom prst="rect">
            <a:avLst/>
          </a:prstGeom>
          <a:noFill/>
        </p:spPr>
        <p:txBody>
          <a:bodyPr wrap="square" anchor="t" lIns="0" rIns="0" tIns="0" bIns="0">
            <a:spAutoFit/>
          </a:bodyPr>
          <a:lstStyle/>
          <a:p>
            <a:pPr algn="l">
              <a:lnSpc>
                <a:spcPct val="100000"/>
              </a:lnSpc>
            </a:pPr>
            <a:r>
              <a:rPr sz="1650" b="0" i="0">
                <a:solidFill>
                  <a:srgbClr val="4B5563"/>
                </a:solidFill>
                <a:latin typeface="Calibri"/>
              </a:rPr>
              <a:t>A bank records daily ATM withdrawals.</a:t>
            </a:r>
          </a:p>
          <a:p>
            <a:pPr algn="l">
              <a:lnSpc>
                <a:spcPct val="100000"/>
              </a:lnSpc>
            </a:pPr>
            <a:r>
              <a:rPr sz="1650" b="0" i="0">
                <a:solidFill>
                  <a:srgbClr val="4B5563"/>
                </a:solidFill>
                <a:latin typeface="Calibri"/>
              </a:rPr>
              <a:t/>
            </a:r>
          </a:p>
          <a:p>
            <a:pPr algn="l">
              <a:lnSpc>
                <a:spcPct val="100000"/>
              </a:lnSpc>
            </a:pPr>
            <a:r>
              <a:rPr sz="1650" b="0" i="0">
                <a:solidFill>
                  <a:srgbClr val="4B5563"/>
                </a:solidFill>
                <a:latin typeface="Calibri"/>
              </a:rPr>
              <a:t>Can we predict tomorrow's withdrawal demand?</a:t>
            </a:r>
          </a:p>
          <a:p>
            <a:pPr algn="l">
              <a:lnSpc>
                <a:spcPct val="100000"/>
              </a:lnSpc>
            </a:pPr>
            <a:r>
              <a:rPr sz="1650" b="0" i="0">
                <a:solidFill>
                  <a:srgbClr val="4B5563"/>
                </a:solidFill>
                <a:latin typeface="Calibri"/>
              </a:rPr>
              <a:t/>
            </a:r>
          </a:p>
          <a:p>
            <a:pPr algn="l">
              <a:lnSpc>
                <a:spcPct val="100000"/>
              </a:lnSpc>
            </a:pPr>
            <a:r>
              <a:rPr sz="1650" b="0" i="0">
                <a:solidFill>
                  <a:srgbClr val="4B5563"/>
                </a:solidFill>
                <a:latin typeface="Calibri"/>
              </a:rPr>
              <a:t>Can we predict next week's demand?</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THE REAL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Makes This Different?</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5074920" cy="457200"/>
          </a:xfrm>
          <a:prstGeom prst="rect">
            <a:avLst/>
          </a:prstGeom>
          <a:noFill/>
        </p:spPr>
        <p:txBody>
          <a:bodyPr wrap="square" anchor="t" lIns="0" rIns="0" tIns="0" bIns="0">
            <a:spAutoFit/>
          </a:bodyPr>
          <a:lstStyle/>
          <a:p>
            <a:pPr algn="l">
              <a:lnSpc>
                <a:spcPct val="100000"/>
              </a:lnSpc>
            </a:pPr>
            <a:r>
              <a:rPr sz="1550" b="1" i="0">
                <a:solidFill>
                  <a:srgbClr val="6B7280"/>
                </a:solidFill>
                <a:latin typeface="Calibri"/>
              </a:rPr>
              <a:t>Normal dataset:</a:t>
            </a:r>
          </a:p>
        </p:txBody>
      </p:sp>
      <p:sp>
        <p:nvSpPr>
          <p:cNvPr id="8" name="Rounded Rectangle 7"/>
          <p:cNvSpPr/>
          <p:nvPr/>
        </p:nvSpPr>
        <p:spPr>
          <a:xfrm>
            <a:off x="713232" y="2148840"/>
            <a:ext cx="5074920" cy="1920240"/>
          </a:xfrm>
          <a:prstGeom prst="roundRect">
            <a:avLst>
              <a:gd name="adj" fmla="val 12000"/>
            </a:avLst>
          </a:prstGeom>
          <a:solidFill>
            <a:srgbClr val="F7F9F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0" i="0">
                <a:solidFill>
                  <a:srgbClr val="1F2937"/>
                </a:solidFill>
                <a:latin typeface="Calibri"/>
              </a:rPr>
              <a:t>Row 1</a:t>
            </a:r>
          </a:p>
          <a:p>
            <a:pPr algn="ctr"/>
            <a:r>
              <a:rPr sz="1600" b="0" i="0">
                <a:solidFill>
                  <a:srgbClr val="1F2937"/>
                </a:solidFill>
                <a:latin typeface="Calibri"/>
              </a:rPr>
              <a:t>Row 2</a:t>
            </a:r>
          </a:p>
          <a:p>
            <a:pPr algn="ctr"/>
            <a:r>
              <a:rPr sz="1600" b="0" i="0">
                <a:solidFill>
                  <a:srgbClr val="1F2937"/>
                </a:solidFill>
                <a:latin typeface="Calibri"/>
              </a:rPr>
              <a:t>Row 3</a:t>
            </a:r>
          </a:p>
          <a:p>
            <a:pPr algn="ctr"/>
            <a:r>
              <a:rPr sz="1600" b="0" i="0">
                <a:solidFill>
                  <a:srgbClr val="1F2937"/>
                </a:solidFill>
                <a:latin typeface="Calibri"/>
              </a:rPr>
              <a:t/>
            </a:r>
          </a:p>
          <a:p>
            <a:pPr algn="ctr"/>
            <a:r>
              <a:rPr sz="1600" b="0" i="0">
                <a:solidFill>
                  <a:srgbClr val="1F2937"/>
                </a:solidFill>
                <a:latin typeface="Calibri"/>
              </a:rPr>
              <a:t>(order may not matter)</a:t>
            </a:r>
          </a:p>
        </p:txBody>
      </p:sp>
      <p:sp>
        <p:nvSpPr>
          <p:cNvPr id="9" name="TextBox 8"/>
          <p:cNvSpPr txBox="1"/>
          <p:nvPr/>
        </p:nvSpPr>
        <p:spPr>
          <a:xfrm>
            <a:off x="6035040" y="1691640"/>
            <a:ext cx="5486400" cy="457200"/>
          </a:xfrm>
          <a:prstGeom prst="rect">
            <a:avLst/>
          </a:prstGeom>
          <a:noFill/>
        </p:spPr>
        <p:txBody>
          <a:bodyPr wrap="square" anchor="t" lIns="0" rIns="0" tIns="0" bIns="0">
            <a:spAutoFit/>
          </a:bodyPr>
          <a:lstStyle/>
          <a:p>
            <a:pPr algn="l">
              <a:lnSpc>
                <a:spcPct val="100000"/>
              </a:lnSpc>
            </a:pPr>
            <a:r>
              <a:rPr sz="1550" b="1" i="0">
                <a:solidFill>
                  <a:srgbClr val="6B7280"/>
                </a:solidFill>
                <a:latin typeface="Calibri"/>
              </a:rPr>
              <a:t>Time Series dataset:</a:t>
            </a:r>
          </a:p>
        </p:txBody>
      </p:sp>
      <p:sp>
        <p:nvSpPr>
          <p:cNvPr id="10" name="Rounded Rectangle 9"/>
          <p:cNvSpPr/>
          <p:nvPr/>
        </p:nvSpPr>
        <p:spPr>
          <a:xfrm>
            <a:off x="6035040" y="2148840"/>
            <a:ext cx="5486400" cy="54864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Yesterday</a:t>
            </a:r>
          </a:p>
        </p:txBody>
      </p:sp>
      <p:cxnSp>
        <p:nvCxnSpPr>
          <p:cNvPr id="11" name="Connector 10"/>
          <p:cNvCxnSpPr/>
          <p:nvPr/>
        </p:nvCxnSpPr>
        <p:spPr>
          <a:xfrm>
            <a:off x="8778240" y="2722880"/>
            <a:ext cx="0" cy="150368"/>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35040" y="2898648"/>
            <a:ext cx="5486400" cy="54864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Today</a:t>
            </a:r>
          </a:p>
        </p:txBody>
      </p:sp>
      <p:cxnSp>
        <p:nvCxnSpPr>
          <p:cNvPr id="13" name="Connector 12"/>
          <p:cNvCxnSpPr/>
          <p:nvPr/>
        </p:nvCxnSpPr>
        <p:spPr>
          <a:xfrm>
            <a:off x="8778240" y="3472688"/>
            <a:ext cx="0" cy="150368"/>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35040" y="3648456"/>
            <a:ext cx="5486400" cy="54864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Tomorrow</a:t>
            </a:r>
          </a:p>
        </p:txBody>
      </p:sp>
      <p:sp>
        <p:nvSpPr>
          <p:cNvPr id="15" name="Rounded Rectangle 14"/>
          <p:cNvSpPr/>
          <p:nvPr/>
        </p:nvSpPr>
        <p:spPr>
          <a:xfrm>
            <a:off x="2651760" y="5349240"/>
            <a:ext cx="6858000" cy="59436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1E40AF"/>
                </a:solidFill>
                <a:latin typeface="Calibri"/>
              </a:rPr>
              <a:t>Time is one of the most important pieces of information here</a:t>
            </a:r>
          </a:p>
        </p:txBody>
      </p:sp>
      <p:sp>
        <p:nvSpPr>
          <p:cNvPr id="16" name="TextBox 15"/>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7" name="TextBox 16"/>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WHAT IS TIME SERIES DATA?</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Time Series Data?</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822960"/>
          </a:xfrm>
          <a:prstGeom prst="rect">
            <a:avLst/>
          </a:prstGeom>
          <a:noFill/>
        </p:spPr>
        <p:txBody>
          <a:bodyPr wrap="square" anchor="t" lIns="0" rIns="0" tIns="0" bIns="0">
            <a:spAutoFit/>
          </a:bodyPr>
          <a:lstStyle/>
          <a:p>
            <a:pPr algn="l">
              <a:lnSpc>
                <a:spcPct val="100000"/>
              </a:lnSpc>
            </a:pPr>
            <a:r>
              <a:rPr sz="2200" b="1" i="0">
                <a:solidFill>
                  <a:srgbClr val="1F2937"/>
                </a:solidFill>
                <a:latin typeface="Calibri"/>
              </a:rPr>
              <a:t>“A Time Series is a sequence of observations</a:t>
            </a:r>
          </a:p>
          <a:p>
            <a:pPr algn="l">
              <a:lnSpc>
                <a:spcPct val="100000"/>
              </a:lnSpc>
            </a:pPr>
            <a:r>
              <a:rPr sz="2200" b="1" i="0">
                <a:solidFill>
                  <a:srgbClr val="1F2937"/>
                </a:solidFill>
                <a:latin typeface="Calibri"/>
              </a:rPr>
              <a:t>recorded over time.”</a:t>
            </a:r>
          </a:p>
        </p:txBody>
      </p:sp>
      <p:sp>
        <p:nvSpPr>
          <p:cNvPr id="8" name="Rounded Rectangle 7"/>
          <p:cNvSpPr/>
          <p:nvPr/>
        </p:nvSpPr>
        <p:spPr>
          <a:xfrm>
            <a:off x="713232" y="301752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Daily sales</a:t>
            </a:r>
          </a:p>
        </p:txBody>
      </p:sp>
      <p:sp>
        <p:nvSpPr>
          <p:cNvPr id="9" name="Rounded Rectangle 8"/>
          <p:cNvSpPr/>
          <p:nvPr/>
        </p:nvSpPr>
        <p:spPr>
          <a:xfrm>
            <a:off x="4325112" y="301752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Monthly revenue</a:t>
            </a:r>
          </a:p>
        </p:txBody>
      </p:sp>
      <p:sp>
        <p:nvSpPr>
          <p:cNvPr id="10" name="Rounded Rectangle 9"/>
          <p:cNvSpPr/>
          <p:nvPr/>
        </p:nvSpPr>
        <p:spPr>
          <a:xfrm>
            <a:off x="7936992" y="301752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Stock prices</a:t>
            </a:r>
          </a:p>
        </p:txBody>
      </p:sp>
      <p:sp>
        <p:nvSpPr>
          <p:cNvPr id="11" name="Rounded Rectangle 10"/>
          <p:cNvSpPr/>
          <p:nvPr/>
        </p:nvSpPr>
        <p:spPr>
          <a:xfrm>
            <a:off x="713232" y="379476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Bank transactions</a:t>
            </a:r>
          </a:p>
        </p:txBody>
      </p:sp>
      <p:sp>
        <p:nvSpPr>
          <p:cNvPr id="12" name="Rounded Rectangle 11"/>
          <p:cNvSpPr/>
          <p:nvPr/>
        </p:nvSpPr>
        <p:spPr>
          <a:xfrm>
            <a:off x="4325112" y="379476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Temperature</a:t>
            </a:r>
          </a:p>
        </p:txBody>
      </p:sp>
      <p:sp>
        <p:nvSpPr>
          <p:cNvPr id="13" name="Rounded Rectangle 12"/>
          <p:cNvSpPr/>
          <p:nvPr/>
        </p:nvSpPr>
        <p:spPr>
          <a:xfrm>
            <a:off x="7936992" y="379476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Website visitors</a:t>
            </a:r>
          </a:p>
        </p:txBody>
      </p:sp>
      <p:sp>
        <p:nvSpPr>
          <p:cNvPr id="14" name="Rounded Rectangle 13"/>
          <p:cNvSpPr/>
          <p:nvPr/>
        </p:nvSpPr>
        <p:spPr>
          <a:xfrm>
            <a:off x="713232" y="457200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Exchange rates</a:t>
            </a:r>
          </a:p>
        </p:txBody>
      </p:sp>
      <p:sp>
        <p:nvSpPr>
          <p:cNvPr id="15" name="Rounded Rectangle 14"/>
          <p:cNvSpPr/>
          <p:nvPr/>
        </p:nvSpPr>
        <p:spPr>
          <a:xfrm>
            <a:off x="4325112" y="457200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Electricity demand</a:t>
            </a:r>
          </a:p>
        </p:txBody>
      </p:sp>
      <p:sp>
        <p:nvSpPr>
          <p:cNvPr id="16" name="Rounded Rectangle 15"/>
          <p:cNvSpPr/>
          <p:nvPr/>
        </p:nvSpPr>
        <p:spPr>
          <a:xfrm>
            <a:off x="7936992" y="4572000"/>
            <a:ext cx="3383280" cy="54864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i="0">
                <a:solidFill>
                  <a:srgbClr val="1E40AF"/>
                </a:solidFill>
                <a:latin typeface="Calibri"/>
              </a:rPr>
              <a:t>Cash withdrawals</a:t>
            </a:r>
          </a:p>
        </p:txBody>
      </p:sp>
      <p:sp>
        <p:nvSpPr>
          <p:cNvPr id="17" name="TextBox 1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8" name="TextBox 17"/>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WHAT IS TIME SERIES DATA?</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Real-Life Examples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417320"/>
          <a:ext cx="10771632" cy="3566160"/>
        </p:xfrm>
        <a:graphic>
          <a:graphicData uri="http://schemas.openxmlformats.org/drawingml/2006/table">
            <a:tbl>
              <a:tblPr firstRow="1" bandRow="1">
                <a:tableStyleId>{5C22544A-7EE6-4342-B048-85BDC9FD1C3A}</a:tableStyleId>
              </a:tblPr>
              <a:tblGrid>
                <a:gridCol w="4488180"/>
                <a:gridCol w="6283452"/>
              </a:tblGrid>
              <a:tr h="445770">
                <a:tc>
                  <a:txBody>
                    <a:bodyPr/>
                    <a:lstStyle/>
                    <a:p>
                      <a:r>
                        <a:rPr sz="1450" b="1" i="0">
                          <a:solidFill>
                            <a:srgbClr val="FFFFFF"/>
                          </a:solidFill>
                          <a:latin typeface="Calibri"/>
                        </a:rPr>
                        <a:t>Industry</a:t>
                      </a:r>
                    </a:p>
                  </a:txBody>
                  <a:tcPr anchor="ctr" marL="127000" marR="127000">
                    <a:solidFill>
                      <a:srgbClr val="1F2937"/>
                    </a:solidFill>
                  </a:tcPr>
                </a:tc>
                <a:tc>
                  <a:txBody>
                    <a:bodyPr/>
                    <a:lstStyle/>
                    <a:p>
                      <a:r>
                        <a:rPr sz="1450" b="1" i="0">
                          <a:solidFill>
                            <a:srgbClr val="FFFFFF"/>
                          </a:solidFill>
                          <a:latin typeface="Calibri"/>
                        </a:rPr>
                        <a:t>Forecasting Example</a:t>
                      </a:r>
                    </a:p>
                  </a:txBody>
                  <a:tcPr anchor="ctr" marL="127000" marR="127000">
                    <a:solidFill>
                      <a:srgbClr val="1F2937"/>
                    </a:solidFill>
                  </a:tcPr>
                </a:tc>
              </a:tr>
              <a:tr h="445770">
                <a:tc>
                  <a:txBody>
                    <a:bodyPr/>
                    <a:lstStyle/>
                    <a:p>
                      <a:r>
                        <a:rPr sz="1400" b="1" i="0">
                          <a:solidFill>
                            <a:srgbClr val="1F2937"/>
                          </a:solidFill>
                          <a:latin typeface="Calibri"/>
                        </a:rPr>
                        <a:t>Banking</a:t>
                      </a:r>
                    </a:p>
                  </a:txBody>
                  <a:tcPr anchor="ctr" marL="127000" marR="127000">
                    <a:solidFill>
                      <a:srgbClr val="FFFFFF"/>
                    </a:solidFill>
                  </a:tcPr>
                </a:tc>
                <a:tc>
                  <a:txBody>
                    <a:bodyPr/>
                    <a:lstStyle/>
                    <a:p>
                      <a:r>
                        <a:rPr sz="1400" b="0" i="0">
                          <a:solidFill>
                            <a:srgbClr val="4B5563"/>
                          </a:solidFill>
                          <a:latin typeface="Calibri"/>
                        </a:rPr>
                        <a:t>Cash demand</a:t>
                      </a:r>
                    </a:p>
                  </a:txBody>
                  <a:tcPr anchor="ctr" marL="127000" marR="127000">
                    <a:solidFill>
                      <a:srgbClr val="FFFFFF"/>
                    </a:solidFill>
                  </a:tcPr>
                </a:tc>
              </a:tr>
              <a:tr h="445770">
                <a:tc>
                  <a:txBody>
                    <a:bodyPr/>
                    <a:lstStyle/>
                    <a:p>
                      <a:r>
                        <a:rPr sz="1400" b="1" i="0">
                          <a:solidFill>
                            <a:srgbClr val="1F2937"/>
                          </a:solidFill>
                          <a:latin typeface="Calibri"/>
                        </a:rPr>
                        <a:t>Retail</a:t>
                      </a:r>
                    </a:p>
                  </a:txBody>
                  <a:tcPr anchor="ctr" marL="127000" marR="127000">
                    <a:solidFill>
                      <a:srgbClr val="F7F9FB"/>
                    </a:solidFill>
                  </a:tcPr>
                </a:tc>
                <a:tc>
                  <a:txBody>
                    <a:bodyPr/>
                    <a:lstStyle/>
                    <a:p>
                      <a:r>
                        <a:rPr sz="1400" b="0" i="0">
                          <a:solidFill>
                            <a:srgbClr val="4B5563"/>
                          </a:solidFill>
                          <a:latin typeface="Calibri"/>
                        </a:rPr>
                        <a:t>Product sales</a:t>
                      </a:r>
                    </a:p>
                  </a:txBody>
                  <a:tcPr anchor="ctr" marL="127000" marR="127000">
                    <a:solidFill>
                      <a:srgbClr val="F7F9FB"/>
                    </a:solidFill>
                  </a:tcPr>
                </a:tc>
              </a:tr>
              <a:tr h="445770">
                <a:tc>
                  <a:txBody>
                    <a:bodyPr/>
                    <a:lstStyle/>
                    <a:p>
                      <a:r>
                        <a:rPr sz="1400" b="1" i="0">
                          <a:solidFill>
                            <a:srgbClr val="1F2937"/>
                          </a:solidFill>
                          <a:latin typeface="Calibri"/>
                        </a:rPr>
                        <a:t>Healthcare</a:t>
                      </a:r>
                    </a:p>
                  </a:txBody>
                  <a:tcPr anchor="ctr" marL="127000" marR="127000">
                    <a:solidFill>
                      <a:srgbClr val="FFFFFF"/>
                    </a:solidFill>
                  </a:tcPr>
                </a:tc>
                <a:tc>
                  <a:txBody>
                    <a:bodyPr/>
                    <a:lstStyle/>
                    <a:p>
                      <a:r>
                        <a:rPr sz="1400" b="0" i="0">
                          <a:solidFill>
                            <a:srgbClr val="4B5563"/>
                          </a:solidFill>
                          <a:latin typeface="Calibri"/>
                        </a:rPr>
                        <a:t>Patient visits</a:t>
                      </a:r>
                    </a:p>
                  </a:txBody>
                  <a:tcPr anchor="ctr" marL="127000" marR="127000">
                    <a:solidFill>
                      <a:srgbClr val="FFFFFF"/>
                    </a:solidFill>
                  </a:tcPr>
                </a:tc>
              </a:tr>
              <a:tr h="445770">
                <a:tc>
                  <a:txBody>
                    <a:bodyPr/>
                    <a:lstStyle/>
                    <a:p>
                      <a:r>
                        <a:rPr sz="1400" b="1" i="0">
                          <a:solidFill>
                            <a:srgbClr val="1F2937"/>
                          </a:solidFill>
                          <a:latin typeface="Calibri"/>
                        </a:rPr>
                        <a:t>Transport</a:t>
                      </a:r>
                    </a:p>
                  </a:txBody>
                  <a:tcPr anchor="ctr" marL="127000" marR="127000">
                    <a:solidFill>
                      <a:srgbClr val="F7F9FB"/>
                    </a:solidFill>
                  </a:tcPr>
                </a:tc>
                <a:tc>
                  <a:txBody>
                    <a:bodyPr/>
                    <a:lstStyle/>
                    <a:p>
                      <a:r>
                        <a:rPr sz="1400" b="0" i="0">
                          <a:solidFill>
                            <a:srgbClr val="4B5563"/>
                          </a:solidFill>
                          <a:latin typeface="Calibri"/>
                        </a:rPr>
                        <a:t>Passenger demand</a:t>
                      </a:r>
                    </a:p>
                  </a:txBody>
                  <a:tcPr anchor="ctr" marL="127000" marR="127000">
                    <a:solidFill>
                      <a:srgbClr val="F7F9FB"/>
                    </a:solidFill>
                  </a:tcPr>
                </a:tc>
              </a:tr>
              <a:tr h="445770">
                <a:tc>
                  <a:txBody>
                    <a:bodyPr/>
                    <a:lstStyle/>
                    <a:p>
                      <a:r>
                        <a:rPr sz="1400" b="1" i="0">
                          <a:solidFill>
                            <a:srgbClr val="1F2937"/>
                          </a:solidFill>
                          <a:latin typeface="Calibri"/>
                        </a:rPr>
                        <a:t>Energy</a:t>
                      </a:r>
                    </a:p>
                  </a:txBody>
                  <a:tcPr anchor="ctr" marL="127000" marR="127000">
                    <a:solidFill>
                      <a:srgbClr val="FFFFFF"/>
                    </a:solidFill>
                  </a:tcPr>
                </a:tc>
                <a:tc>
                  <a:txBody>
                    <a:bodyPr/>
                    <a:lstStyle/>
                    <a:p>
                      <a:r>
                        <a:rPr sz="1400" b="0" i="0">
                          <a:solidFill>
                            <a:srgbClr val="4B5563"/>
                          </a:solidFill>
                          <a:latin typeface="Calibri"/>
                        </a:rPr>
                        <a:t>Electricity consumption</a:t>
                      </a:r>
                    </a:p>
                  </a:txBody>
                  <a:tcPr anchor="ctr" marL="127000" marR="127000">
                    <a:solidFill>
                      <a:srgbClr val="FFFFFF"/>
                    </a:solidFill>
                  </a:tcPr>
                </a:tc>
              </a:tr>
              <a:tr h="445770">
                <a:tc>
                  <a:txBody>
                    <a:bodyPr/>
                    <a:lstStyle/>
                    <a:p>
                      <a:r>
                        <a:rPr sz="1400" b="1" i="0">
                          <a:solidFill>
                            <a:srgbClr val="1F2937"/>
                          </a:solidFill>
                          <a:latin typeface="Calibri"/>
                        </a:rPr>
                        <a:t>Agriculture</a:t>
                      </a:r>
                    </a:p>
                  </a:txBody>
                  <a:tcPr anchor="ctr" marL="127000" marR="127000">
                    <a:solidFill>
                      <a:srgbClr val="F7F9FB"/>
                    </a:solidFill>
                  </a:tcPr>
                </a:tc>
                <a:tc>
                  <a:txBody>
                    <a:bodyPr/>
                    <a:lstStyle/>
                    <a:p>
                      <a:r>
                        <a:rPr sz="1400" b="0" i="0">
                          <a:solidFill>
                            <a:srgbClr val="4B5563"/>
                          </a:solidFill>
                          <a:latin typeface="Calibri"/>
                        </a:rPr>
                        <a:t>Crop production</a:t>
                      </a:r>
                    </a:p>
                  </a:txBody>
                  <a:tcPr anchor="ctr" marL="127000" marR="127000">
                    <a:solidFill>
                      <a:srgbClr val="F7F9FB"/>
                    </a:solidFill>
                  </a:tcPr>
                </a:tc>
              </a:tr>
              <a:tr h="445770">
                <a:tc>
                  <a:txBody>
                    <a:bodyPr/>
                    <a:lstStyle/>
                    <a:p>
                      <a:r>
                        <a:rPr sz="1400" b="1" i="0">
                          <a:solidFill>
                            <a:srgbClr val="1F2937"/>
                          </a:solidFill>
                          <a:latin typeface="Calibri"/>
                        </a:rPr>
                        <a:t>Technology</a:t>
                      </a:r>
                    </a:p>
                  </a:txBody>
                  <a:tcPr anchor="ctr" marL="127000" marR="127000">
                    <a:solidFill>
                      <a:srgbClr val="FFFFFF"/>
                    </a:solidFill>
                  </a:tcPr>
                </a:tc>
                <a:tc>
                  <a:txBody>
                    <a:bodyPr/>
                    <a:lstStyle/>
                    <a:p>
                      <a:r>
                        <a:rPr sz="1400" b="0" i="0">
                          <a:solidFill>
                            <a:srgbClr val="4B5563"/>
                          </a:solidFill>
                          <a:latin typeface="Calibri"/>
                        </a:rPr>
                        <a:t>Website traffic</a:t>
                      </a:r>
                    </a:p>
                  </a:txBody>
                  <a:tcPr anchor="ctr" marL="127000" marR="127000">
                    <a:solidFill>
                      <a:srgbClr val="FFFFFF"/>
                    </a:solidFill>
                  </a:tcPr>
                </a:tc>
              </a:tr>
            </a:tbl>
          </a:graphicData>
        </a:graphic>
      </p:graphicFrame>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UNDERSTANDING PATTERNS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A Time Series Is Not Just Numbers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Real-world data often contains several patterns layered on top of each other.</a:t>
            </a:r>
          </a:p>
        </p:txBody>
      </p:sp>
      <p:pic>
        <p:nvPicPr>
          <p:cNvPr id="8" name="Picture 7" descr="06_decomposition_panel.png"/>
          <p:cNvPicPr>
            <a:picLocks noChangeAspect="1"/>
          </p:cNvPicPr>
          <p:nvPr/>
        </p:nvPicPr>
        <p:blipFill>
          <a:blip r:embed="rId2"/>
          <a:stretch>
            <a:fillRect/>
          </a:stretch>
        </p:blipFill>
        <p:spPr>
          <a:xfrm>
            <a:off x="3215487" y="2103120"/>
            <a:ext cx="5760720" cy="4292510"/>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UNDERSTANDING PATTERNS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Trend</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“A trend shows the general direction of data over a long period of time.”</a:t>
            </a:r>
          </a:p>
          <a:p>
            <a:pPr>
              <a:lnSpc>
                <a:spcPct val="112000"/>
              </a:lnSpc>
              <a:spcAft>
                <a:spcPts val="1000"/>
              </a:spcAft>
            </a:pPr>
            <a:r>
              <a:rPr sz="1650" b="0" i="0">
                <a:solidFill>
                  <a:srgbClr val="4B5563"/>
                </a:solidFill>
                <a:latin typeface="Calibri"/>
              </a:rPr>
              <a:t>•  Can be upward, downward, or show no clear direction.</a:t>
            </a:r>
          </a:p>
          <a:p>
            <a:pPr>
              <a:lnSpc>
                <a:spcPct val="112000"/>
              </a:lnSpc>
              <a:spcAft>
                <a:spcPts val="1000"/>
              </a:spcAft>
            </a:pPr>
            <a:r>
              <a:rPr sz="1650" b="0" i="0">
                <a:solidFill>
                  <a:srgbClr val="4B5563"/>
                </a:solidFill>
                <a:latin typeface="Calibri"/>
              </a:rPr>
              <a:t>•  Our bank's withdrawals trend gently upward over the two years — more customers, more cash activity over time.</a:t>
            </a:r>
          </a:p>
          <a:p>
            <a:pPr>
              <a:lnSpc>
                <a:spcPct val="112000"/>
              </a:lnSpc>
              <a:spcAft>
                <a:spcPts val="1000"/>
              </a:spcAft>
            </a:pPr>
            <a:r>
              <a:rPr sz="1650" b="0" i="0">
                <a:solidFill>
                  <a:srgbClr val="4B5563"/>
                </a:solidFill>
                <a:latin typeface="Calibri"/>
              </a:rPr>
              <a:t>•  A trend tells you WHERE the series is heading in general, not what happens day to day.</a:t>
            </a:r>
          </a:p>
        </p:txBody>
      </p:sp>
      <p:pic>
        <p:nvPicPr>
          <p:cNvPr id="8" name="Picture 7" descr="02_trend.png"/>
          <p:cNvPicPr>
            <a:picLocks noChangeAspect="1"/>
          </p:cNvPicPr>
          <p:nvPr/>
        </p:nvPicPr>
        <p:blipFill>
          <a:blip r:embed="rId2"/>
          <a:stretch>
            <a:fillRect/>
          </a:stretch>
        </p:blipFill>
        <p:spPr>
          <a:xfrm>
            <a:off x="6035040" y="1691640"/>
            <a:ext cx="5349240" cy="2380940"/>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UNDERSTANDING PATTERNS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Seasonality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“Seasonality is a pattern that repeats at regular intervals.”</a:t>
            </a:r>
          </a:p>
          <a:p>
            <a:pPr>
              <a:lnSpc>
                <a:spcPct val="112000"/>
              </a:lnSpc>
              <a:spcAft>
                <a:spcPts val="1000"/>
              </a:spcAft>
            </a:pPr>
            <a:r>
              <a:rPr sz="1650" b="0" i="0">
                <a:solidFill>
                  <a:srgbClr val="4B5563"/>
                </a:solidFill>
                <a:latin typeface="Calibri"/>
              </a:rPr>
              <a:t>•  Higher sales during Christmas.</a:t>
            </a:r>
          </a:p>
          <a:p>
            <a:pPr>
              <a:lnSpc>
                <a:spcPct val="112000"/>
              </a:lnSpc>
              <a:spcAft>
                <a:spcPts val="1000"/>
              </a:spcAft>
            </a:pPr>
            <a:r>
              <a:rPr sz="1650" b="0" i="0">
                <a:solidFill>
                  <a:srgbClr val="4B5563"/>
                </a:solidFill>
                <a:latin typeface="Calibri"/>
              </a:rPr>
              <a:t>•  Higher ATM withdrawals at month-end (payday).</a:t>
            </a:r>
          </a:p>
          <a:p>
            <a:pPr>
              <a:lnSpc>
                <a:spcPct val="112000"/>
              </a:lnSpc>
              <a:spcAft>
                <a:spcPts val="1000"/>
              </a:spcAft>
            </a:pPr>
            <a:r>
              <a:rPr sz="1650" b="0" i="0">
                <a:solidFill>
                  <a:srgbClr val="4B5563"/>
                </a:solidFill>
                <a:latin typeface="Calibri"/>
              </a:rPr>
              <a:t>•  Higher transactions on Fridays.</a:t>
            </a:r>
          </a:p>
          <a:p>
            <a:pPr>
              <a:lnSpc>
                <a:spcPct val="112000"/>
              </a:lnSpc>
              <a:spcAft>
                <a:spcPts val="1000"/>
              </a:spcAft>
            </a:pPr>
            <a:r>
              <a:rPr sz="1650" b="0" i="0">
                <a:solidFill>
                  <a:srgbClr val="4B5563"/>
                </a:solidFill>
                <a:latin typeface="Calibri"/>
              </a:rPr>
              <a:t>•  Higher electricity use during hot seasons.</a:t>
            </a:r>
          </a:p>
          <a:p>
            <a:pPr>
              <a:lnSpc>
                <a:spcPct val="112000"/>
              </a:lnSpc>
              <a:spcAft>
                <a:spcPts val="1000"/>
              </a:spcAft>
            </a:pPr>
            <a:r>
              <a:rPr sz="1650" b="0" i="0">
                <a:solidFill>
                  <a:srgbClr val="4B5563"/>
                </a:solidFill>
                <a:latin typeface="Calibri"/>
              </a:rPr>
              <a:t>•  In our data: withdrawals spike on Fridays and drop sharply every Sunday, every single week.</a:t>
            </a:r>
          </a:p>
        </p:txBody>
      </p:sp>
      <p:pic>
        <p:nvPicPr>
          <p:cNvPr id="8" name="Picture 7" descr="03_seasonality_weekly.png"/>
          <p:cNvPicPr>
            <a:picLocks noChangeAspect="1"/>
          </p:cNvPicPr>
          <p:nvPr/>
        </p:nvPicPr>
        <p:blipFill>
          <a:blip r:embed="rId2"/>
          <a:stretch>
            <a:fillRect/>
          </a:stretch>
        </p:blipFill>
        <p:spPr>
          <a:xfrm>
            <a:off x="6035040" y="1691640"/>
            <a:ext cx="5349240" cy="2919022"/>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UNDERSTANDING PATTERNS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Cycles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914400"/>
          </a:xfrm>
          <a:prstGeom prst="rect">
            <a:avLst/>
          </a:prstGeom>
          <a:noFill/>
        </p:spPr>
        <p:txBody>
          <a:bodyPr wrap="square" anchor="t" lIns="0" rIns="0" tIns="0" bIns="0">
            <a:spAutoFit/>
          </a:bodyPr>
          <a:lstStyle/>
          <a:p>
            <a:pPr algn="l">
              <a:lnSpc>
                <a:spcPct val="100000"/>
              </a:lnSpc>
            </a:pPr>
            <a:r>
              <a:rPr sz="1850" b="1" i="0">
                <a:solidFill>
                  <a:srgbClr val="1F2937"/>
                </a:solidFill>
                <a:latin typeface="Calibri"/>
              </a:rPr>
              <a:t>Cycles are patterns that rise and fall over longer periods, but may NOT repeat at</a:t>
            </a:r>
          </a:p>
          <a:p>
            <a:pPr algn="l">
              <a:lnSpc>
                <a:spcPct val="100000"/>
              </a:lnSpc>
            </a:pPr>
            <a:r>
              <a:rPr sz="1850" b="1" i="0">
                <a:solidFill>
                  <a:srgbClr val="1F2937"/>
                </a:solidFill>
                <a:latin typeface="Calibri"/>
              </a:rPr>
              <a:t>perfectly regular intervals.</a:t>
            </a:r>
          </a:p>
        </p:txBody>
      </p:sp>
      <p:sp>
        <p:nvSpPr>
          <p:cNvPr id="8" name="Rounded Rectangle 7"/>
          <p:cNvSpPr/>
          <p:nvPr/>
        </p:nvSpPr>
        <p:spPr>
          <a:xfrm>
            <a:off x="713232" y="2834640"/>
            <a:ext cx="5120640" cy="201168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FFFFFF"/>
                </a:solidFill>
                <a:latin typeface="Calibri"/>
              </a:rPr>
              <a:t>Seasonality</a:t>
            </a:r>
          </a:p>
          <a:p>
            <a:pPr algn="ctr"/>
            <a:r>
              <a:rPr sz="1600" b="1" i="0">
                <a:solidFill>
                  <a:srgbClr val="FFFFFF"/>
                </a:solidFill>
                <a:latin typeface="Calibri"/>
              </a:rPr>
              <a:t/>
            </a:r>
          </a:p>
          <a:p>
            <a:pPr algn="ctr"/>
            <a:r>
              <a:rPr sz="1600" b="1" i="0">
                <a:solidFill>
                  <a:srgbClr val="FFFFFF"/>
                </a:solidFill>
                <a:latin typeface="Calibri"/>
              </a:rPr>
              <a:t>Usually follows a regular,</a:t>
            </a:r>
          </a:p>
          <a:p>
            <a:pPr algn="ctr"/>
            <a:r>
              <a:rPr sz="1600" b="1" i="0">
                <a:solidFill>
                  <a:srgbClr val="FFFFFF"/>
                </a:solidFill>
                <a:latin typeface="Calibri"/>
              </a:rPr>
              <a:t>predictable interval</a:t>
            </a:r>
          </a:p>
          <a:p>
            <a:pPr algn="ctr"/>
            <a:r>
              <a:rPr sz="1600" b="1" i="0">
                <a:solidFill>
                  <a:srgbClr val="FFFFFF"/>
                </a:solidFill>
                <a:latin typeface="Calibri"/>
              </a:rPr>
              <a:t>(every week, every month)</a:t>
            </a:r>
          </a:p>
        </p:txBody>
      </p:sp>
      <p:sp>
        <p:nvSpPr>
          <p:cNvPr id="9" name="Rounded Rectangle 8"/>
          <p:cNvSpPr/>
          <p:nvPr/>
        </p:nvSpPr>
        <p:spPr>
          <a:xfrm>
            <a:off x="6263640" y="2834640"/>
            <a:ext cx="5120640" cy="201168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FFFFFF"/>
                </a:solidFill>
                <a:latin typeface="Calibri"/>
              </a:rPr>
              <a:t>Cycles</a:t>
            </a:r>
          </a:p>
          <a:p>
            <a:pPr algn="ctr"/>
            <a:r>
              <a:rPr sz="1600" b="1" i="0">
                <a:solidFill>
                  <a:srgbClr val="FFFFFF"/>
                </a:solidFill>
                <a:latin typeface="Calibri"/>
              </a:rPr>
              <a:t/>
            </a:r>
          </a:p>
          <a:p>
            <a:pPr algn="ctr"/>
            <a:r>
              <a:rPr sz="1600" b="1" i="0">
                <a:solidFill>
                  <a:srgbClr val="FFFFFF"/>
                </a:solidFill>
                <a:latin typeface="Calibri"/>
              </a:rPr>
              <a:t>May not occur at fixed</a:t>
            </a:r>
          </a:p>
          <a:p>
            <a:pPr algn="ctr"/>
            <a:r>
              <a:rPr sz="1600" b="1" i="0">
                <a:solidFill>
                  <a:srgbClr val="FFFFFF"/>
                </a:solidFill>
                <a:latin typeface="Calibri"/>
              </a:rPr>
              <a:t>intervals (e.g. economic</a:t>
            </a:r>
          </a:p>
          <a:p>
            <a:pPr algn="ctr"/>
            <a:r>
              <a:rPr sz="1600" b="1" i="0">
                <a:solidFill>
                  <a:srgbClr val="FFFFFF"/>
                </a:solidFill>
                <a:latin typeface="Calibri"/>
              </a:rPr>
              <a:t>boom-and-bust cycles)</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UNDERSTANDING PATTERNS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Noise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“Noise represents random variation that is difficult to predict.”</a:t>
            </a:r>
          </a:p>
          <a:p>
            <a:pPr>
              <a:lnSpc>
                <a:spcPct val="112000"/>
              </a:lnSpc>
              <a:spcAft>
                <a:spcPts val="1000"/>
              </a:spcAft>
            </a:pPr>
            <a:r>
              <a:rPr sz="1650" b="0" i="0">
                <a:solidFill>
                  <a:srgbClr val="4B5563"/>
                </a:solidFill>
                <a:latin typeface="Calibri"/>
              </a:rPr>
              <a:t>•  An unexpected ATM failure.</a:t>
            </a:r>
          </a:p>
          <a:p>
            <a:pPr>
              <a:lnSpc>
                <a:spcPct val="112000"/>
              </a:lnSpc>
              <a:spcAft>
                <a:spcPts val="1000"/>
              </a:spcAft>
            </a:pPr>
            <a:r>
              <a:rPr sz="1650" b="0" i="0">
                <a:solidFill>
                  <a:srgbClr val="4B5563"/>
                </a:solidFill>
                <a:latin typeface="Calibri"/>
              </a:rPr>
              <a:t>•  An unexpected public holiday.</a:t>
            </a:r>
          </a:p>
          <a:p>
            <a:pPr>
              <a:lnSpc>
                <a:spcPct val="112000"/>
              </a:lnSpc>
              <a:spcAft>
                <a:spcPts val="1000"/>
              </a:spcAft>
            </a:pPr>
            <a:r>
              <a:rPr sz="1650" b="0" i="0">
                <a:solidFill>
                  <a:srgbClr val="4B5563"/>
                </a:solidFill>
                <a:latin typeface="Calibri"/>
              </a:rPr>
              <a:t>•  An unexpected economic event.</a:t>
            </a:r>
          </a:p>
          <a:p>
            <a:pPr>
              <a:lnSpc>
                <a:spcPct val="112000"/>
              </a:lnSpc>
              <a:spcAft>
                <a:spcPts val="1000"/>
              </a:spcAft>
            </a:pPr>
            <a:r>
              <a:rPr sz="1650" b="0" i="0">
                <a:solidFill>
                  <a:srgbClr val="4B5563"/>
                </a:solidFill>
                <a:latin typeface="Calibri"/>
              </a:rPr>
              <a:t>•  Not every movement in a Time Series can be predicted — and that's OK.</a:t>
            </a:r>
          </a:p>
        </p:txBody>
      </p:sp>
      <p:pic>
        <p:nvPicPr>
          <p:cNvPr id="8" name="Picture 7" descr="05_noise_holiday.png"/>
          <p:cNvPicPr>
            <a:picLocks noChangeAspect="1"/>
          </p:cNvPicPr>
          <p:nvPr/>
        </p:nvPicPr>
        <p:blipFill>
          <a:blip r:embed="rId2"/>
          <a:stretch>
            <a:fillRect/>
          </a:stretch>
        </p:blipFill>
        <p:spPr>
          <a:xfrm>
            <a:off x="6035040" y="1691640"/>
            <a:ext cx="5349240" cy="2623781"/>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5 · VISUALIZE FIRST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First Rule of Time Series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920240"/>
            <a:ext cx="10771632" cy="329184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0" rIns="381000"/>
          <a:lstStyle/>
          <a:p>
            <a:pPr algn="ctr"/>
            <a:r>
              <a:rPr sz="3200" b="1" i="0">
                <a:solidFill>
                  <a:srgbClr val="FFFFFF"/>
                </a:solidFill>
                <a:latin typeface="Calibri"/>
              </a:rPr>
              <a:t>“Before forecasting, visualize the data.”</a:t>
            </a:r>
          </a:p>
          <a:p>
            <a:pPr algn="ctr">
              <a:spcBef>
                <a:spcPts val="1400"/>
              </a:spcBef>
            </a:pPr>
            <a:r>
              <a:rPr sz="1700" b="0" i="1">
                <a:solidFill>
                  <a:srgbClr val="C7CED9"/>
                </a:solidFill>
                <a:latin typeface="Calibri"/>
              </a:rPr>
              <a:t>Visualization helps you spot trend, seasonality, spikes, outliers, missing periods, and sudden changes.</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5 · VISUALIZE FIRST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Look at the Data</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What patterns can you see? Look for: increase, decrease, a repeating shape, sudden spikes.</a:t>
            </a:r>
          </a:p>
        </p:txBody>
      </p:sp>
      <p:pic>
        <p:nvPicPr>
          <p:cNvPr id="8" name="Picture 7" descr="01_full_series.png"/>
          <p:cNvPicPr>
            <a:picLocks noChangeAspect="1"/>
          </p:cNvPicPr>
          <p:nvPr/>
        </p:nvPicPr>
        <p:blipFill>
          <a:blip r:embed="rId2"/>
          <a:stretch>
            <a:fillRect/>
          </a:stretch>
        </p:blipFill>
        <p:spPr>
          <a:xfrm>
            <a:off x="1249527" y="2148840"/>
            <a:ext cx="9692640" cy="4314182"/>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6 · LAGS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a Lag?</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0" y="1600200"/>
            <a:ext cx="4846320" cy="5486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Today</a:t>
            </a:r>
          </a:p>
        </p:txBody>
      </p:sp>
      <p:cxnSp>
        <p:nvCxnSpPr>
          <p:cNvPr id="8" name="Connector 7"/>
          <p:cNvCxnSpPr/>
          <p:nvPr/>
        </p:nvCxnSpPr>
        <p:spPr>
          <a:xfrm>
            <a:off x="6080760" y="2174240"/>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0" y="2331720"/>
            <a:ext cx="4846320" cy="5486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Look Back</a:t>
            </a:r>
          </a:p>
        </p:txBody>
      </p:sp>
      <p:cxnSp>
        <p:nvCxnSpPr>
          <p:cNvPr id="10" name="Connector 9"/>
          <p:cNvCxnSpPr/>
          <p:nvPr/>
        </p:nvCxnSpPr>
        <p:spPr>
          <a:xfrm>
            <a:off x="6080760" y="2905760"/>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0" y="3063240"/>
            <a:ext cx="4846320" cy="5486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Yesterday</a:t>
            </a:r>
          </a:p>
        </p:txBody>
      </p:sp>
      <p:cxnSp>
        <p:nvCxnSpPr>
          <p:cNvPr id="12" name="Connector 11"/>
          <p:cNvCxnSpPr/>
          <p:nvPr/>
        </p:nvCxnSpPr>
        <p:spPr>
          <a:xfrm>
            <a:off x="6080760" y="3637280"/>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0" y="3794760"/>
            <a:ext cx="4846320" cy="5486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Last Week</a:t>
            </a:r>
          </a:p>
        </p:txBody>
      </p:sp>
      <p:cxnSp>
        <p:nvCxnSpPr>
          <p:cNvPr id="14" name="Connector 13"/>
          <p:cNvCxnSpPr/>
          <p:nvPr/>
        </p:nvCxnSpPr>
        <p:spPr>
          <a:xfrm>
            <a:off x="6080760" y="4368800"/>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57600" y="4526280"/>
            <a:ext cx="4846320" cy="5486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Last Month</a:t>
            </a:r>
          </a:p>
        </p:txBody>
      </p:sp>
      <p:sp>
        <p:nvSpPr>
          <p:cNvPr id="16" name="TextBox 15"/>
          <p:cNvSpPr txBox="1"/>
          <p:nvPr/>
        </p:nvSpPr>
        <p:spPr>
          <a:xfrm>
            <a:off x="713232" y="5440680"/>
            <a:ext cx="10771632" cy="822960"/>
          </a:xfrm>
          <a:prstGeom prst="rect">
            <a:avLst/>
          </a:prstGeom>
          <a:noFill/>
        </p:spPr>
        <p:txBody>
          <a:bodyPr wrap="square" anchor="t" lIns="0" rIns="0" tIns="0" bIns="0">
            <a:spAutoFit/>
          </a:bodyPr>
          <a:lstStyle/>
          <a:p>
            <a:pPr algn="ctr">
              <a:lnSpc>
                <a:spcPct val="100000"/>
              </a:lnSpc>
            </a:pPr>
            <a:r>
              <a:rPr sz="1550" b="0" i="1">
                <a:solidFill>
                  <a:srgbClr val="4B5563"/>
                </a:solidFill>
                <a:latin typeface="Calibri"/>
              </a:rPr>
              <a:t>“A lag is a previous value of a variable.”</a:t>
            </a:r>
          </a:p>
          <a:p>
            <a:pPr algn="ctr">
              <a:lnSpc>
                <a:spcPct val="100000"/>
              </a:lnSpc>
            </a:pPr>
            <a:r>
              <a:rPr sz="1550" b="0" i="1">
                <a:solidFill>
                  <a:srgbClr val="4B5563"/>
                </a:solidFill>
                <a:latin typeface="Calibri"/>
              </a:rPr>
              <a:t>e.g. Sales Today, Sales Yesterday, Sales 7 Days Ago, Sales 30 Days Ago</a:t>
            </a:r>
          </a:p>
        </p:txBody>
      </p:sp>
      <p:sp>
        <p:nvSpPr>
          <p:cNvPr id="17" name="TextBox 1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8" name="TextBox 17"/>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6 · LAGS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Why Lags Matter</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“Yesterday's sales may contain useful information about today's sales.”</a:t>
            </a:r>
          </a:p>
          <a:p>
            <a:pPr>
              <a:lnSpc>
                <a:spcPct val="112000"/>
              </a:lnSpc>
              <a:spcAft>
                <a:spcPts val="1000"/>
              </a:spcAft>
            </a:pPr>
            <a:r>
              <a:rPr sz="1650" b="0" i="0">
                <a:solidFill>
                  <a:srgbClr val="4B5563"/>
                </a:solidFill>
                <a:latin typeface="Calibri"/>
              </a:rPr>
              <a:t>•  Today's withdrawal total may depend partly on yesterday's, last week's, and last month's totals.</a:t>
            </a:r>
          </a:p>
          <a:p>
            <a:pPr>
              <a:lnSpc>
                <a:spcPct val="112000"/>
              </a:lnSpc>
              <a:spcAft>
                <a:spcPts val="1000"/>
              </a:spcAft>
            </a:pPr>
            <a:r>
              <a:rPr sz="1650" b="0" i="0">
                <a:solidFill>
                  <a:srgbClr val="4B5563"/>
                </a:solidFill>
                <a:latin typeface="Calibri"/>
              </a:rPr>
              <a:t>•  This is called TIME DEPENDENCY — values close together in time tend to be related.</a:t>
            </a:r>
          </a:p>
          <a:p>
            <a:pPr>
              <a:lnSpc>
                <a:spcPct val="112000"/>
              </a:lnSpc>
              <a:spcAft>
                <a:spcPts val="1000"/>
              </a:spcAft>
            </a:pPr>
            <a:r>
              <a:rPr sz="1650" b="0" i="0">
                <a:solidFill>
                  <a:srgbClr val="4B5563"/>
                </a:solidFill>
                <a:latin typeface="Calibri"/>
              </a:rPr>
              <a:t>•  Lag features are how we hand that time dependency to a regular Machine Learning model.</a:t>
            </a:r>
          </a:p>
        </p:txBody>
      </p:sp>
      <p:pic>
        <p:nvPicPr>
          <p:cNvPr id="8" name="Picture 7" descr="11_lag_concept.png"/>
          <p:cNvPicPr>
            <a:picLocks noChangeAspect="1"/>
          </p:cNvPicPr>
          <p:nvPr/>
        </p:nvPicPr>
        <p:blipFill>
          <a:blip r:embed="rId2"/>
          <a:stretch>
            <a:fillRect/>
          </a:stretch>
        </p:blipFill>
        <p:spPr>
          <a:xfrm>
            <a:off x="6035040" y="1691640"/>
            <a:ext cx="5349240" cy="2408026"/>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7 · MOVING AVERAGES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a Moving Average?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“A moving average smooths short-term fluctuations so we can see the bigger pattern.”</a:t>
            </a:r>
          </a:p>
          <a:p>
            <a:pPr>
              <a:lnSpc>
                <a:spcPct val="112000"/>
              </a:lnSpc>
              <a:spcAft>
                <a:spcPts val="1000"/>
              </a:spcAft>
            </a:pPr>
            <a:r>
              <a:rPr sz="1650" b="0" i="0">
                <a:solidFill>
                  <a:srgbClr val="4B5563"/>
                </a:solidFill>
                <a:latin typeface="Calibri"/>
              </a:rPr>
              <a:t>•  A 7-day moving average replaces each day's value with the average of the last 7 days.</a:t>
            </a:r>
          </a:p>
          <a:p>
            <a:pPr>
              <a:lnSpc>
                <a:spcPct val="112000"/>
              </a:lnSpc>
              <a:spcAft>
                <a:spcPts val="1000"/>
              </a:spcAft>
            </a:pPr>
            <a:r>
              <a:rPr sz="1650" b="0" i="0">
                <a:solidFill>
                  <a:srgbClr val="4B5563"/>
                </a:solidFill>
                <a:latin typeface="Calibri"/>
              </a:rPr>
              <a:t>•  Original data: noisy, day-to-day.</a:t>
            </a:r>
          </a:p>
          <a:p>
            <a:pPr>
              <a:lnSpc>
                <a:spcPct val="112000"/>
              </a:lnSpc>
              <a:spcAft>
                <a:spcPts val="1000"/>
              </a:spcAft>
            </a:pPr>
            <a:r>
              <a:rPr sz="1650" b="0" i="0">
                <a:solidFill>
                  <a:srgbClr val="4B5563"/>
                </a:solidFill>
                <a:latin typeface="Calibri"/>
              </a:rPr>
              <a:t>•  Moving average: a smoother, clearer pattern.</a:t>
            </a:r>
          </a:p>
        </p:txBody>
      </p:sp>
      <p:pic>
        <p:nvPicPr>
          <p:cNvPr id="8" name="Picture 7" descr="07_moving_average.png"/>
          <p:cNvPicPr>
            <a:picLocks noChangeAspect="1"/>
          </p:cNvPicPr>
          <p:nvPr/>
        </p:nvPicPr>
        <p:blipFill>
          <a:blip r:embed="rId2"/>
          <a:stretch>
            <a:fillRect/>
          </a:stretch>
        </p:blipFill>
        <p:spPr>
          <a:xfrm>
            <a:off x="6035040" y="1691640"/>
            <a:ext cx="5349240" cy="2488333"/>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7 · MOVING AVERAGES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Why Use Moving Averages?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937760"/>
          </a:xfrm>
          <a:prstGeom prst="rect">
            <a:avLst/>
          </a:prstGeom>
          <a:noFill/>
        </p:spPr>
        <p:txBody>
          <a:bodyPr wrap="square" anchor="t" lIns="0" rIns="0" tIns="0" bIns="0">
            <a:spAutoFit/>
          </a:bodyPr>
          <a:lstStyle/>
          <a:p>
            <a:pPr>
              <a:lnSpc>
                <a:spcPct val="112000"/>
              </a:lnSpc>
              <a:spcAft>
                <a:spcPts val="1000"/>
              </a:spcAft>
            </a:pPr>
            <a:r>
              <a:rPr sz="1800" b="0" i="0">
                <a:solidFill>
                  <a:srgbClr val="4B5563"/>
                </a:solidFill>
                <a:latin typeface="Calibri"/>
              </a:rPr>
              <a:t>•  Reduce noise</a:t>
            </a:r>
          </a:p>
          <a:p>
            <a:pPr>
              <a:lnSpc>
                <a:spcPct val="112000"/>
              </a:lnSpc>
              <a:spcAft>
                <a:spcPts val="1000"/>
              </a:spcAft>
            </a:pPr>
            <a:r>
              <a:rPr sz="1800" b="0" i="0">
                <a:solidFill>
                  <a:srgbClr val="4B5563"/>
                </a:solidFill>
                <a:latin typeface="Calibri"/>
              </a:rPr>
              <a:t>•  Identify trends</a:t>
            </a:r>
          </a:p>
          <a:p>
            <a:pPr>
              <a:lnSpc>
                <a:spcPct val="112000"/>
              </a:lnSpc>
              <a:spcAft>
                <a:spcPts val="1000"/>
              </a:spcAft>
            </a:pPr>
            <a:r>
              <a:rPr sz="1800" b="0" i="0">
                <a:solidFill>
                  <a:srgbClr val="4B5563"/>
                </a:solidFill>
                <a:latin typeface="Calibri"/>
              </a:rPr>
              <a:t>•  Smooth fluctuations</a:t>
            </a:r>
          </a:p>
          <a:p>
            <a:pPr>
              <a:lnSpc>
                <a:spcPct val="112000"/>
              </a:lnSpc>
              <a:spcAft>
                <a:spcPts val="1000"/>
              </a:spcAft>
            </a:pPr>
            <a:r>
              <a:rPr sz="1800" b="0" i="0">
                <a:solidFill>
                  <a:srgbClr val="4B5563"/>
                </a:solidFill>
                <a:latin typeface="Calibri"/>
              </a:rPr>
              <a:t>•  Understand overall behaviour</a:t>
            </a:r>
          </a:p>
          <a:p>
            <a:pPr>
              <a:lnSpc>
                <a:spcPct val="112000"/>
              </a:lnSpc>
              <a:spcAft>
                <a:spcPts val="1000"/>
              </a:spcAft>
            </a:pPr>
            <a:r>
              <a:rPr sz="1200" b="1" i="0">
                <a:solidFill>
                  <a:srgbClr val="DC2626"/>
                </a:solidFill>
                <a:latin typeface="Calibri"/>
              </a:rPr>
              <a:t>•  A moving average is useful for UNDERSTANDING the data — it does not automatically solve every forecasting problem.</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8 · FORECASTING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Forecasting?</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82296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“Forecasting means using historical data to estimate future values.”</a:t>
            </a:r>
          </a:p>
        </p:txBody>
      </p:sp>
      <p:sp>
        <p:nvSpPr>
          <p:cNvPr id="8" name="Rounded Rectangle 7"/>
          <p:cNvSpPr/>
          <p:nvPr/>
        </p:nvSpPr>
        <p:spPr>
          <a:xfrm>
            <a:off x="713232" y="3017520"/>
            <a:ext cx="5225796" cy="118872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2024</a:t>
            </a:r>
          </a:p>
          <a:p>
            <a:pPr algn="ctr"/>
            <a:r>
              <a:rPr sz="1450" b="1" i="0">
                <a:solidFill>
                  <a:srgbClr val="FFFFFF"/>
                </a:solidFill>
                <a:latin typeface="Calibri"/>
              </a:rPr>
              <a:t>Historical Data</a:t>
            </a:r>
          </a:p>
        </p:txBody>
      </p:sp>
      <p:cxnSp>
        <p:nvCxnSpPr>
          <p:cNvPr id="9" name="Connector 8"/>
          <p:cNvCxnSpPr/>
          <p:nvPr/>
        </p:nvCxnSpPr>
        <p:spPr>
          <a:xfrm>
            <a:off x="5964428" y="361188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59068" y="3017520"/>
            <a:ext cx="5225796" cy="1188720"/>
          </a:xfrm>
          <a:prstGeom prst="roundRect">
            <a:avLst>
              <a:gd name="adj" fmla="val 16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2025</a:t>
            </a:r>
          </a:p>
          <a:p>
            <a:pPr algn="ctr"/>
            <a:r>
              <a:rPr sz="1450" b="1" i="0">
                <a:solidFill>
                  <a:srgbClr val="FFFFFF"/>
                </a:solidFill>
                <a:latin typeface="Calibri"/>
              </a:rPr>
              <a:t>? ? ?</a:t>
            </a:r>
          </a:p>
          <a:p>
            <a:pPr algn="ctr"/>
            <a:r>
              <a:rPr sz="1450" b="1" i="0">
                <a:solidFill>
                  <a:srgbClr val="FFFFFF"/>
                </a:solidFill>
                <a:latin typeface="Calibri"/>
              </a:rPr>
              <a:t>Forecast</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8 · FORECASTING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Simple Forecasting Baseline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10771632" cy="1005840"/>
          </a:xfrm>
          <a:prstGeom prst="roundRect">
            <a:avLst>
              <a:gd name="adj" fmla="val 12000"/>
            </a:avLst>
          </a:prstGeom>
          <a:solidFill>
            <a:srgbClr val="F7F9F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000" b="1" i="0">
                <a:solidFill>
                  <a:srgbClr val="1F2937"/>
                </a:solidFill>
                <a:latin typeface="Calibri"/>
              </a:rPr>
              <a:t>“Tomorrow will be similar to today.”</a:t>
            </a:r>
          </a:p>
        </p:txBody>
      </p:sp>
      <p:sp>
        <p:nvSpPr>
          <p:cNvPr id="8" name="Rounded Rectangle 7"/>
          <p:cNvSpPr/>
          <p:nvPr/>
        </p:nvSpPr>
        <p:spPr>
          <a:xfrm>
            <a:off x="713232" y="2926080"/>
            <a:ext cx="10771632" cy="1005840"/>
          </a:xfrm>
          <a:prstGeom prst="roundRect">
            <a:avLst>
              <a:gd name="adj" fmla="val 12000"/>
            </a:avLst>
          </a:prstGeom>
          <a:solidFill>
            <a:srgbClr val="F7F9F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000" b="1" i="0">
                <a:solidFill>
                  <a:srgbClr val="1F2937"/>
                </a:solidFill>
                <a:latin typeface="Calibri"/>
              </a:rPr>
              <a:t>“Next week's value will be similar to last week's value.”</a:t>
            </a:r>
          </a:p>
        </p:txBody>
      </p:sp>
      <p:sp>
        <p:nvSpPr>
          <p:cNvPr id="9" name="TextBox 8"/>
          <p:cNvSpPr txBox="1"/>
          <p:nvPr/>
        </p:nvSpPr>
        <p:spPr>
          <a:xfrm>
            <a:off x="713232" y="4297680"/>
            <a:ext cx="10771632" cy="1188720"/>
          </a:xfrm>
          <a:prstGeom prst="rect">
            <a:avLst/>
          </a:prstGeom>
          <a:noFill/>
        </p:spPr>
        <p:txBody>
          <a:bodyPr wrap="square" anchor="t" lIns="0" rIns="0" tIns="0" bIns="0">
            <a:spAutoFit/>
          </a:bodyPr>
          <a:lstStyle/>
          <a:p>
            <a:pPr algn="l">
              <a:lnSpc>
                <a:spcPct val="100000"/>
              </a:lnSpc>
            </a:pPr>
            <a:r>
              <a:rPr sz="1700" b="0" i="0">
                <a:solidFill>
                  <a:srgbClr val="4B5563"/>
                </a:solidFill>
                <a:latin typeface="Calibri"/>
              </a:rPr>
              <a:t>This is called a NAIVE forecast — deliberately simple. A more advanced Machine Learning model must be COMPARED against something this simple to prove it's actually adding value.</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8 · FORECASTING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Forecasting Workflow</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35527" y="1417320"/>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Collect Data</a:t>
            </a:r>
          </a:p>
        </p:txBody>
      </p:sp>
      <p:cxnSp>
        <p:nvCxnSpPr>
          <p:cNvPr id="8" name="Connector 7"/>
          <p:cNvCxnSpPr/>
          <p:nvPr/>
        </p:nvCxnSpPr>
        <p:spPr>
          <a:xfrm>
            <a:off x="6095847" y="1845056"/>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35527" y="1901952"/>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Clean Data</a:t>
            </a:r>
          </a:p>
        </p:txBody>
      </p:sp>
      <p:cxnSp>
        <p:nvCxnSpPr>
          <p:cNvPr id="10" name="Connector 9"/>
          <p:cNvCxnSpPr/>
          <p:nvPr/>
        </p:nvCxnSpPr>
        <p:spPr>
          <a:xfrm>
            <a:off x="6095847" y="2329688"/>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35527" y="2386584"/>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Visualize</a:t>
            </a:r>
          </a:p>
        </p:txBody>
      </p:sp>
      <p:cxnSp>
        <p:nvCxnSpPr>
          <p:cNvPr id="12" name="Connector 11"/>
          <p:cNvCxnSpPr/>
          <p:nvPr/>
        </p:nvCxnSpPr>
        <p:spPr>
          <a:xfrm>
            <a:off x="6095847" y="2814320"/>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35527" y="2871216"/>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Understand Patterns</a:t>
            </a:r>
          </a:p>
        </p:txBody>
      </p:sp>
      <p:cxnSp>
        <p:nvCxnSpPr>
          <p:cNvPr id="14" name="Connector 13"/>
          <p:cNvCxnSpPr/>
          <p:nvPr/>
        </p:nvCxnSpPr>
        <p:spPr>
          <a:xfrm>
            <a:off x="6095847" y="3298952"/>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35527" y="3355848"/>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Create Features</a:t>
            </a:r>
          </a:p>
        </p:txBody>
      </p:sp>
      <p:cxnSp>
        <p:nvCxnSpPr>
          <p:cNvPr id="16" name="Connector 15"/>
          <p:cNvCxnSpPr/>
          <p:nvPr/>
        </p:nvCxnSpPr>
        <p:spPr>
          <a:xfrm>
            <a:off x="6095847" y="3783584"/>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35527" y="3840480"/>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Train Model</a:t>
            </a:r>
          </a:p>
        </p:txBody>
      </p:sp>
      <p:cxnSp>
        <p:nvCxnSpPr>
          <p:cNvPr id="18" name="Connector 17"/>
          <p:cNvCxnSpPr/>
          <p:nvPr/>
        </p:nvCxnSpPr>
        <p:spPr>
          <a:xfrm>
            <a:off x="6095847" y="4268216"/>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535527" y="4325112"/>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Forecast</a:t>
            </a:r>
          </a:p>
        </p:txBody>
      </p:sp>
      <p:cxnSp>
        <p:nvCxnSpPr>
          <p:cNvPr id="20" name="Connector 19"/>
          <p:cNvCxnSpPr/>
          <p:nvPr/>
        </p:nvCxnSpPr>
        <p:spPr>
          <a:xfrm>
            <a:off x="6095847" y="4752848"/>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535527" y="4809744"/>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Evaluate</a:t>
            </a:r>
          </a:p>
        </p:txBody>
      </p:sp>
      <p:cxnSp>
        <p:nvCxnSpPr>
          <p:cNvPr id="22" name="Connector 21"/>
          <p:cNvCxnSpPr/>
          <p:nvPr/>
        </p:nvCxnSpPr>
        <p:spPr>
          <a:xfrm>
            <a:off x="6095847" y="5237480"/>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35527" y="5294376"/>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Business Decision</a:t>
            </a:r>
          </a:p>
        </p:txBody>
      </p:sp>
      <p:sp>
        <p:nvSpPr>
          <p:cNvPr id="24" name="TextBox 2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25" name="TextBox 2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9 · TRAIN / TEST SPLIT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Time Series Data Cannot Be Shuffled</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5074920" cy="365760"/>
          </a:xfrm>
          <a:prstGeom prst="rect">
            <a:avLst/>
          </a:prstGeom>
          <a:noFill/>
        </p:spPr>
        <p:txBody>
          <a:bodyPr wrap="square" anchor="t" lIns="0" rIns="0" tIns="0" bIns="0">
            <a:spAutoFit/>
          </a:bodyPr>
          <a:lstStyle/>
          <a:p>
            <a:pPr algn="l">
              <a:lnSpc>
                <a:spcPct val="100000"/>
              </a:lnSpc>
            </a:pPr>
            <a:r>
              <a:rPr sz="1400" b="1" i="0">
                <a:solidFill>
                  <a:srgbClr val="DC2626"/>
                </a:solidFill>
                <a:latin typeface="Calibri"/>
              </a:rPr>
              <a:t>INCORRECT</a:t>
            </a:r>
          </a:p>
        </p:txBody>
      </p:sp>
      <p:sp>
        <p:nvSpPr>
          <p:cNvPr id="8" name="Rounded Rectangle 7"/>
          <p:cNvSpPr/>
          <p:nvPr/>
        </p:nvSpPr>
        <p:spPr>
          <a:xfrm>
            <a:off x="713232" y="2103120"/>
            <a:ext cx="5074920" cy="2103120"/>
          </a:xfrm>
          <a:prstGeom prst="roundRect">
            <a:avLst>
              <a:gd name="adj" fmla="val 12000"/>
            </a:avLst>
          </a:prstGeom>
          <a:solidFill>
            <a:srgbClr val="FE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000" b="1" i="0">
                <a:solidFill>
                  <a:srgbClr val="DC2626"/>
                </a:solidFill>
                <a:latin typeface="Calibri"/>
              </a:rPr>
              <a:t>2024</a:t>
            </a:r>
          </a:p>
          <a:p>
            <a:pPr algn="ctr"/>
            <a:r>
              <a:rPr sz="2000" b="1" i="0">
                <a:solidFill>
                  <a:srgbClr val="DC2626"/>
                </a:solidFill>
                <a:latin typeface="Calibri"/>
              </a:rPr>
              <a:t>2022</a:t>
            </a:r>
          </a:p>
          <a:p>
            <a:pPr algn="ctr"/>
            <a:r>
              <a:rPr sz="2000" b="1" i="0">
                <a:solidFill>
                  <a:srgbClr val="DC2626"/>
                </a:solidFill>
                <a:latin typeface="Calibri"/>
              </a:rPr>
              <a:t>2025</a:t>
            </a:r>
          </a:p>
          <a:p>
            <a:pPr algn="ctr"/>
            <a:r>
              <a:rPr sz="2000" b="1" i="0">
                <a:solidFill>
                  <a:srgbClr val="DC2626"/>
                </a:solidFill>
                <a:latin typeface="Calibri"/>
              </a:rPr>
              <a:t>2023</a:t>
            </a:r>
          </a:p>
        </p:txBody>
      </p:sp>
      <p:sp>
        <p:nvSpPr>
          <p:cNvPr id="9" name="TextBox 8"/>
          <p:cNvSpPr txBox="1"/>
          <p:nvPr/>
        </p:nvSpPr>
        <p:spPr>
          <a:xfrm>
            <a:off x="6035040" y="1737360"/>
            <a:ext cx="5486400" cy="365760"/>
          </a:xfrm>
          <a:prstGeom prst="rect">
            <a:avLst/>
          </a:prstGeom>
          <a:noFill/>
        </p:spPr>
        <p:txBody>
          <a:bodyPr wrap="square" anchor="t" lIns="0" rIns="0" tIns="0" bIns="0">
            <a:spAutoFit/>
          </a:bodyPr>
          <a:lstStyle/>
          <a:p>
            <a:pPr algn="l">
              <a:lnSpc>
                <a:spcPct val="100000"/>
              </a:lnSpc>
            </a:pPr>
            <a:r>
              <a:rPr sz="1400" b="1" i="0">
                <a:solidFill>
                  <a:srgbClr val="0D9488"/>
                </a:solidFill>
                <a:latin typeface="Calibri"/>
              </a:rPr>
              <a:t>CORRECT</a:t>
            </a:r>
          </a:p>
        </p:txBody>
      </p:sp>
      <p:sp>
        <p:nvSpPr>
          <p:cNvPr id="10" name="Rounded Rectangle 9"/>
          <p:cNvSpPr/>
          <p:nvPr/>
        </p:nvSpPr>
        <p:spPr>
          <a:xfrm>
            <a:off x="6035040" y="2103120"/>
            <a:ext cx="5486400" cy="45720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Past Data</a:t>
            </a:r>
          </a:p>
        </p:txBody>
      </p:sp>
      <p:cxnSp>
        <p:nvCxnSpPr>
          <p:cNvPr id="11" name="Connector 10"/>
          <p:cNvCxnSpPr/>
          <p:nvPr/>
        </p:nvCxnSpPr>
        <p:spPr>
          <a:xfrm>
            <a:off x="8778240" y="2585720"/>
            <a:ext cx="0" cy="113792"/>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35040" y="2724912"/>
            <a:ext cx="5486400" cy="45720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Training Data</a:t>
            </a:r>
          </a:p>
        </p:txBody>
      </p:sp>
      <p:cxnSp>
        <p:nvCxnSpPr>
          <p:cNvPr id="13" name="Connector 12"/>
          <p:cNvCxnSpPr/>
          <p:nvPr/>
        </p:nvCxnSpPr>
        <p:spPr>
          <a:xfrm>
            <a:off x="8778240" y="3207512"/>
            <a:ext cx="0" cy="113792"/>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35040" y="3346704"/>
            <a:ext cx="5486400" cy="45720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Test Data</a:t>
            </a:r>
          </a:p>
        </p:txBody>
      </p:sp>
      <p:cxnSp>
        <p:nvCxnSpPr>
          <p:cNvPr id="15" name="Connector 14"/>
          <p:cNvCxnSpPr/>
          <p:nvPr/>
        </p:nvCxnSpPr>
        <p:spPr>
          <a:xfrm>
            <a:off x="8778240" y="3829304"/>
            <a:ext cx="0" cy="113792"/>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35040" y="3968496"/>
            <a:ext cx="5486400" cy="45720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Future</a:t>
            </a:r>
          </a:p>
        </p:txBody>
      </p:sp>
      <p:sp>
        <p:nvSpPr>
          <p:cNvPr id="17" name="TextBox 1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8" name="TextBox 17"/>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9 · TRAIN / TEST SPLIT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Time-Based Splitting</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We train using the past and test on the future — never the other way around.</a:t>
            </a:r>
          </a:p>
        </p:txBody>
      </p:sp>
      <p:pic>
        <p:nvPicPr>
          <p:cNvPr id="8" name="Picture 7" descr="08_train_test_split.png"/>
          <p:cNvPicPr>
            <a:picLocks noChangeAspect="1"/>
          </p:cNvPicPr>
          <p:nvPr/>
        </p:nvPicPr>
        <p:blipFill>
          <a:blip r:embed="rId2"/>
          <a:stretch>
            <a:fillRect/>
          </a:stretch>
        </p:blipFill>
        <p:spPr>
          <a:xfrm>
            <a:off x="1249527" y="2148840"/>
            <a:ext cx="9692640" cy="3775929"/>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10 · EVALUATION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How Do We Know Our Forecast Is Good?</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691640"/>
            <a:ext cx="3429000" cy="228600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FFFFFF"/>
                </a:solidFill>
                <a:latin typeface="Calibri"/>
              </a:rPr>
              <a:t>MAE</a:t>
            </a:r>
          </a:p>
          <a:p>
            <a:pPr algn="ctr"/>
            <a:r>
              <a:rPr sz="1600" b="1" i="0">
                <a:solidFill>
                  <a:srgbClr val="FFFFFF"/>
                </a:solidFill>
                <a:latin typeface="Calibri"/>
              </a:rPr>
              <a:t/>
            </a:r>
          </a:p>
          <a:p>
            <a:pPr algn="ctr"/>
            <a:r>
              <a:rPr sz="1600" b="1" i="0">
                <a:solidFill>
                  <a:srgbClr val="FFFFFF"/>
                </a:solidFill>
                <a:latin typeface="Calibri"/>
              </a:rPr>
              <a:t>“On average, how far</a:t>
            </a:r>
          </a:p>
          <a:p>
            <a:pPr algn="ctr"/>
            <a:r>
              <a:rPr sz="1600" b="1" i="0">
                <a:solidFill>
                  <a:srgbClr val="FFFFFF"/>
                </a:solidFill>
                <a:latin typeface="Calibri"/>
              </a:rPr>
              <a:t>away were our</a:t>
            </a:r>
          </a:p>
          <a:p>
            <a:pPr algn="ctr"/>
            <a:r>
              <a:rPr sz="1600" b="1" i="0">
                <a:solidFill>
                  <a:srgbClr val="FFFFFF"/>
                </a:solidFill>
                <a:latin typeface="Calibri"/>
              </a:rPr>
              <a:t>predictions?”</a:t>
            </a:r>
          </a:p>
        </p:txBody>
      </p:sp>
      <p:sp>
        <p:nvSpPr>
          <p:cNvPr id="8" name="Rounded Rectangle 7"/>
          <p:cNvSpPr/>
          <p:nvPr/>
        </p:nvSpPr>
        <p:spPr>
          <a:xfrm>
            <a:off x="4370832" y="1691640"/>
            <a:ext cx="3429000" cy="2286000"/>
          </a:xfrm>
          <a:prstGeom prst="roundRect">
            <a:avLst>
              <a:gd name="adj" fmla="val 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FFFFFF"/>
                </a:solidFill>
                <a:latin typeface="Calibri"/>
              </a:rPr>
              <a:t>RMSE</a:t>
            </a:r>
          </a:p>
          <a:p>
            <a:pPr algn="ctr"/>
            <a:r>
              <a:rPr sz="1600" b="1" i="0">
                <a:solidFill>
                  <a:srgbClr val="FFFFFF"/>
                </a:solidFill>
                <a:latin typeface="Calibri"/>
              </a:rPr>
              <a:t/>
            </a:r>
          </a:p>
          <a:p>
            <a:pPr algn="ctr"/>
            <a:r>
              <a:rPr sz="1600" b="1" i="0">
                <a:solidFill>
                  <a:srgbClr val="FFFFFF"/>
                </a:solidFill>
                <a:latin typeface="Calibri"/>
              </a:rPr>
              <a:t>“Gives more attention</a:t>
            </a:r>
          </a:p>
          <a:p>
            <a:pPr algn="ctr"/>
            <a:r>
              <a:rPr sz="1600" b="1" i="0">
                <a:solidFill>
                  <a:srgbClr val="FFFFFF"/>
                </a:solidFill>
                <a:latin typeface="Calibri"/>
              </a:rPr>
              <a:t>to large errors.”</a:t>
            </a:r>
          </a:p>
        </p:txBody>
      </p:sp>
      <p:sp>
        <p:nvSpPr>
          <p:cNvPr id="9" name="Rounded Rectangle 8"/>
          <p:cNvSpPr/>
          <p:nvPr/>
        </p:nvSpPr>
        <p:spPr>
          <a:xfrm>
            <a:off x="7818120" y="1691640"/>
            <a:ext cx="3657600" cy="228600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FFFFFF"/>
                </a:solidFill>
                <a:latin typeface="Calibri"/>
              </a:rPr>
              <a:t>MAPE</a:t>
            </a:r>
          </a:p>
          <a:p>
            <a:pPr algn="ctr"/>
            <a:r>
              <a:rPr sz="1600" b="1" i="0">
                <a:solidFill>
                  <a:srgbClr val="FFFFFF"/>
                </a:solidFill>
                <a:latin typeface="Calibri"/>
              </a:rPr>
              <a:t/>
            </a:r>
          </a:p>
          <a:p>
            <a:pPr algn="ctr"/>
            <a:r>
              <a:rPr sz="1600" b="1" i="0">
                <a:solidFill>
                  <a:srgbClr val="FFFFFF"/>
                </a:solidFill>
                <a:latin typeface="Calibri"/>
              </a:rPr>
              <a:t>“The average error as</a:t>
            </a:r>
          </a:p>
          <a:p>
            <a:pPr algn="ctr"/>
            <a:r>
              <a:rPr sz="1600" b="1" i="0">
                <a:solidFill>
                  <a:srgbClr val="FFFFFF"/>
                </a:solidFill>
                <a:latin typeface="Calibri"/>
              </a:rPr>
              <a:t>a percentage of the</a:t>
            </a:r>
          </a:p>
          <a:p>
            <a:pPr algn="ctr"/>
            <a:r>
              <a:rPr sz="1600" b="1" i="0">
                <a:solidFill>
                  <a:srgbClr val="FFFFFF"/>
                </a:solidFill>
                <a:latin typeface="Calibri"/>
              </a:rPr>
              <a:t>actual value.”</a:t>
            </a:r>
          </a:p>
        </p:txBody>
      </p:sp>
      <p:sp>
        <p:nvSpPr>
          <p:cNvPr id="10" name="TextBox 9"/>
          <p:cNvSpPr txBox="1"/>
          <p:nvPr/>
        </p:nvSpPr>
        <p:spPr>
          <a:xfrm>
            <a:off x="713232" y="4297680"/>
            <a:ext cx="10771632" cy="548640"/>
          </a:xfrm>
          <a:prstGeom prst="rect">
            <a:avLst/>
          </a:prstGeom>
          <a:noFill/>
        </p:spPr>
        <p:txBody>
          <a:bodyPr wrap="square" anchor="t" lIns="0" rIns="0" tIns="0" bIns="0">
            <a:spAutoFit/>
          </a:bodyPr>
          <a:lstStyle/>
          <a:p>
            <a:pPr algn="l">
              <a:lnSpc>
                <a:spcPct val="100000"/>
              </a:lnSpc>
            </a:pPr>
            <a:r>
              <a:rPr sz="1550" b="0" i="1">
                <a:solidFill>
                  <a:srgbClr val="6B7280"/>
                </a:solidFill>
                <a:latin typeface="Calibri"/>
              </a:rPr>
              <a:t>We won't dwell on the formulas — the intuition matters far more.</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10 · EVALUATION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Actual vs. Forecast</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9_actual_vs_forecast.png"/>
          <p:cNvPicPr>
            <a:picLocks noChangeAspect="1"/>
          </p:cNvPicPr>
          <p:nvPr/>
        </p:nvPicPr>
        <p:blipFill>
          <a:blip r:embed="rId2"/>
          <a:stretch>
            <a:fillRect/>
          </a:stretch>
        </p:blipFill>
        <p:spPr>
          <a:xfrm>
            <a:off x="713232" y="1600200"/>
            <a:ext cx="6858000" cy="3310559"/>
          </a:xfrm>
          <a:prstGeom prst="rect">
            <a:avLst/>
          </a:prstGeom>
          <a:ln w="12700">
            <a:solidFill>
              <a:srgbClr val="E5E7EB"/>
            </a:solidFill>
          </a:ln>
        </p:spPr>
      </p:pic>
      <p:sp>
        <p:nvSpPr>
          <p:cNvPr id="8" name="TextBox 7"/>
          <p:cNvSpPr txBox="1"/>
          <p:nvPr/>
        </p:nvSpPr>
        <p:spPr>
          <a:xfrm>
            <a:off x="7863840" y="1783080"/>
            <a:ext cx="3566160" cy="3200400"/>
          </a:xfrm>
          <a:prstGeom prst="rect">
            <a:avLst/>
          </a:prstGeom>
          <a:noFill/>
        </p:spPr>
        <p:txBody>
          <a:bodyPr wrap="square" anchor="t" lIns="0" rIns="0" tIns="0" bIns="0">
            <a:spAutoFit/>
          </a:bodyPr>
          <a:lstStyle/>
          <a:p>
            <a:pPr>
              <a:lnSpc>
                <a:spcPct val="112000"/>
              </a:lnSpc>
              <a:spcAft>
                <a:spcPts val="1000"/>
              </a:spcAft>
            </a:pPr>
            <a:r>
              <a:rPr sz="1350" b="0" i="0">
                <a:solidFill>
                  <a:srgbClr val="4B5563"/>
                </a:solidFill>
                <a:latin typeface="Calibri"/>
              </a:rPr>
              <a:t>•  Naive baseline MAE: ₦8.2M</a:t>
            </a:r>
          </a:p>
          <a:p>
            <a:pPr>
              <a:lnSpc>
                <a:spcPct val="112000"/>
              </a:lnSpc>
              <a:spcAft>
                <a:spcPts val="1000"/>
              </a:spcAft>
            </a:pPr>
            <a:r>
              <a:rPr sz="1350" b="0" i="0">
                <a:solidFill>
                  <a:srgbClr val="4B5563"/>
                </a:solidFill>
                <a:latin typeface="Calibri"/>
              </a:rPr>
              <a:t>•  Our model MAE: ₦4.7M</a:t>
            </a:r>
          </a:p>
          <a:p>
            <a:pPr>
              <a:lnSpc>
                <a:spcPct val="112000"/>
              </a:lnSpc>
              <a:spcAft>
                <a:spcPts val="1000"/>
              </a:spcAft>
            </a:pPr>
            <a:r>
              <a:rPr sz="1350" b="0" i="0">
                <a:solidFill>
                  <a:srgbClr val="4B5563"/>
                </a:solidFill>
                <a:latin typeface="Calibri"/>
              </a:rPr>
              <a:t>•  The model tracks the weekly rhythm well but still misses some sharp spikes.</a:t>
            </a:r>
          </a:p>
          <a:p>
            <a:pPr>
              <a:lnSpc>
                <a:spcPct val="112000"/>
              </a:lnSpc>
              <a:spcAft>
                <a:spcPts val="1000"/>
              </a:spcAft>
            </a:pPr>
            <a:r>
              <a:rPr sz="1350" b="0" i="0">
                <a:solidFill>
                  <a:srgbClr val="4B5563"/>
                </a:solidFill>
                <a:latin typeface="Calibri"/>
              </a:rPr>
              <a:t>•  The goal is not a perfect forecast — it's a USEFUL forecast with acceptable error for the business problem.</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11 · SIMPLE MODELS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Where Do We Start?</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61207" y="1417320"/>
            <a:ext cx="5669280" cy="566928"/>
          </a:xfrm>
          <a:prstGeom prst="roundRect">
            <a:avLst>
              <a:gd name="adj" fmla="val 18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1. Naive Forecast</a:t>
            </a:r>
          </a:p>
        </p:txBody>
      </p:sp>
      <p:cxnSp>
        <p:nvCxnSpPr>
          <p:cNvPr id="8" name="Connector 7"/>
          <p:cNvCxnSpPr/>
          <p:nvPr/>
        </p:nvCxnSpPr>
        <p:spPr>
          <a:xfrm>
            <a:off x="6095847" y="2009648"/>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61207" y="2221992"/>
            <a:ext cx="5669280" cy="566928"/>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2. Moving Average</a:t>
            </a:r>
          </a:p>
        </p:txBody>
      </p:sp>
      <p:cxnSp>
        <p:nvCxnSpPr>
          <p:cNvPr id="10" name="Connector 9"/>
          <p:cNvCxnSpPr/>
          <p:nvPr/>
        </p:nvCxnSpPr>
        <p:spPr>
          <a:xfrm>
            <a:off x="6095847" y="2814320"/>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61207" y="3026664"/>
            <a:ext cx="5669280" cy="56692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3. Lag Features</a:t>
            </a:r>
          </a:p>
        </p:txBody>
      </p:sp>
      <p:cxnSp>
        <p:nvCxnSpPr>
          <p:cNvPr id="12" name="Connector 11"/>
          <p:cNvCxnSpPr/>
          <p:nvPr/>
        </p:nvCxnSpPr>
        <p:spPr>
          <a:xfrm>
            <a:off x="6095847" y="3618992"/>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61207" y="3831336"/>
            <a:ext cx="5669280" cy="566928"/>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4. Simple Forecasting Model</a:t>
            </a:r>
          </a:p>
        </p:txBody>
      </p:sp>
      <p:cxnSp>
        <p:nvCxnSpPr>
          <p:cNvPr id="14" name="Connector 13"/>
          <p:cNvCxnSpPr/>
          <p:nvPr/>
        </p:nvCxnSpPr>
        <p:spPr>
          <a:xfrm>
            <a:off x="6095847" y="4423664"/>
            <a:ext cx="0" cy="186944"/>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61207" y="4636008"/>
            <a:ext cx="5669280" cy="566928"/>
          </a:xfrm>
          <a:prstGeom prst="roundRect">
            <a:avLst>
              <a:gd name="adj" fmla="val 18000"/>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5. Advanced Models (later courses)</a:t>
            </a:r>
          </a:p>
        </p:txBody>
      </p:sp>
      <p:sp>
        <p:nvSpPr>
          <p:cNvPr id="16" name="TextBox 15"/>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7" name="TextBox 16"/>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11 · SIMPLE MODELS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Simple Model Approach</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548640"/>
          </a:xfrm>
          <a:prstGeom prst="rect">
            <a:avLst/>
          </a:prstGeom>
          <a:noFill/>
        </p:spPr>
        <p:txBody>
          <a:bodyPr wrap="square" anchor="t" lIns="0" rIns="0" tIns="0" bIns="0">
            <a:spAutoFit/>
          </a:bodyPr>
          <a:lstStyle/>
          <a:p>
            <a:pPr algn="l">
              <a:lnSpc>
                <a:spcPct val="100000"/>
              </a:lnSpc>
            </a:pPr>
            <a:r>
              <a:rPr sz="1750" b="1" i="0">
                <a:solidFill>
                  <a:srgbClr val="1F2937"/>
                </a:solidFill>
                <a:latin typeface="Calibri"/>
              </a:rPr>
              <a:t>We can use previous values (and simple calendar facts) to predict future values.</a:t>
            </a:r>
          </a:p>
        </p:txBody>
      </p:sp>
      <p:sp>
        <p:nvSpPr>
          <p:cNvPr id="8" name="Rounded Rectangle 7"/>
          <p:cNvSpPr/>
          <p:nvPr/>
        </p:nvSpPr>
        <p:spPr>
          <a:xfrm>
            <a:off x="3474720" y="2560320"/>
            <a:ext cx="5212080" cy="7772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Yesterday's Sales, Last Week's Sales,</a:t>
            </a:r>
          </a:p>
          <a:p>
            <a:pPr algn="ctr"/>
            <a:r>
              <a:rPr sz="1500" b="1" i="0">
                <a:solidFill>
                  <a:srgbClr val="FFFFFF"/>
                </a:solidFill>
                <a:latin typeface="Calibri"/>
              </a:rPr>
              <a:t>Day of Week, Month</a:t>
            </a:r>
          </a:p>
        </p:txBody>
      </p:sp>
      <p:cxnSp>
        <p:nvCxnSpPr>
          <p:cNvPr id="9" name="Connector 8"/>
          <p:cNvCxnSpPr/>
          <p:nvPr/>
        </p:nvCxnSpPr>
        <p:spPr>
          <a:xfrm>
            <a:off x="6080760" y="3362960"/>
            <a:ext cx="0" cy="22352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74720" y="3611880"/>
            <a:ext cx="5212080" cy="7772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Prediction</a:t>
            </a:r>
          </a:p>
        </p:txBody>
      </p:sp>
      <p:cxnSp>
        <p:nvCxnSpPr>
          <p:cNvPr id="11" name="Connector 10"/>
          <p:cNvCxnSpPr/>
          <p:nvPr/>
        </p:nvCxnSpPr>
        <p:spPr>
          <a:xfrm>
            <a:off x="6080760" y="4414520"/>
            <a:ext cx="0" cy="22352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74720" y="4663440"/>
            <a:ext cx="5212080" cy="77724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Tomorrow's Sales</a:t>
            </a:r>
          </a:p>
        </p:txBody>
      </p:sp>
      <p:sp>
        <p:nvSpPr>
          <p:cNvPr id="13" name="TextBox 12"/>
          <p:cNvSpPr txBox="1"/>
          <p:nvPr/>
        </p:nvSpPr>
        <p:spPr>
          <a:xfrm>
            <a:off x="713232" y="5760720"/>
            <a:ext cx="10771632" cy="548640"/>
          </a:xfrm>
          <a:prstGeom prst="rect">
            <a:avLst/>
          </a:prstGeom>
          <a:noFill/>
        </p:spPr>
        <p:txBody>
          <a:bodyPr wrap="square" anchor="t" lIns="0" rIns="0" tIns="0" bIns="0">
            <a:spAutoFit/>
          </a:bodyPr>
          <a:lstStyle/>
          <a:p>
            <a:pPr algn="l">
              <a:lnSpc>
                <a:spcPct val="100000"/>
              </a:lnSpc>
            </a:pPr>
            <a:r>
              <a:rPr sz="1500" b="0" i="1">
                <a:solidFill>
                  <a:srgbClr val="4B5563"/>
                </a:solidFill>
                <a:latin typeface="Calibri"/>
              </a:rPr>
              <a:t>This connects Time Series Forecasting directly to familiar Machine Learning: it's really just regression with the right features.</a:t>
            </a:r>
          </a:p>
        </p:txBody>
      </p:sp>
      <p:sp>
        <p:nvSpPr>
          <p:cNvPr id="14" name="TextBox 1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5" name="TextBox 1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12 · BUSINESS INTERPRETATION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Forecasting Is Not Just About the Model</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0" y="1691640"/>
            <a:ext cx="4846320" cy="59436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Forecast</a:t>
            </a:r>
          </a:p>
        </p:txBody>
      </p:sp>
      <p:cxnSp>
        <p:nvCxnSpPr>
          <p:cNvPr id="8" name="Connector 7"/>
          <p:cNvCxnSpPr/>
          <p:nvPr/>
        </p:nvCxnSpPr>
        <p:spPr>
          <a:xfrm>
            <a:off x="6080760" y="2311400"/>
            <a:ext cx="0" cy="205232"/>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0" y="2542032"/>
            <a:ext cx="4846320" cy="59436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Business Interpretation</a:t>
            </a:r>
          </a:p>
        </p:txBody>
      </p:sp>
      <p:cxnSp>
        <p:nvCxnSpPr>
          <p:cNvPr id="10" name="Connector 9"/>
          <p:cNvCxnSpPr/>
          <p:nvPr/>
        </p:nvCxnSpPr>
        <p:spPr>
          <a:xfrm>
            <a:off x="6080760" y="3161792"/>
            <a:ext cx="0" cy="205232"/>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0" y="3392424"/>
            <a:ext cx="4846320" cy="594360"/>
          </a:xfrm>
          <a:prstGeom prst="roundRect">
            <a:avLst>
              <a:gd name="adj" fmla="val 1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Action</a:t>
            </a:r>
          </a:p>
        </p:txBody>
      </p:sp>
      <p:sp>
        <p:nvSpPr>
          <p:cNvPr id="12" name="TextBox 11"/>
          <p:cNvSpPr txBox="1"/>
          <p:nvPr/>
        </p:nvSpPr>
        <p:spPr>
          <a:xfrm>
            <a:off x="713232" y="4251960"/>
            <a:ext cx="10771632" cy="457200"/>
          </a:xfrm>
          <a:prstGeom prst="rect">
            <a:avLst/>
          </a:prstGeom>
          <a:noFill/>
        </p:spPr>
        <p:txBody>
          <a:bodyPr wrap="square" anchor="t" lIns="0" rIns="0" tIns="0" bIns="0">
            <a:spAutoFit/>
          </a:bodyPr>
          <a:lstStyle/>
          <a:p>
            <a:pPr algn="l">
              <a:lnSpc>
                <a:spcPct val="100000"/>
              </a:lnSpc>
            </a:pPr>
            <a:r>
              <a:rPr sz="1600" b="1" i="0">
                <a:solidFill>
                  <a:srgbClr val="6B7280"/>
                </a:solidFill>
                <a:latin typeface="Calibri"/>
              </a:rPr>
              <a:t>Example: predicted ATM withdrawals increase.</a:t>
            </a:r>
          </a:p>
        </p:txBody>
      </p:sp>
      <p:sp>
        <p:nvSpPr>
          <p:cNvPr id="13" name="TextBox 12"/>
          <p:cNvSpPr txBox="1"/>
          <p:nvPr/>
        </p:nvSpPr>
        <p:spPr>
          <a:xfrm>
            <a:off x="713232" y="4709160"/>
            <a:ext cx="10771632" cy="1463040"/>
          </a:xfrm>
          <a:prstGeom prst="rect">
            <a:avLst/>
          </a:prstGeom>
          <a:noFill/>
        </p:spPr>
        <p:txBody>
          <a:bodyPr wrap="square" anchor="t" lIns="0" rIns="0" tIns="0" bIns="0">
            <a:spAutoFit/>
          </a:bodyPr>
          <a:lstStyle/>
          <a:p>
            <a:pPr>
              <a:lnSpc>
                <a:spcPct val="112000"/>
              </a:lnSpc>
              <a:spcAft>
                <a:spcPts val="1000"/>
              </a:spcAft>
            </a:pPr>
            <a:r>
              <a:rPr sz="1600" b="0" i="0">
                <a:solidFill>
                  <a:srgbClr val="4B5563"/>
                </a:solidFill>
                <a:latin typeface="Calibri"/>
              </a:rPr>
              <a:t>•  Supply more cash to affected branches/ATMs</a:t>
            </a:r>
          </a:p>
          <a:p>
            <a:pPr>
              <a:lnSpc>
                <a:spcPct val="112000"/>
              </a:lnSpc>
              <a:spcAft>
                <a:spcPts val="1000"/>
              </a:spcAft>
            </a:pPr>
            <a:r>
              <a:rPr sz="1600" b="0" i="0">
                <a:solidFill>
                  <a:srgbClr val="4B5563"/>
                </a:solidFill>
                <a:latin typeface="Calibri"/>
              </a:rPr>
              <a:t>•  Improve ATM cash-loading planning</a:t>
            </a:r>
          </a:p>
          <a:p>
            <a:pPr>
              <a:lnSpc>
                <a:spcPct val="112000"/>
              </a:lnSpc>
              <a:spcAft>
                <a:spcPts val="1000"/>
              </a:spcAft>
            </a:pPr>
            <a:r>
              <a:rPr sz="1600" b="0" i="0">
                <a:solidFill>
                  <a:srgbClr val="4B5563"/>
                </a:solidFill>
                <a:latin typeface="Calibri"/>
              </a:rPr>
              <a:t>•  Reduce the risk of cash shortages during peak demand</a:t>
            </a:r>
          </a:p>
        </p:txBody>
      </p:sp>
      <p:sp>
        <p:nvSpPr>
          <p:cNvPr id="14" name="TextBox 13"/>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5" name="TextBox 14"/>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12 · BUSINESS INTERPRETATION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Common Mistakes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3017520"/>
          </a:xfrm>
          <a:prstGeom prst="rect">
            <a:avLst/>
          </a:prstGeom>
          <a:noFill/>
        </p:spPr>
        <p:txBody>
          <a:bodyPr wrap="square" anchor="t" lIns="0" rIns="0" tIns="0" bIns="0">
            <a:spAutoFit/>
          </a:bodyPr>
          <a:lstStyle/>
          <a:p>
            <a:pPr>
              <a:lnSpc>
                <a:spcPct val="112000"/>
              </a:lnSpc>
              <a:spcAft>
                <a:spcPts val="1000"/>
              </a:spcAft>
            </a:pPr>
            <a:r>
              <a:rPr sz="1700" b="0" i="0">
                <a:solidFill>
                  <a:srgbClr val="4B5563"/>
                </a:solidFill>
                <a:latin typeface="Calibri"/>
              </a:rPr>
              <a:t>•  Randomly shuffling Time Series data</a:t>
            </a:r>
          </a:p>
          <a:p>
            <a:pPr>
              <a:lnSpc>
                <a:spcPct val="112000"/>
              </a:lnSpc>
              <a:spcAft>
                <a:spcPts val="1000"/>
              </a:spcAft>
            </a:pPr>
            <a:r>
              <a:rPr sz="1700" b="0" i="0">
                <a:solidFill>
                  <a:srgbClr val="4B5563"/>
                </a:solidFill>
                <a:latin typeface="Calibri"/>
              </a:rPr>
              <a:t>•  Ignoring missing dates</a:t>
            </a:r>
          </a:p>
          <a:p>
            <a:pPr>
              <a:lnSpc>
                <a:spcPct val="112000"/>
              </a:lnSpc>
              <a:spcAft>
                <a:spcPts val="1000"/>
              </a:spcAft>
            </a:pPr>
            <a:r>
              <a:rPr sz="1700" b="0" i="0">
                <a:solidFill>
                  <a:srgbClr val="4B5563"/>
                </a:solidFill>
                <a:latin typeface="Calibri"/>
              </a:rPr>
              <a:t>•  Ignoring seasonality</a:t>
            </a:r>
          </a:p>
          <a:p>
            <a:pPr>
              <a:lnSpc>
                <a:spcPct val="112000"/>
              </a:lnSpc>
              <a:spcAft>
                <a:spcPts val="1000"/>
              </a:spcAft>
            </a:pPr>
            <a:r>
              <a:rPr sz="1700" b="0" i="0">
                <a:solidFill>
                  <a:srgbClr val="4B5563"/>
                </a:solidFill>
                <a:latin typeface="Calibri"/>
              </a:rPr>
              <a:t>•  Using future information to predict the past</a:t>
            </a:r>
          </a:p>
          <a:p>
            <a:pPr>
              <a:lnSpc>
                <a:spcPct val="112000"/>
              </a:lnSpc>
              <a:spcAft>
                <a:spcPts val="1000"/>
              </a:spcAft>
            </a:pPr>
            <a:r>
              <a:rPr sz="1700" b="0" i="0">
                <a:solidFill>
                  <a:srgbClr val="4B5563"/>
                </a:solidFill>
                <a:latin typeface="Calibri"/>
              </a:rPr>
              <a:t>•  Not comparing against a baseline</a:t>
            </a:r>
          </a:p>
          <a:p>
            <a:pPr>
              <a:lnSpc>
                <a:spcPct val="112000"/>
              </a:lnSpc>
              <a:spcAft>
                <a:spcPts val="1000"/>
              </a:spcAft>
            </a:pPr>
            <a:r>
              <a:rPr sz="1700" b="0" i="0">
                <a:solidFill>
                  <a:srgbClr val="4B5563"/>
                </a:solidFill>
                <a:latin typeface="Calibri"/>
              </a:rPr>
              <a:t>•  Looking only at model accuracy</a:t>
            </a:r>
          </a:p>
          <a:p>
            <a:pPr>
              <a:lnSpc>
                <a:spcPct val="112000"/>
              </a:lnSpc>
              <a:spcAft>
                <a:spcPts val="1000"/>
              </a:spcAft>
            </a:pPr>
            <a:r>
              <a:rPr sz="1700" b="0" i="0">
                <a:solidFill>
                  <a:srgbClr val="4B5563"/>
                </a:solidFill>
                <a:latin typeface="Calibri"/>
              </a:rPr>
              <a:t>•  Forgetting business context</a:t>
            </a:r>
          </a:p>
        </p:txBody>
      </p:sp>
      <p:sp>
        <p:nvSpPr>
          <p:cNvPr id="8" name="Rounded Rectangle 7"/>
          <p:cNvSpPr/>
          <p:nvPr/>
        </p:nvSpPr>
        <p:spPr>
          <a:xfrm>
            <a:off x="2743200" y="5029200"/>
            <a:ext cx="6675120" cy="59436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FFFFFF"/>
                </a:solidFill>
                <a:latin typeface="Calibri"/>
              </a:rPr>
              <a:t>The 4th one has a name: DATA LEAKAGE</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12 · BUSINESS INTERPRETATION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Final Recap</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35527" y="1417320"/>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Time Series</a:t>
            </a:r>
          </a:p>
        </p:txBody>
      </p:sp>
      <p:cxnSp>
        <p:nvCxnSpPr>
          <p:cNvPr id="8" name="Connector 7"/>
          <p:cNvCxnSpPr/>
          <p:nvPr/>
        </p:nvCxnSpPr>
        <p:spPr>
          <a:xfrm>
            <a:off x="6095847" y="1845056"/>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35527" y="1901952"/>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Time Order Matters</a:t>
            </a:r>
          </a:p>
        </p:txBody>
      </p:sp>
      <p:cxnSp>
        <p:nvCxnSpPr>
          <p:cNvPr id="10" name="Connector 9"/>
          <p:cNvCxnSpPr/>
          <p:nvPr/>
        </p:nvCxnSpPr>
        <p:spPr>
          <a:xfrm>
            <a:off x="6095847" y="2329688"/>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35527" y="2386584"/>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Visualize</a:t>
            </a:r>
          </a:p>
        </p:txBody>
      </p:sp>
      <p:cxnSp>
        <p:nvCxnSpPr>
          <p:cNvPr id="12" name="Connector 11"/>
          <p:cNvCxnSpPr/>
          <p:nvPr/>
        </p:nvCxnSpPr>
        <p:spPr>
          <a:xfrm>
            <a:off x="6095847" y="2814320"/>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35527" y="2871216"/>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Find Patterns (Trend, Seasonality, Noise)</a:t>
            </a:r>
          </a:p>
        </p:txBody>
      </p:sp>
      <p:cxnSp>
        <p:nvCxnSpPr>
          <p:cNvPr id="14" name="Connector 13"/>
          <p:cNvCxnSpPr/>
          <p:nvPr/>
        </p:nvCxnSpPr>
        <p:spPr>
          <a:xfrm>
            <a:off x="6095847" y="3298952"/>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35527" y="3355848"/>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Create Lags</a:t>
            </a:r>
          </a:p>
        </p:txBody>
      </p:sp>
      <p:cxnSp>
        <p:nvCxnSpPr>
          <p:cNvPr id="16" name="Connector 15"/>
          <p:cNvCxnSpPr/>
          <p:nvPr/>
        </p:nvCxnSpPr>
        <p:spPr>
          <a:xfrm>
            <a:off x="6095847" y="3783584"/>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35527" y="3840480"/>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Train on the Past</a:t>
            </a:r>
          </a:p>
        </p:txBody>
      </p:sp>
      <p:cxnSp>
        <p:nvCxnSpPr>
          <p:cNvPr id="18" name="Connector 17"/>
          <p:cNvCxnSpPr/>
          <p:nvPr/>
        </p:nvCxnSpPr>
        <p:spPr>
          <a:xfrm>
            <a:off x="6095847" y="4268216"/>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535527" y="4325112"/>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Test on the Future</a:t>
            </a:r>
          </a:p>
        </p:txBody>
      </p:sp>
      <p:cxnSp>
        <p:nvCxnSpPr>
          <p:cNvPr id="20" name="Connector 19"/>
          <p:cNvCxnSpPr/>
          <p:nvPr/>
        </p:nvCxnSpPr>
        <p:spPr>
          <a:xfrm>
            <a:off x="6095847" y="4752848"/>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535527" y="4809744"/>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Forecast</a:t>
            </a:r>
          </a:p>
        </p:txBody>
      </p:sp>
      <p:cxnSp>
        <p:nvCxnSpPr>
          <p:cNvPr id="22" name="Connector 21"/>
          <p:cNvCxnSpPr/>
          <p:nvPr/>
        </p:nvCxnSpPr>
        <p:spPr>
          <a:xfrm>
            <a:off x="6095847" y="5237480"/>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35527" y="5294376"/>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Evaluate</a:t>
            </a:r>
          </a:p>
        </p:txBody>
      </p:sp>
      <p:cxnSp>
        <p:nvCxnSpPr>
          <p:cNvPr id="24" name="Connector 23"/>
          <p:cNvCxnSpPr/>
          <p:nvPr/>
        </p:nvCxnSpPr>
        <p:spPr>
          <a:xfrm>
            <a:off x="6095847" y="5722112"/>
            <a:ext cx="0" cy="31496"/>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535527" y="5779008"/>
            <a:ext cx="5120640" cy="402336"/>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Business Action</a:t>
            </a:r>
          </a:p>
        </p:txBody>
      </p:sp>
      <p:sp>
        <p:nvSpPr>
          <p:cNvPr id="26" name="TextBox 25"/>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27" name="TextBox 26"/>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12 · BUSINESS INTERPRETATION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Transition to Coding</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920240"/>
            <a:ext cx="10771632" cy="329184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0" rIns="381000"/>
          <a:lstStyle/>
          <a:p>
            <a:pPr algn="ctr"/>
            <a:r>
              <a:rPr sz="3200" b="1" i="0">
                <a:solidFill>
                  <a:srgbClr val="FFFFFF"/>
                </a:solidFill>
                <a:latin typeface="Calibri"/>
              </a:rPr>
              <a:t>“Now that we understand how forecasting works,
how do we build one in Python?”</a:t>
            </a:r>
          </a:p>
          <a:p>
            <a:pPr algn="ctr">
              <a:spcBef>
                <a:spcPts val="1400"/>
              </a:spcBef>
            </a:pPr>
            <a:r>
              <a:rPr sz="1700" b="0" i="1">
                <a:solidFill>
                  <a:srgbClr val="C7CED9"/>
                </a:solidFill>
                <a:latin typeface="Calibri"/>
              </a:rPr>
              <a:t>Let's open the notebooks.</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INSTRUCTOR REFERENCE</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Important Distinctions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417320"/>
          <a:ext cx="10771631" cy="4572000"/>
        </p:xfrm>
        <a:graphic>
          <a:graphicData uri="http://schemas.openxmlformats.org/drawingml/2006/table">
            <a:tbl>
              <a:tblPr firstRow="1" bandRow="1">
                <a:tableStyleId>{5C22544A-7EE6-4342-B048-85BDC9FD1C3A}</a:tableStyleId>
              </a:tblPr>
              <a:tblGrid>
                <a:gridCol w="4308652"/>
                <a:gridCol w="6462979"/>
              </a:tblGrid>
              <a:tr h="653142">
                <a:tc>
                  <a:txBody>
                    <a:bodyPr/>
                    <a:lstStyle/>
                    <a:p>
                      <a:r>
                        <a:rPr sz="1450" b="1" i="0">
                          <a:solidFill>
                            <a:srgbClr val="FFFFFF"/>
                          </a:solidFill>
                          <a:latin typeface="Calibri"/>
                        </a:rPr>
                        <a:t>Myth</a:t>
                      </a:r>
                    </a:p>
                  </a:txBody>
                  <a:tcPr anchor="ctr" marL="127000" marR="127000">
                    <a:solidFill>
                      <a:srgbClr val="1F2937"/>
                    </a:solidFill>
                  </a:tcPr>
                </a:tc>
                <a:tc>
                  <a:txBody>
                    <a:bodyPr/>
                    <a:lstStyle/>
                    <a:p>
                      <a:r>
                        <a:rPr sz="1450" b="1" i="0">
                          <a:solidFill>
                            <a:srgbClr val="FFFFFF"/>
                          </a:solidFill>
                          <a:latin typeface="Calibri"/>
                        </a:rPr>
                        <a:t>Reality</a:t>
                      </a:r>
                    </a:p>
                  </a:txBody>
                  <a:tcPr anchor="ctr" marL="127000" marR="127000">
                    <a:solidFill>
                      <a:srgbClr val="1F2937"/>
                    </a:solidFill>
                  </a:tcPr>
                </a:tc>
              </a:tr>
              <a:tr h="653142">
                <a:tc>
                  <a:txBody>
                    <a:bodyPr/>
                    <a:lstStyle/>
                    <a:p>
                      <a:r>
                        <a:rPr sz="1400" b="1" i="0">
                          <a:solidFill>
                            <a:srgbClr val="1F2937"/>
                          </a:solidFill>
                          <a:latin typeface="Calibri"/>
                        </a:rPr>
                        <a:t>Time Series data can be randomly shuffled.</a:t>
                      </a:r>
                    </a:p>
                  </a:txBody>
                  <a:tcPr anchor="ctr" marL="127000" marR="127000">
                    <a:solidFill>
                      <a:srgbClr val="FFFFFF"/>
                    </a:solidFill>
                  </a:tcPr>
                </a:tc>
                <a:tc>
                  <a:txBody>
                    <a:bodyPr/>
                    <a:lstStyle/>
                    <a:p>
                      <a:r>
                        <a:rPr sz="1400" b="0" i="0">
                          <a:solidFill>
                            <a:srgbClr val="4B5563"/>
                          </a:solidFill>
                          <a:latin typeface="Calibri"/>
                        </a:rPr>
                        <a:t>The order of observations matters — shuffling destroys the time dependency we're trying to model.</a:t>
                      </a:r>
                    </a:p>
                  </a:txBody>
                  <a:tcPr anchor="ctr" marL="127000" marR="127000">
                    <a:solidFill>
                      <a:srgbClr val="FFFFFF"/>
                    </a:solidFill>
                  </a:tcPr>
                </a:tc>
              </a:tr>
              <a:tr h="653142">
                <a:tc>
                  <a:txBody>
                    <a:bodyPr/>
                    <a:lstStyle/>
                    <a:p>
                      <a:r>
                        <a:rPr sz="1400" b="1" i="0">
                          <a:solidFill>
                            <a:srgbClr val="1F2937"/>
                          </a:solidFill>
                          <a:latin typeface="Calibri"/>
                        </a:rPr>
                        <a:t>A good ML model automatically produces a good forecast.</a:t>
                      </a:r>
                    </a:p>
                  </a:txBody>
                  <a:tcPr anchor="ctr" marL="127000" marR="127000">
                    <a:solidFill>
                      <a:srgbClr val="F7F9FB"/>
                    </a:solidFill>
                  </a:tcPr>
                </a:tc>
                <a:tc>
                  <a:txBody>
                    <a:bodyPr/>
                    <a:lstStyle/>
                    <a:p>
                      <a:r>
                        <a:rPr sz="1400" b="0" i="0">
                          <a:solidFill>
                            <a:srgbClr val="4B5563"/>
                          </a:solidFill>
                          <a:latin typeface="Calibri"/>
                        </a:rPr>
                        <a:t>Forecasting depends on data quality, patterns, features, model choice, validation, and business context.</a:t>
                      </a:r>
                    </a:p>
                  </a:txBody>
                  <a:tcPr anchor="ctr" marL="127000" marR="127000">
                    <a:solidFill>
                      <a:srgbClr val="F7F9FB"/>
                    </a:solidFill>
                  </a:tcPr>
                </a:tc>
              </a:tr>
              <a:tr h="653142">
                <a:tc>
                  <a:txBody>
                    <a:bodyPr/>
                    <a:lstStyle/>
                    <a:p>
                      <a:r>
                        <a:rPr sz="1400" b="1" i="0">
                          <a:solidFill>
                            <a:srgbClr val="1F2937"/>
                          </a:solidFill>
                          <a:latin typeface="Calibri"/>
                        </a:rPr>
                        <a:t>More complex models are always better.</a:t>
                      </a:r>
                    </a:p>
                  </a:txBody>
                  <a:tcPr anchor="ctr" marL="127000" marR="127000">
                    <a:solidFill>
                      <a:srgbClr val="FFFFFF"/>
                    </a:solidFill>
                  </a:tcPr>
                </a:tc>
                <a:tc>
                  <a:txBody>
                    <a:bodyPr/>
                    <a:lstStyle/>
                    <a:p>
                      <a:r>
                        <a:rPr sz="1400" b="0" i="0">
                          <a:solidFill>
                            <a:srgbClr val="4B5563"/>
                          </a:solidFill>
                          <a:latin typeface="Calibri"/>
                        </a:rPr>
                        <a:t>A simple baseline may perform surprisingly well — always compare against one.</a:t>
                      </a:r>
                    </a:p>
                  </a:txBody>
                  <a:tcPr anchor="ctr" marL="127000" marR="127000">
                    <a:solidFill>
                      <a:srgbClr val="FFFFFF"/>
                    </a:solidFill>
                  </a:tcPr>
                </a:tc>
              </a:tr>
              <a:tr h="653142">
                <a:tc>
                  <a:txBody>
                    <a:bodyPr/>
                    <a:lstStyle/>
                    <a:p>
                      <a:r>
                        <a:rPr sz="1400" b="1" i="0">
                          <a:solidFill>
                            <a:srgbClr val="1F2937"/>
                          </a:solidFill>
                          <a:latin typeface="Calibri"/>
                        </a:rPr>
                        <a:t>Forecasting means predicting perfectly.</a:t>
                      </a:r>
                    </a:p>
                  </a:txBody>
                  <a:tcPr anchor="ctr" marL="127000" marR="127000">
                    <a:solidFill>
                      <a:srgbClr val="F7F9FB"/>
                    </a:solidFill>
                  </a:tcPr>
                </a:tc>
                <a:tc>
                  <a:txBody>
                    <a:bodyPr/>
                    <a:lstStyle/>
                    <a:p>
                      <a:r>
                        <a:rPr sz="1400" b="0" i="0">
                          <a:solidFill>
                            <a:srgbClr val="4B5563"/>
                          </a:solidFill>
                          <a:latin typeface="Calibri"/>
                        </a:rPr>
                        <a:t>Forecasting means estimating the future WITH uncertainty.</a:t>
                      </a:r>
                    </a:p>
                  </a:txBody>
                  <a:tcPr anchor="ctr" marL="127000" marR="127000">
                    <a:solidFill>
                      <a:srgbClr val="F7F9FB"/>
                    </a:solidFill>
                  </a:tcPr>
                </a:tc>
              </a:tr>
              <a:tr h="653142">
                <a:tc>
                  <a:txBody>
                    <a:bodyPr/>
                    <a:lstStyle/>
                    <a:p>
                      <a:r>
                        <a:rPr sz="1400" b="1" i="0">
                          <a:solidFill>
                            <a:srgbClr val="1F2937"/>
                          </a:solidFill>
                          <a:latin typeface="Calibri"/>
                        </a:rPr>
                        <a:t>High accuracy is the only thing that matters.</a:t>
                      </a:r>
                    </a:p>
                  </a:txBody>
                  <a:tcPr anchor="ctr" marL="127000" marR="127000">
                    <a:solidFill>
                      <a:srgbClr val="FFFFFF"/>
                    </a:solidFill>
                  </a:tcPr>
                </a:tc>
                <a:tc>
                  <a:txBody>
                    <a:bodyPr/>
                    <a:lstStyle/>
                    <a:p>
                      <a:r>
                        <a:rPr sz="1400" b="0" i="0">
                          <a:solidFill>
                            <a:srgbClr val="4B5563"/>
                          </a:solidFill>
                          <a:latin typeface="Calibri"/>
                        </a:rPr>
                        <a:t>The forecast must also be USEFUL for the business decision at hand.</a:t>
                      </a:r>
                    </a:p>
                  </a:txBody>
                  <a:tcPr anchor="ctr" marL="127000" marR="127000">
                    <a:solidFill>
                      <a:srgbClr val="FFFFFF"/>
                    </a:solidFill>
                  </a:tcPr>
                </a:tc>
              </a:tr>
              <a:tr h="653148">
                <a:tc>
                  <a:txBody>
                    <a:bodyPr/>
                    <a:lstStyle/>
                    <a:p>
                      <a:r>
                        <a:rPr sz="1400" b="1" i="0">
                          <a:solidFill>
                            <a:srgbClr val="1F2937"/>
                          </a:solidFill>
                          <a:latin typeface="Calibri"/>
                        </a:rPr>
                        <a:t>Future information can be used as a feature.</a:t>
                      </a:r>
                    </a:p>
                  </a:txBody>
                  <a:tcPr anchor="ctr" marL="127000" marR="127000">
                    <a:solidFill>
                      <a:srgbClr val="F7F9FB"/>
                    </a:solidFill>
                  </a:tcPr>
                </a:tc>
                <a:tc>
                  <a:txBody>
                    <a:bodyPr/>
                    <a:lstStyle/>
                    <a:p>
                      <a:r>
                        <a:rPr sz="1400" b="0" i="0">
                          <a:solidFill>
                            <a:srgbClr val="4B5563"/>
                          </a:solidFill>
                          <a:latin typeface="Calibri"/>
                        </a:rPr>
                        <a:t>Using information not yet available at prediction time causes DATA LEAKAGE.</a:t>
                      </a:r>
                    </a:p>
                  </a:txBody>
                  <a:tcPr anchor="ctr" marL="127000" marR="127000">
                    <a:solidFill>
                      <a:srgbClr val="F7F9FB"/>
                    </a:solidFill>
                  </a:tcPr>
                </a:tc>
              </a:tr>
            </a:tbl>
          </a:graphicData>
        </a:graphic>
      </p:graphicFrame>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KNOWLEDGE CHECK</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Quick Quiz</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46320"/>
          </a:xfrm>
          <a:prstGeom prst="rect">
            <a:avLst/>
          </a:prstGeom>
          <a:noFill/>
        </p:spPr>
        <p:txBody>
          <a:bodyPr wrap="square" anchor="t" lIns="0" rIns="0" tIns="0" bIns="0">
            <a:spAutoFit/>
          </a:bodyPr>
          <a:lstStyle/>
          <a:p>
            <a:pPr>
              <a:lnSpc>
                <a:spcPct val="112000"/>
              </a:lnSpc>
              <a:spcAft>
                <a:spcPts val="2000"/>
              </a:spcAft>
            </a:pPr>
            <a:r>
              <a:rPr sz="1700" b="0" i="0">
                <a:solidFill>
                  <a:srgbClr val="4B5563"/>
                </a:solidFill>
                <a:latin typeface="Calibri"/>
              </a:rPr>
              <a:t>1. What is Time Series data?</a:t>
            </a:r>
          </a:p>
          <a:p>
            <a:pPr>
              <a:lnSpc>
                <a:spcPct val="112000"/>
              </a:lnSpc>
              <a:spcAft>
                <a:spcPts val="2000"/>
              </a:spcAft>
            </a:pPr>
            <a:r>
              <a:rPr sz="1700" b="0" i="0">
                <a:solidFill>
                  <a:srgbClr val="4B5563"/>
                </a:solidFill>
                <a:latin typeface="Calibri"/>
              </a:rPr>
              <a:t>2. Why is randomly shuffling Time Series data usually a problem?</a:t>
            </a:r>
          </a:p>
          <a:p>
            <a:pPr>
              <a:lnSpc>
                <a:spcPct val="112000"/>
              </a:lnSpc>
              <a:spcAft>
                <a:spcPts val="2000"/>
              </a:spcAft>
            </a:pPr>
            <a:r>
              <a:rPr sz="1700" b="0" i="0">
                <a:solidFill>
                  <a:srgbClr val="4B5563"/>
                </a:solidFill>
                <a:latin typeface="Calibri"/>
              </a:rPr>
              <a:t>3. What is a trend?</a:t>
            </a:r>
          </a:p>
          <a:p>
            <a:pPr>
              <a:lnSpc>
                <a:spcPct val="112000"/>
              </a:lnSpc>
              <a:spcAft>
                <a:spcPts val="2000"/>
              </a:spcAft>
            </a:pPr>
            <a:r>
              <a:rPr sz="1700" b="0" i="0">
                <a:solidFill>
                  <a:srgbClr val="4B5563"/>
                </a:solidFill>
                <a:latin typeface="Calibri"/>
              </a:rPr>
              <a:t>4. What is seasonality?</a:t>
            </a:r>
          </a:p>
        </p:txBody>
      </p:sp>
      <p:sp>
        <p:nvSpPr>
          <p:cNvPr id="8" name="TextBox 7"/>
          <p:cNvSpPr txBox="1"/>
          <p:nvPr/>
        </p:nvSpPr>
        <p:spPr>
          <a:xfrm>
            <a:off x="6035040" y="1417320"/>
            <a:ext cx="5486400" cy="4846320"/>
          </a:xfrm>
          <a:prstGeom prst="rect">
            <a:avLst/>
          </a:prstGeom>
          <a:noFill/>
        </p:spPr>
        <p:txBody>
          <a:bodyPr wrap="square" anchor="t" lIns="0" rIns="0" tIns="0" bIns="0">
            <a:spAutoFit/>
          </a:bodyPr>
          <a:lstStyle/>
          <a:p>
            <a:pPr>
              <a:lnSpc>
                <a:spcPct val="112000"/>
              </a:lnSpc>
              <a:spcAft>
                <a:spcPts val="2000"/>
              </a:spcAft>
            </a:pPr>
            <a:r>
              <a:rPr sz="1700" b="0" i="0">
                <a:solidFill>
                  <a:srgbClr val="4B5563"/>
                </a:solidFill>
                <a:latin typeface="Calibri"/>
              </a:rPr>
              <a:t>5. What is a lag?</a:t>
            </a:r>
          </a:p>
          <a:p>
            <a:pPr>
              <a:lnSpc>
                <a:spcPct val="112000"/>
              </a:lnSpc>
              <a:spcAft>
                <a:spcPts val="2000"/>
              </a:spcAft>
            </a:pPr>
            <a:r>
              <a:rPr sz="1700" b="0" i="0">
                <a:solidFill>
                  <a:srgbClr val="4B5563"/>
                </a:solidFill>
                <a:latin typeface="Calibri"/>
              </a:rPr>
              <a:t>6. Why should we create a baseline forecast?</a:t>
            </a:r>
          </a:p>
          <a:p>
            <a:pPr>
              <a:lnSpc>
                <a:spcPct val="112000"/>
              </a:lnSpc>
              <a:spcAft>
                <a:spcPts val="2000"/>
              </a:spcAft>
            </a:pPr>
            <a:r>
              <a:rPr sz="1700" b="0" i="0">
                <a:solidFill>
                  <a:srgbClr val="4B5563"/>
                </a:solidFill>
                <a:latin typeface="Calibri"/>
              </a:rPr>
              <a:t>7. What does MAE measure?</a:t>
            </a:r>
          </a:p>
          <a:p>
            <a:pPr>
              <a:lnSpc>
                <a:spcPct val="112000"/>
              </a:lnSpc>
              <a:spcAft>
                <a:spcPts val="2000"/>
              </a:spcAft>
            </a:pPr>
            <a:r>
              <a:rPr sz="1700" b="0" i="0">
                <a:solidFill>
                  <a:srgbClr val="4B5563"/>
                </a:solidFill>
                <a:latin typeface="Calibri"/>
              </a:rPr>
              <a:t>8. What is data leakage in Time Series Forecasting?</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APPENDIX</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References / Sources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Textbook</a:t>
            </a:r>
          </a:p>
        </p:txBody>
      </p:sp>
      <p:sp>
        <p:nvSpPr>
          <p:cNvPr id="8" name="TextBox 7"/>
          <p:cNvSpPr txBox="1"/>
          <p:nvPr/>
        </p:nvSpPr>
        <p:spPr>
          <a:xfrm>
            <a:off x="713232" y="1755648"/>
            <a:ext cx="10771632" cy="1051560"/>
          </a:xfrm>
          <a:prstGeom prst="rect">
            <a:avLst/>
          </a:prstGeom>
          <a:noFill/>
        </p:spPr>
        <p:txBody>
          <a:bodyPr wrap="square" anchor="t" lIns="0" rIns="0" tIns="0" bIns="0">
            <a:spAutoFit/>
          </a:bodyPr>
          <a:lstStyle/>
          <a:p>
            <a:pPr>
              <a:lnSpc>
                <a:spcPct val="112000"/>
              </a:lnSpc>
              <a:spcAft>
                <a:spcPts val="600"/>
              </a:spcAft>
            </a:pPr>
            <a:r>
              <a:rPr sz="1400" b="0" i="0">
                <a:solidFill>
                  <a:srgbClr val="4B5563"/>
                </a:solidFill>
                <a:latin typeface="Calibri"/>
              </a:rPr>
              <a:t>•  Brockwell, P. J., &amp; Davis, R. A. (2016). Introduction to Time Series and Forecasting (3rd ed.). Springer Texts in Statistics. — Chapter 1, foundational examples of trend, seasonality, and moving-average smoothing.</a:t>
            </a:r>
          </a:p>
        </p:txBody>
      </p:sp>
      <p:sp>
        <p:nvSpPr>
          <p:cNvPr id="9" name="TextBox 8"/>
          <p:cNvSpPr txBox="1"/>
          <p:nvPr/>
        </p:nvSpPr>
        <p:spPr>
          <a:xfrm>
            <a:off x="713232" y="278892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Official Documentation (verified for current syntax)</a:t>
            </a:r>
          </a:p>
        </p:txBody>
      </p:sp>
      <p:sp>
        <p:nvSpPr>
          <p:cNvPr id="10" name="TextBox 9"/>
          <p:cNvSpPr txBox="1"/>
          <p:nvPr/>
        </p:nvSpPr>
        <p:spPr>
          <a:xfrm>
            <a:off x="713232" y="3127248"/>
            <a:ext cx="10771632" cy="2468880"/>
          </a:xfrm>
          <a:prstGeom prst="rect">
            <a:avLst/>
          </a:prstGeom>
          <a:noFill/>
        </p:spPr>
        <p:txBody>
          <a:bodyPr wrap="square" anchor="t" lIns="0" rIns="0" tIns="0" bIns="0">
            <a:spAutoFit/>
          </a:bodyPr>
          <a:lstStyle/>
          <a:p>
            <a:pPr>
              <a:lnSpc>
                <a:spcPct val="112000"/>
              </a:lnSpc>
              <a:spcAft>
                <a:spcPts val="600"/>
              </a:spcAft>
            </a:pPr>
            <a:r>
              <a:rPr sz="1300" b="0" i="0">
                <a:solidFill>
                  <a:srgbClr val="4B5563"/>
                </a:solidFill>
                <a:latin typeface="Calibri"/>
              </a:rPr>
              <a:t>•  pandas API Reference — DataFrame.rolling(), DataFrame.shift() (pandas.pydata.org/docs/reference/ ...)</a:t>
            </a:r>
          </a:p>
          <a:p>
            <a:pPr>
              <a:lnSpc>
                <a:spcPct val="112000"/>
              </a:lnSpc>
              <a:spcAft>
                <a:spcPts val="600"/>
              </a:spcAft>
            </a:pPr>
            <a:r>
              <a:rPr sz="1300" b="0" i="0">
                <a:solidFill>
                  <a:srgbClr val="4B5563"/>
                </a:solidFill>
                <a:latin typeface="Calibri"/>
              </a:rPr>
              <a:t>•  scikit-learn API Reference — mean_absolute_error, root_mean_squared_error, mean_absolute_percentage_error, LinearRegression (scikit-learn.org/stable/modules/generated/ ...)</a:t>
            </a:r>
          </a:p>
          <a:p>
            <a:pPr>
              <a:lnSpc>
                <a:spcPct val="112000"/>
              </a:lnSpc>
              <a:spcAft>
                <a:spcPts val="600"/>
              </a:spcAft>
            </a:pPr>
            <a:r>
              <a:rPr sz="1300" b="0" i="0">
                <a:solidFill>
                  <a:srgbClr val="4B5563"/>
                </a:solidFill>
                <a:latin typeface="Calibri"/>
              </a:rPr>
              <a:t>•  scikit-learn User Guide — Regression metrics (scikit-learn.org/stable/modules/model_evaluation.html)</a:t>
            </a:r>
          </a:p>
          <a:p>
            <a:pPr>
              <a:lnSpc>
                <a:spcPct val="112000"/>
              </a:lnSpc>
              <a:spcAft>
                <a:spcPts val="600"/>
              </a:spcAft>
            </a:pPr>
            <a:r>
              <a:rPr sz="1300" b="0" i="0">
                <a:solidFill>
                  <a:srgbClr val="4B5563"/>
                </a:solidFill>
                <a:latin typeface="Calibri"/>
              </a:rPr>
              <a:t>•  Every code snippet in this deck and the notebooks was checked against these pages during development.</a:t>
            </a:r>
          </a:p>
        </p:txBody>
      </p:sp>
      <p:sp>
        <p:nvSpPr>
          <p:cNvPr id="11" name="TextBox 10"/>
          <p:cNvSpPr txBox="1"/>
          <p:nvPr/>
        </p:nvSpPr>
        <p:spPr>
          <a:xfrm>
            <a:off x="713232" y="580644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Data</a:t>
            </a:r>
          </a:p>
        </p:txBody>
      </p:sp>
      <p:sp>
        <p:nvSpPr>
          <p:cNvPr id="12" name="TextBox 11"/>
          <p:cNvSpPr txBox="1"/>
          <p:nvPr/>
        </p:nvSpPr>
        <p:spPr>
          <a:xfrm>
            <a:off x="713232" y="6144768"/>
            <a:ext cx="10771632" cy="548640"/>
          </a:xfrm>
          <a:prstGeom prst="rect">
            <a:avLst/>
          </a:prstGeom>
          <a:noFill/>
        </p:spPr>
        <p:txBody>
          <a:bodyPr wrap="square" anchor="t" lIns="0" rIns="0" tIns="0" bIns="0">
            <a:spAutoFit/>
          </a:bodyPr>
          <a:lstStyle/>
          <a:p>
            <a:pPr>
              <a:lnSpc>
                <a:spcPct val="112000"/>
              </a:lnSpc>
              <a:spcAft>
                <a:spcPts val="400"/>
              </a:spcAft>
            </a:pPr>
            <a:r>
              <a:rPr sz="1250" b="0" i="0">
                <a:solidFill>
                  <a:srgbClr val="4B5563"/>
                </a:solidFill>
                <a:latin typeface="Calibri"/>
              </a:rPr>
              <a:t>•  All withdrawal data used in this course is SYNTHETIC (data/generate_data.py). It does not represent any real bank, customer, or transaction.</a:t>
            </a:r>
          </a:p>
        </p:txBody>
      </p:sp>
      <p:sp>
        <p:nvSpPr>
          <p:cNvPr id="13" name="TextBox 12"/>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Time Series Forecasting</a:t>
            </a:r>
          </a:p>
        </p:txBody>
      </p:sp>
      <p:sp>
        <p:nvSpPr>
          <p:cNvPr id="14" name="TextBox 13"/>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